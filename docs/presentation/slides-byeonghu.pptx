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0.svg" ContentType="image/svg+xml"/>
  <Override PartName="/ppt/media/image102.svg" ContentType="image/svg+xml"/>
  <Override PartName="/ppt/media/image11.svg" ContentType="image/svg+xml"/>
  <Override PartName="/ppt/media/image120.svg" ContentType="image/svg+xml"/>
  <Override PartName="/ppt/media/image122.svg" ContentType="image/svg+xml"/>
  <Override PartName="/ppt/media/image124.svg" ContentType="image/svg+xml"/>
  <Override PartName="/ppt/media/image13.svg" ContentType="image/svg+xml"/>
  <Override PartName="/ppt/media/image32.svg" ContentType="image/svg+xml"/>
  <Override PartName="/ppt/media/image34.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4"/>
    <p:sldId id="291" r:id="rId5"/>
    <p:sldId id="341" r:id="rId2"/>
    <p:sldId id="342" r:id="rId18"/>
    <p:sldId id="343" r:id="rId19"/>
    <p:sldId id="344" r:id="rId20"/>
    <p:sldId id="345" r:id="rId21"/>
    <p:sldId id="346" r:id="rId22"/>
    <p:sldId id="347" r:id="rId23"/>
    <p:sldId id="348" r:id="rId24"/>
    <p:sldId id="349" r:id="rId25"/>
    <p:sldId id="350" r:id="rId26"/>
    <p:sldId id="351" r:id="rId27"/>
    <p:sldId id="352" r:id="rId28"/>
    <p:sldId id="353" r:id="rId29"/>
    <p:sldId id="354" r:id="rId30"/>
    <p:sldId id="355" r:id="rId31"/>
    <p:sldId id="356" r:id="rId32"/>
    <p:sldId id="357" r:id="rId3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0" userDrawn="1">
          <p15:clr>
            <a:srgbClr val="A4A3A4"/>
          </p15:clr>
        </p15:guide>
        <p15:guide id="2" pos="325" userDrawn="1">
          <p15:clr>
            <a:srgbClr val="A4A3A4"/>
          </p15:clr>
        </p15:guide>
        <p15:guide id="3" pos="7401" userDrawn="1">
          <p15:clr>
            <a:srgbClr val="A4A3A4"/>
          </p15:clr>
        </p15:guide>
        <p15:guide id="4" pos="3840" userDrawn="1">
          <p15:clr>
            <a:srgbClr val="A4A3A4"/>
          </p15:clr>
        </p15:guide>
        <p15:guide id="5" orient="horz" pos="40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4660"/>
  </p:normalViewPr>
  <p:slideViewPr>
    <p:cSldViewPr showGuides="1">
      <p:cViewPr varScale="1">
        <p:scale>
          <a:sx n="114" d="100"/>
          <a:sy n="114" d="100"/>
        </p:scale>
        <p:origin x="696" y="108"/>
      </p:cViewPr>
      <p:guideLst>
        <p:guide orient="horz" pos="1570"/>
        <p:guide pos="325"/>
        <p:guide pos="7401"/>
        <p:guide pos="3840"/>
        <p:guide orient="horz" pos="402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weld-made 팀장 박병후입니다. 저희는 로봇이 카메라나 추가 센서 없이 부재를 직접 만져서 형상을 알아내고, 그 결과로 용접선 후보를 만드는 협동로봇 시스템을 만들었습니다. 장비는 두산 M0609 와 RG2 그리퍼, 그리고 그리퍼가 쥔 탐침 하나입니다. 개요와 진행 방식은 제가 먼저 말씀드리고, 모듈별 내용은 담당자가 이어서 설명하겠습니다.</a:t>
            </a:r>
          </a:p>
          <a:p>
            <a:r>
              <a:t>[합치기 체크] 제목에 "용접"이 들어가는 곳이다. 기본 표지는 용접을 뺀 제목("접촉 탐색으로 용접선 후보를 찾는 협동로봇 시스템"). 9/29 에 용접이 성사되면 slides-byeonghu-cover-weld.pptx 의 표지(원래 제목 "접촉 탐색으로 용접선을 찾아 용접하는 협동로봇 시스템")로 바꾼다.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양식대로 다섯 부분입니다. 01 에서 왜 이 주제를 골랐는지, 02 와 03 에서 팀과 진행 방식을 말씀드리고, 04 에서 실제로 만든 것과 실기 결과를, 05 에서 자체 평가를 말씀드립니다. 04 는 모듈 담당자가 차례로 발표합니다.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주제의 출발점은 직접교시입니다. 협동로봇 용접은 작업자가 로봇 끝을 잡고 점을 하나씩 기록하는데, 품종이 바뀌면 이 일을 다시 해야 합니다. 왼쪽 표처럼 그 시간 동안 셀이 멈추고, 교육과 불량 · 납기에도 비용이 듭니다. 그런데 이 일을 맡을 사람이 부족합니다 — 뿌리산업 종사자의 68.2 % 가 40 대 이상이고, 10 인 미만 업체의 89.3 % 가 인력 부족을 호소합니다. 그래서 "부재를 놓고 시작만 누르면 로봇이 직접 만져서 좌표를 얻는다"를 목표로 잡았습니다.</a:t>
            </a:r>
          </a:p>
          <a:p>
            <a:r>
              <a:t>(세부: 가설은 "다품종 소량 중소 제조사에서 품종 교체 시 재티칭이 가장 큰 운영 비용"이다. 셋업을 15~30 분에 바꾼다는 업계 주장도 있어 1 회 티칭 시간은 사실로 단정하지 않고 가정값으로 둔다(E13). 업체당 평균 종사자 2.8 명(E3). 출처: BRD 1.1 · 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비슷한 문제를 푸는 방법을 나란히 놓았습니다. 지금의 재티칭은 매번 사람이 필요하고, 와이어 터치센싱은 감지 기능이 있는 용접 전원과 통전되는 깨끗한 모서리가 필요하며, 레이저나 3D 비전은 비싸고 반사나 아크광에 약합니다. 저희는 센서를 더하지 않고 로봇 관절 토크로 추정한 외력을 촉각으로, 그리퍼는 탐침을 쥐는 손가락으로 씁니다. 그리고 그 과정을 웹 3D 화면에 실시간으로 보여줍니다. [뺄 수 있음 카드] 같은 결과로 모서리를 용접 자세로 따라가는 것까지 이어 봤습니다.</a:t>
            </a:r>
          </a:p>
          <a:p>
            <a:r>
              <a:t>(세부: 우리 약점은 탐색 시간과 단순 형상 · 규칙 배치(MVP)다. 와이어 터치센싱의 가격은 "저가 SW 옵션, 금액 미확인"(E5), 비전은 1만~5만 달러 이상(E12). ○ △ × 는 BRD 3.2 표의 문장을 기호로 옮긴 것이다. [합치기 체크] 용접을 빼면 주황 카드 "[뺄 수 있음] 01-② 용접" 만 지운다)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MVP 범위는 한 장으로 이렇습니다. 작업대에 놓인 직육면체를 로봇이 위에서 한 번, 네 방향 옆으로 한 번씩, 모두 다섯 번 만집니다. 이 다섯 점을 탐침 크기만큼 보정해서 직육면체와 윗면의 외곽 엣지, 즉 경로 후보 네 개를 만들고, 그 과정을 웹 3D 화면에 보여줍니다. 오른쪽은 수업에서 배운 것과의 연결입니다 — ROS 2 노드와 통신, 두산 DSR 서비스, launch 와 파라미터, 그리고 HMI 입니다.</a:t>
            </a:r>
          </a:p>
          <a:p>
            <a:r>
              <a:t>(세부: 노드 5 개 = scan_manager · robot_manager · contact_detector · safety_monitor · mqtt_bridge. 입력원 전환은 launch 인자 source:=sim | robot_force. 웹은 React + Three.js 3D · FastAPI · Spring Boot · PostgreSQL · Mosquitto. 경로 후보는 용접 이음 판정이 아니다. 출처: BRD 2 장 ·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기대효과를 지금의 직접교시와 나란히 놓았습니다. 품종을 바꿀 때 사람이 쓰는 시간이 한 시간 안팎에서 배치와 시작 · 확인 0.1 시간으로 줄고, 하루 두 번 교체하는 현장이면 1 년에 500 시간이 50 시간이 됩니다. 정확도는 교시하는 사람의 숙련도가 아니라 목표 ±3 mm 로 관리되고, 9/23 실기에서 그 안에 들어왔습니다. 다만 이 숫자들은 BRD 의 가정이고, 지금 MVP 는 원리를 보여 주는 단계라 이 절감을 바로 만들지는 않습니다.</a:t>
            </a:r>
          </a:p>
          <a:p>
            <a:r>
              <a:t>(세부: 기본 시나리오 = 교체 일 2 회 · 250 일 · 1 회 티칭 1.0 h · 사람 개입 0.1 h · 인건비 35,000 원 → 연 절감 1,775 만원, 도입비 1,000 만원(가정) 회수 약 7.2 개월. 보수적 시나리오(일 1 회 · 0.5 h)는 회수 약 6.7 년이라 목표 고객이 아니다 → 목표 고객 = 교체 하루 2 회 이상 또는 1 회 티칭 1 시간 안팎인 임가공 · 제관 업체. 로봇 탐색 7.3 분은 스텝 모드 실측이며 KPI 2 분은 미달(현지 04-⑥). MVP 이후: 비스듬한 배치 · 곡면 · ±1 mm · 마커로 경로 따라 긋기. 출처: BRD 1.5 · 1.6 · 2 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팀은 네 명이고, ROS 노드를 나눠 맡았습니다. 저는 스캔 전체 순서를 쥐는 scan_manager 를 맡아 윗면 · 모서리 탐색 순서와 중지 · 안전복귀 · 재시작, 결과 기록을 만들었고, 노드 사이의 약속인 인터페이스 패키지와 계약 문서를 맡았습니다. 학민은 로봇을 움직이는 robot_manager 와 좌표 기준을, 현지는 접촉 판정과 안전 감시와 통합을, 의석은 관제 화면과 브리지를 맡았습니다. 네 명이 동시에 개발하려고 노드 사이의 이름과 형식을 계약 문서로 먼저 정했습니다.</a:t>
            </a:r>
          </a:p>
          <a:p>
            <a:r>
              <a:t>(팀원 확인 전: 역할 · 하는 일 문구는 담당 표로 채웠다. 받으면 채움: 학민 · 현지 · 의석의 담당 한 줄. 산출물 번호: 01 아키텍처 · 02 네트워크 · 03 순서도 · 04 하드웨어 · 05 인터페이스 · 06 노드 구조도 · 07 HMI · 08 예외 · 09 안전, 그 밖에 소스 zip(현지) · Readme · 영상(의석 · 현지) · 발표자료(병후))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일정은 여섯 단계였습니다. 나흘 동안 요구사항과 설계를 정리하고, 9/18 에 노드 사이의 약속을 계약 문서로 동결했습니다. 그 뒤 이틀 동안 각자 모듈을 만들고, 9/21 부터 사흘 동안 통합과 실기를 해서 9/23 에 실기에서 웹까지 이어지는 종단 실행을 세 번 연속 성공했습니다. [뺄 수 있음 행] 연휴에는 그 결과로 용접 모션을 이어 붙였습니다. 발표는 오늘입니다.</a:t>
            </a:r>
          </a:p>
          <a:p>
            <a:r>
              <a:t>(세부: 9/21 저녁 기능 동결 뒤에는 버그 수정만 머지했다. 3 회 연속 = 9/23 실기 시연에서 1 회 약 7 분 종단을 팀원 4 명 입회 하에 세 번 연속 성공, 동영상 촬영(슬랙 채널). 그 전 파라미터 튜닝은 PR #179. [합치기 체크] 용접을 빼면 주황 행만 지운다)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진행 순서는 이 그림과 같습니다. 요구사항에서 계약을 만들고, 계약을 기준으로 네 명이 병렬로 개발했습니다. 검증은 로봇 없이 가상 접촉을 만드는 sim, 두산 에뮬레이터, 그리고 실기 순서로 올라갔고, 결과는 시험 보고서로 남겼습니다. 실기에서 잰 값은 파라미터 파일과 계약 개정으로만 되돌렸는데, 9/18 에 동결한 계약을 9/23 실기까지 열아홉 번 고쳐 main 에 넣었습니다.</a:t>
            </a:r>
          </a:p>
          <a:p>
            <a:r>
              <a:t>(세부: 계약이 코드보다 우선이라 이름 · 필드 · 단위가 바뀌면 계약 문서 · 인터페이스 패키지 · 변경 이력을 한 PR 에서 같이 고치고, 둘이 어긋나면 동기화 시험이 CI 에서 실패한다. 입력원은 launch 인자 source:=sim | robot_force 하나로 바꾼다. CHANGELOG 는 v0.1.1 ~ v0.1.20 의 19 항목(v0.1.17 은 번호만 비어 있다). v0.1.21 도 9/23 날짜로 적혔지만 main 머지는 9/27 이라 세지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뺄 수 있음 — 15 분 발표면 ⑨ 다음으로 뺀다] 개발 규칙은 여섯 가지였습니다. 작업 하나를 PR 하나로 작게 나눴고, 계약처럼 모두가 쓰는 파일은 코드 오너의 승인을 받아야 들어가게 했습니다. 속도나 힘 같은 숫자는 코드에 박지 않고 설정 파일에 두었고, 설계에서 잡은 값과 실제로 잰 값을 문서에서 섞지 않았습니다. 결과는 실패와 미달까지 보고서로 남겼습니다.</a:t>
            </a:r>
          </a:p>
          <a:p>
            <a:r>
              <a:t>(세부: 변경 파일 15 개를 넘으면 쪼갠다 · main 직접 푸시 금지 · 다른 사람 패키지는 소유자 리뷰 · yaml 은 sim · real 분리 · 미측정은 0 이 아니라 NaN · null · 시험 번호(TR)별 보고서 + 저녁 통합 기록(daily). 도구 이름 · 이슈 · PR 개수는 넣지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구성입니다. 왼쪽 웹 PC 에는 관제 화면과 웹 서버, MQTT 브로커가 있고, 가운데 메인 PC 에서 ROS 2 노드 다섯 개가 돕니다. 스캔 순서는 scan_manager 가, 접촉 판정은 contact_detector 가, 로봇 호출은 robot_manager 한 곳이 맡고, 로봇 컨트롤러와는 robot_manager 만 명령을 주고받습니다. 핵심은 빨간 화살표입니다 — 안전 감시와 정지는 웹을 거치지 않고 메인 PC 안에서 끝나서, 웹이 끊겨도 로봇은 멈출 수 있습니다. 주황 점선은 연휴에 더한 용접 부분으로, 구현은 아직 진행 중입니다.</a:t>
            </a:r>
          </a:p>
          <a:p>
            <a:r>
              <a:t>(세부: 웹 PC 는 Docker 4 서비스 — Mosquitto :1883 · PostgreSQL :5432 · FastAPI :8000 · Spring Boot :8080, React 는 Docker 밖. 토픽 · 서비스 · 액션 이름은 산출물 06. 화면 버튼은 5 개이고 설정 등록 버튼은 아직 없다. safety_monitor 의 웹 heartbeat 감시는 계약에만 있고 미구현이다. [합치기 체크] 용접을 빼면 그림을 assets/byeonghu/arch-simple-no-phase2.png 로 바꾸고 마지막 문장을 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맡은 scan_manager 입니다. 위 줄이 정상 흐름입니다 — 준비, 윗면에 내려서 닿기, 네 방향으로 밀어서 모서리 찾기, 형상 계산, 들어 올려 홈 복귀. 모서리를 바꿀 때는 들어 올리고 원점 위로 가서 다시 닿은 뒤 밉니다. 아래 줄은 관제자 명령입니다. 중지는 멈추고 기록만 남기고, 재시작은 확정된 값은 두고 멈춘 단계부터 잇고, 안전복귀는 위치를 확인하고 수직으로 올린 뒤 홈으로 갑니다. 셋은 서로를 부르지 않고, 실패하면 그 자리에서 멈출 뿐 자동으로 홈에 가지 않습니다.</a:t>
            </a:r>
          </a:p>
          <a:p>
            <a:r>
              <a:t>(세부: 상태 이름 = PREPARING → TOP_SEARCH → EDGE_SEARCH ×4 → GEOMETRY → HOMING → DONE, 중지 = STOPPING → STOPPED, 실패 = ERROR. 재시작은 기록(progress.json)만 보고 잇는다 — 중지한 뒤 프로세스를 다시 띄워도 같은 자리에서(sim 시험, 실기 미실시). 스캔 도중 프로세스가 죽으면 멈춘 자리를 몰라 잇지 않는다(NO_RESUMABLE_SCAN). 오류 뒤 재시작은 v0.1.21 부터 SAMPLE_STALE 403 · ROBOT_STATUS_LOST 404 · STOP_UNCONFIRMED 407 만, /safety/reset 뒤에 받는다. 안전복귀는 손상 의심(400 · 205 · 402)이나 위치 불명이면 멈추고 사람이 조그한다. 출처: README · 계약)</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장은 다섯 점으로 형상을 만드는 방법입니다. 오른쪽 그림처럼 탐침이 모서리를 넘어가 팁이 살짝 내려앉는 순간을 "모서리"로 판정하기 때문에, 그때 팁 중심은 실제 모서리보다 d 만큼 바깥에 있습니다. 그래서 팁 반지름과 내려앉은 깊이로 그 거리를 계산해 되돌립니다 — 9/23 실기에서는 방향마다 1.3 mm 안팎이었습니다. 보정한 결과는 캘리퍼 대비 폭 +1.50, 길이 −0.36, 높이 +0.26 mm 로 목표 ±3 mm 안이었습니다. 다만 한 번 잰 값이고, 10 회 반복성은 아직 재지 않았습니다.</a:t>
            </a:r>
          </a:p>
          <a:p>
            <a:r>
              <a:t>(세부: 보정 입력 = 팁 반지름 r 2 mm · 판정 지연 t 0 · 모서리 둥글림 R 0(설정값). 정확한 크기 83.00 × 80.64 × 80.76 mm. 왼쪽 그림은 보정 전 · 뒤 간격을 4 배로 벌려 그렸다. 보정된 윗면 사각형의 네 변이 경로 후보이고 용접 이음을 판정한 것은 아니다. 출처: result.json 3702 의 bias_corrections · #180)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기준 다섯 항목에 저희가 한 것과 증거를 붙였습니다. 동그라미는 된 것, 가위표는 목표에 못 미친 것입니다. 기능은 교시 없이 형상까지 나오고, 9/23 실기에서는 약 7 분짜리 종단을 세 번 연속 성공했습니다. 치수도 목표 안이지만, 탐색 시간은 438 초로 목표의 3.6 배이고 설정 등록 버튼은 아직 화면에 없습니다. 검출 하중은 평균만 보면 통과지만 열 번 중 두 번이 5 N 을 넘어 미달로 적었고, 관제 반영 지연도 최대 312 ms 로 미달입니다. 재시작은 sim 과 시험으로만 확인했습니다.</a:t>
            </a:r>
          </a:p>
          <a:p>
            <a:r>
              <a:t>(세부: 검출 하중 평균 4.49 N · 2/10 초과(5.15 · 5.29 N), 중지 반응 706 · 600 ms 는 sim 측정(TR-05), 반영 지연 312 ms FAIL, 저장 · 조회 일치는 TR-10 sim. 3 회 연속 = 9/23 실기 시연, 팀원 4 명 입회 · 동영상 촬영(GitHub 에는 기록 없음, 튜닝은 PR #179). 438 s 는 #180 학민 코멘트의 실측(이슈 본문 구간 합계는 435 s). [합치기 체크] 용접을 빼면 주황 표 "[뺄 수 있음] 04-⑦ 용접 행"만 지운다)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고친 문제 하나입니다. 9/21 실기에서 안전 감시 노드가 두 번 죽었는데, 두 번째 뒤로 하강 다섯 번과 밀기 두 번이 2차 감시 없이 돌았고 한 시간 넘게 아무도 몰랐습니다. 원인은 scan_manager 가 죽기 직전에 받은 "래치 없음"이라는 마지막 값을 계속 믿은 것입니다. 그래서 상태 메시지의 시각으로 나이를 재서, 한도보다 오래됐으면 시작과 재시작을 거절하게 했습니다. sim 에서 감시자를 죽이면 5.5 초가 한도 5 초를 넘어 거절되고, 누르기 전에 경고가 먼저 뜹니다. 다만 실기에서 다시 확인하지 못했고, 이미 돌고 있는 스캔은 멈추지 않는다는 한계가 남아 있습니다.</a:t>
            </a:r>
          </a:p>
          <a:p>
            <a:r>
              <a:t>(세부: 종료 시각 10:34:33 · 11:51:45(#103). "한 번도 못 받음"만 거절하고 "받다가 끊김"은 통과시키던 것이 원인. 조치 PR #136 (9/21 머지): /safety/status 끊김 → SAFETY_LATCHED 103, /robot/status 끊김 → ROBOT_DISCONNECTED 104, 한도 safety_status_timeout_s 5.0 · robot_status_timeout_s 2.0(설계 출발값), 안전복귀는 막지 않음, 끊김 · 회복을 /scan/log 에 한 번씩. 결과: 거절 298.25 s 보다 WARN 297.87 s 가 먼저, 시험 1101 → 1124 · 실패 0(5 회 실행). 9/22 안전 감사는 "부분 해결". 현지 04-③ 2 장 "감시자도 죽는다"(#117, 죽은 원인)와 짝 — 현지는 "죽었다", 병후는 "몰랐다")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연휴에는 스캔 결과를 그대로 받아 용접 모션으로 이어 봤습니다. 직육면체의 모서리 여덟 개를 윗면 네 변, 세로 네 모서리 순서로 따라가는데, 토치처럼 두 면 사이를 이등분하는 방향으로 45 도 기울이고 3 mm 띄워서 닿지 않게 갑니다. 용접처럼 좌우로 흔드는 위빙은 지그재그 경유점을 만들어 지나가게 했습니다. 여기서도 인터페이스 계약을 먼저 정하고 병렬로 구현했습니다.</a:t>
            </a:r>
          </a:p>
          <a:p>
            <a:r>
              <a:t>(세부: 계약 v0.2.0 = 9/23 초안 · 9/26 머지 — 노드 weld_manager · 타입 7 개 · 사유 코드 600~604. 두산 move_periodic 은 제자리 주기 운동이라 직선 이동과 겹치지 않아 쓰지 않았다(D19). 스탠드오프는 팁 구 표면 ↔ 이음선 최단거리(D22). 한 선이 z_safe 위에서 204 로 실패하면 그 선만 FAILED 로 두고 계속(D33). 점선 L1 · L5 = 45° 도달 불가(9/23 M1). [뺄 수 있음] 9/29 에 용접이 성사되지 않으면 04-⑨ 두 장을 통째로 뺀다. 다른 장은 이 장을 참조하지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용접 쪽 결과입니다. 9/23 실기에서 기울인 자세의 도달성을 먼저 쟀는데, 16 자세 중 12 개에 닿았고 L1 · L5 두 선은 로봇 팔 길이가 모자라 닿지 않았습니다. 그래서 한 선이 실패해도 그 선만 실패로 남기고 다음 선으로 가게 만들었습니다. 에뮬레이터에서는 여덟 선을 모두 끝까지 돌았고, 실기 결과는 9/29 에 [여기에 채웁니다].</a:t>
            </a:r>
          </a:p>
          <a:p>
            <a:r>
              <a:t>(세부: M1 도달 자세 위치 오차 최대 0.14 mm, 45° 도달 한계는 플랜지 거리 689~761 mm 사이, L1 · L5 는 761 · 762 mm. 세로 아래 4 자세는 계약 z 104.13 이 아니라 121.25 mm 에서 확인했다(계약 z 는 9/29). Virtual 은 sim 가상 박스 100 × 60 × 40 mm 입력이고 L7 강제 실패 시험에서 FAILED 기록 → 마무리 복귀 → DONE(success=false). 9/29 순서: 실기 스캔 1 회 → Virtual 종단 → 윗면 L0(기울임 0 → 45°) → L0~L3 → 조건부로 세로선 · 위빙. 구현 PR(#191 · #195~#197)은 9/28 기준 머지 전. 9/29 채움: 윗면 1 단계 성공 여부 · 완주 선 수 · 도착 오차 · 무접촉. 성사되지 않으면 04-⑨ 두 장을 통째로 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팀 자체 평가입니다. 완성도 점수는 각자 준 점수와 이유를 모았습니다 — [받으면 채움]. 잘한 점은 계약을 먼저 정해 네 명이 동시에 개발하고도 실기에서 끝까지 이어졌다는 것, 그리고 안 된 것까지 숫자로 남겼다는 것입니다. 아쉬운 점은 탐색 시간과 검출 하중, 반영 지연이 목표에 못 미쳤고, 반복성 같은 몇 가지 KPI 는 재지 못한 것입니다. 개선안은 탐색 시간을 230 초 정도로 줄이는 계산이 있지만 아직 해 보지 않았습니다.</a:t>
            </a:r>
          </a:p>
          <a:p>
            <a:r>
              <a:t>(받으면 채움: 병후 · 학민 · 현지 · 의석의 점수와 이유. 잘한 점 · 아쉬운 점 · 개선점 문장은 사실 기반 초안이라 팀 확인 필요)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개인 평가입니다. 저는 계약을 먼저 정해 두니 네 명이 따로 만들어도 한 흐름으로 이어진다는 것을 배웠고, 대신 실기에서 잰 값이 계약을 계속 바꿔서 그것을 되돌리는 일이 끝까지 남았습니다. 운영에서는 계약 변경을 PR 과 변경 이력으로만 받았고, 협업에서는 의석과 MQTT 계약을 한 장으로 합의했으며, 개선 사례는 앞에서 말씀드린 감시자 끊김 문제입니다. 팀원들의 한 줄은 각자 말씀드리겠습니다 — [받으면 채움].</a:t>
            </a:r>
          </a:p>
          <a:p>
            <a:r>
              <a:t>(병후 행은 사실 기반 초안 — 병후 확인. 받으면 채움: 학민 · 현지 · 의석의 한 줄 + 운영 · 협업 · 개선 사례 1 개씩)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44013C-7378-DC31-F4ED-B46CA8F56AA3}"/>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FB76F071-3481-0CC2-1BB9-C4D9A74B03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1B610C4-EDCA-811A-CF06-40D184F4CA6F}"/>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5" name="바닥글 개체 틀 4">
            <a:extLst>
              <a:ext uri="{FF2B5EF4-FFF2-40B4-BE49-F238E27FC236}">
                <a16:creationId xmlns:a16="http://schemas.microsoft.com/office/drawing/2014/main" id="{65FDF065-82AC-E640-093E-9FEA2942B29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DE5C52C-1AEA-EBB1-9B82-84E44E1FB5EC}"/>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3750776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EDB432-EAD5-0CA6-D965-3752DE0AB3F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025EC77-7408-6520-DCAF-3C9B1B79DD1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93DAE9B-E46C-F5BE-645F-D6291220A1D2}"/>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5" name="바닥글 개체 틀 4">
            <a:extLst>
              <a:ext uri="{FF2B5EF4-FFF2-40B4-BE49-F238E27FC236}">
                <a16:creationId xmlns:a16="http://schemas.microsoft.com/office/drawing/2014/main" id="{7A687A4E-3016-B306-CD2F-AFDD977E90B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B4D866-21EF-2E55-3B47-B360DCA52568}"/>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1132320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E0473F-A5C5-5C8C-4FD2-D1DBD8BCA8B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69EF7B6A-6A80-1816-89F7-DCEEC7216D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8356DF7-BB7A-5D84-C7A2-EA89039F2509}"/>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5" name="바닥글 개체 틀 4">
            <a:extLst>
              <a:ext uri="{FF2B5EF4-FFF2-40B4-BE49-F238E27FC236}">
                <a16:creationId xmlns:a16="http://schemas.microsoft.com/office/drawing/2014/main" id="{DB437239-72B5-86D6-735B-8518AFB6466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1421596-53F4-89AF-FAB9-074AB8F950F6}"/>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120230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A0FD40-CBE2-BC63-8E2D-B448DBB0355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3BE86938-4402-AE48-3657-90C063A48E2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CC3CA31-F616-786B-7DA2-660650A1701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906531-4539-559E-95E1-731FCC3572B9}"/>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6" name="바닥글 개체 틀 5">
            <a:extLst>
              <a:ext uri="{FF2B5EF4-FFF2-40B4-BE49-F238E27FC236}">
                <a16:creationId xmlns:a16="http://schemas.microsoft.com/office/drawing/2014/main" id="{6AF6AF8E-3176-55EB-B7B1-C7C34182171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E228E95-121C-6FB7-E60F-817D9088AB87}"/>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144896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8A25C6-60CB-64C6-7657-0DC50FA6BF9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FBE0342A-6E03-4A86-7563-24A881B6B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BA5125C8-EF47-0BBD-133E-858DE0B30C1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E31DF1A-A24A-9645-0BD2-FE2B277929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900A206-5CE6-11EE-BDA7-390D85C8DBF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3A2E132-BFCA-FAF5-53F0-A1D388FA70C9}"/>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8" name="바닥글 개체 틀 7">
            <a:extLst>
              <a:ext uri="{FF2B5EF4-FFF2-40B4-BE49-F238E27FC236}">
                <a16:creationId xmlns:a16="http://schemas.microsoft.com/office/drawing/2014/main" id="{F9464187-404B-176C-CDC6-2836B4DDD6E0}"/>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8DD2E746-A421-B21D-E16E-06D48764CD86}"/>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4285402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C748684-EA1E-6FC0-148A-F24EE687EA4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399319F2-5E8B-FB8E-1859-85138954CFB2}"/>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4" name="바닥글 개체 틀 3">
            <a:extLst>
              <a:ext uri="{FF2B5EF4-FFF2-40B4-BE49-F238E27FC236}">
                <a16:creationId xmlns:a16="http://schemas.microsoft.com/office/drawing/2014/main" id="{E6501846-9DA8-CC3F-B17F-9D8073F511A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728BCA64-4FC8-4CF4-55BB-CF4FBB37F54D}"/>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1482608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97D02B-85D1-121E-41B2-25E146AACA21}"/>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3" name="바닥글 개체 틀 2">
            <a:extLst>
              <a:ext uri="{FF2B5EF4-FFF2-40B4-BE49-F238E27FC236}">
                <a16:creationId xmlns:a16="http://schemas.microsoft.com/office/drawing/2014/main" id="{66C24959-43CE-0F3B-D945-976A7540BB4E}"/>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C0E18F8-7AE0-0A54-625B-105AC7CD35AB}"/>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3579678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D1D68DC-72E3-4FF1-D019-E81F300774A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36C3084-BFA0-C0D0-5B0B-79D12AC66B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010468EC-D5A6-7D0F-138F-2490D46CA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9930B80-8225-BAAF-3C4A-A30DA789FA52}"/>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6" name="바닥글 개체 틀 5">
            <a:extLst>
              <a:ext uri="{FF2B5EF4-FFF2-40B4-BE49-F238E27FC236}">
                <a16:creationId xmlns:a16="http://schemas.microsoft.com/office/drawing/2014/main" id="{27FE4298-D6F6-5261-B063-6B445A63F90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931DBFA-CEE3-843C-9743-B9DB0D616F0A}"/>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1711421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2007E0-7B9A-3FEE-94D8-8EB9D29A1F1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3CBC970-BA98-05D5-4501-CC3D119A5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CBF5971-8BB5-D74E-D6A1-055291CB44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BD59E5CA-476A-B8E2-8D9F-D1705BE8C703}"/>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6" name="바닥글 개체 틀 5">
            <a:extLst>
              <a:ext uri="{FF2B5EF4-FFF2-40B4-BE49-F238E27FC236}">
                <a16:creationId xmlns:a16="http://schemas.microsoft.com/office/drawing/2014/main" id="{499DDE8B-9AAF-CEEA-D986-698DF506870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BA2EBFF-5594-6173-C36D-B41307CCD3A2}"/>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371216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224B62-1CCE-2109-890A-B8A14002BAEF}"/>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7C1D3EBD-0EDF-09DA-C673-5761B13D4D9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A7A4A84-E915-4790-C063-9137D31C2A5D}"/>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5" name="바닥글 개체 틀 4">
            <a:extLst>
              <a:ext uri="{FF2B5EF4-FFF2-40B4-BE49-F238E27FC236}">
                <a16:creationId xmlns:a16="http://schemas.microsoft.com/office/drawing/2014/main" id="{AA44CC9E-ECCD-1907-FBDB-4E99CB56056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5CFEB-E7E9-1965-A08E-C58CEB0A6A7E}"/>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2459842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7F9625E-D84F-A608-2BF0-57CE6EC9F55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74E5686C-6158-23F3-8F8E-E4C40CA08B20}"/>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D42BFE3-F9DD-C38D-29D5-82E06B6AD5F1}"/>
              </a:ext>
            </a:extLst>
          </p:cNvPr>
          <p:cNvSpPr>
            <a:spLocks noGrp="1"/>
          </p:cNvSpPr>
          <p:nvPr>
            <p:ph type="dt" sz="half" idx="10"/>
          </p:nvPr>
        </p:nvSpPr>
        <p:spPr/>
        <p:txBody>
          <a:bodyPr/>
          <a:lstStyle/>
          <a:p>
            <a:fld id="{3FB245E4-741B-46A9-94D1-0E241DD65ACD}" type="datetimeFigureOut">
              <a:rPr lang="ko-KR" altLang="en-US" smtClean="0"/>
              <a:t>2025-05-13</a:t>
            </a:fld>
            <a:endParaRPr lang="ko-KR" altLang="en-US"/>
          </a:p>
        </p:txBody>
      </p:sp>
      <p:sp>
        <p:nvSpPr>
          <p:cNvPr id="5" name="바닥글 개체 틀 4">
            <a:extLst>
              <a:ext uri="{FF2B5EF4-FFF2-40B4-BE49-F238E27FC236}">
                <a16:creationId xmlns:a16="http://schemas.microsoft.com/office/drawing/2014/main" id="{45B9B458-CCEE-F954-78F1-B71BB1528E1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F3ACFE7-3E2F-8807-4905-2E7642B0B224}"/>
              </a:ext>
            </a:extLst>
          </p:cNvPr>
          <p:cNvSpPr>
            <a:spLocks noGrp="1"/>
          </p:cNvSpPr>
          <p:nvPr>
            <p:ph type="sldNum" sz="quarter" idx="12"/>
          </p:nvPr>
        </p:nvSpPr>
        <p:spPr/>
        <p:txBody>
          <a:body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366314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55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DE8E3A2E-1BAF-46D3-7BEB-B138289565DE}"/>
              </a:ext>
            </a:extLst>
          </p:cNvPr>
          <p:cNvSpPr/>
          <p:nvPr userDrawn="1"/>
        </p:nvSpPr>
        <p:spPr>
          <a:xfrm>
            <a:off x="0" y="229568"/>
            <a:ext cx="12192000" cy="31200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B2F73F9E-8D1A-CE6F-F02E-4A2C485B307D}"/>
              </a:ext>
            </a:extLst>
          </p:cNvPr>
          <p:cNvSpPr txBox="1"/>
          <p:nvPr userDrawn="1"/>
        </p:nvSpPr>
        <p:spPr>
          <a:xfrm>
            <a:off x="7635810" y="6601849"/>
            <a:ext cx="3463925" cy="153888"/>
          </a:xfrm>
          <a:prstGeom prst="rect">
            <a:avLst/>
          </a:prstGeom>
          <a:noFill/>
        </p:spPr>
        <p:txBody>
          <a:bodyPr wrap="square" lIns="0" tIns="0" rIns="0" bIns="0" rtlCol="0">
            <a:spAutoFit/>
          </a:bodyPr>
          <a:lstStyle/>
          <a:p>
            <a:pPr algn="r"/>
            <a:r>
              <a:rPr lang="en-US" altLang="ko-KR" sz="1000" dirty="0">
                <a:ln>
                  <a:solidFill>
                    <a:schemeClr val="accent1">
                      <a:alpha val="0"/>
                    </a:schemeClr>
                  </a:solidFill>
                </a:ln>
                <a:solidFill>
                  <a:schemeClr val="bg1">
                    <a:lumMod val="65000"/>
                  </a:schemeClr>
                </a:solidFill>
                <a:latin typeface="세방고딕 Regular" panose="00000500000000000000" pitchFamily="2" charset="-127"/>
                <a:ea typeface="세방고딕 Regular" panose="00000500000000000000" pitchFamily="2" charset="-127"/>
              </a:rPr>
              <a:t>2024</a:t>
            </a:r>
            <a:r>
              <a:rPr lang="ko-KR" altLang="en-US" sz="1000" dirty="0">
                <a:ln>
                  <a:solidFill>
                    <a:schemeClr val="accent1">
                      <a:alpha val="0"/>
                    </a:schemeClr>
                  </a:solidFill>
                </a:ln>
                <a:solidFill>
                  <a:schemeClr val="bg1">
                    <a:lumMod val="65000"/>
                  </a:schemeClr>
                </a:solidFill>
                <a:latin typeface="세방고딕 Regular" panose="00000500000000000000" pitchFamily="2" charset="-127"/>
                <a:ea typeface="세방고딕 Regular" panose="00000500000000000000" pitchFamily="2" charset="-127"/>
              </a:rPr>
              <a:t>년도 </a:t>
            </a:r>
            <a:r>
              <a:rPr lang="ko-KR" altLang="en-US" sz="1000" dirty="0">
                <a:ln>
                  <a:solidFill>
                    <a:schemeClr val="accent1">
                      <a:alpha val="0"/>
                    </a:schemeClr>
                  </a:solidFill>
                </a:ln>
                <a:solidFill>
                  <a:schemeClr val="bg1">
                    <a:lumMod val="65000"/>
                  </a:schemeClr>
                </a:solidFill>
                <a:latin typeface="세방고딕 Bold" panose="00000800000000000000" pitchFamily="2" charset="-127"/>
                <a:ea typeface="세방고딕 Bold" panose="00000800000000000000" pitchFamily="2" charset="-127"/>
              </a:rPr>
              <a:t>프로젝트평가 훈련기관 신청안내 </a:t>
            </a:r>
          </a:p>
        </p:txBody>
      </p:sp>
      <p:sp>
        <p:nvSpPr>
          <p:cNvPr id="5" name="TextBox 4">
            <a:extLst>
              <a:ext uri="{FF2B5EF4-FFF2-40B4-BE49-F238E27FC236}">
                <a16:creationId xmlns:a16="http://schemas.microsoft.com/office/drawing/2014/main" id="{ADD8DCB8-9B75-7CF9-7713-9B5345DBB23B}"/>
              </a:ext>
            </a:extLst>
          </p:cNvPr>
          <p:cNvSpPr txBox="1"/>
          <p:nvPr userDrawn="1"/>
        </p:nvSpPr>
        <p:spPr>
          <a:xfrm>
            <a:off x="9005162" y="6594154"/>
            <a:ext cx="2754994" cy="153888"/>
          </a:xfrm>
          <a:prstGeom prst="rect">
            <a:avLst/>
          </a:prstGeom>
          <a:noFill/>
        </p:spPr>
        <p:txBody>
          <a:bodyPr wrap="square" lIns="0" tIns="0" rIns="0" bIns="0" rtlCol="0">
            <a:spAutoFit/>
          </a:bodyPr>
          <a:lstStyle/>
          <a:p>
            <a:pPr marL="0" algn="r" defTabSz="914400" rtl="0" eaLnBrk="1" latinLnBrk="1" hangingPunct="1"/>
            <a:fld id="{5426B8F6-3B26-4B2F-9C3C-1E76C1EF5307}" type="slidenum">
              <a:rPr lang="ko-KR" altLang="en-US" sz="1000" kern="1200" smtClean="0">
                <a:ln>
                  <a:solidFill>
                    <a:schemeClr val="accent1">
                      <a:alpha val="0"/>
                    </a:schemeClr>
                  </a:solidFill>
                </a:ln>
                <a:solidFill>
                  <a:schemeClr val="bg1">
                    <a:lumMod val="65000"/>
                  </a:schemeClr>
                </a:solidFill>
                <a:latin typeface="세방고딕 Regular" panose="00000500000000000000" pitchFamily="2" charset="-127"/>
                <a:ea typeface="세방고딕 Regular" panose="00000500000000000000" pitchFamily="2" charset="-127"/>
                <a:cs typeface="+mn-cs"/>
              </a:rPr>
              <a:pPr marL="0" algn="r" defTabSz="914400" rtl="0" eaLnBrk="1" latinLnBrk="1" hangingPunct="1"/>
              <a:t>‹#›</a:t>
            </a:fld>
            <a:endParaRPr lang="ko-KR" altLang="en-US" sz="1000" kern="1200" dirty="0">
              <a:ln>
                <a:solidFill>
                  <a:schemeClr val="accent1">
                    <a:alpha val="0"/>
                  </a:schemeClr>
                </a:solidFill>
              </a:ln>
              <a:solidFill>
                <a:schemeClr val="bg1">
                  <a:lumMod val="65000"/>
                </a:schemeClr>
              </a:solidFill>
              <a:latin typeface="세방고딕 Regular" panose="00000500000000000000" pitchFamily="2" charset="-127"/>
              <a:ea typeface="세방고딕 Regular" panose="00000500000000000000" pitchFamily="2" charset="-127"/>
              <a:cs typeface="+mn-cs"/>
            </a:endParaRPr>
          </a:p>
        </p:txBody>
      </p:sp>
    </p:spTree>
    <p:extLst>
      <p:ext uri="{BB962C8B-B14F-4D97-AF65-F5344CB8AC3E}">
        <p14:creationId xmlns:p14="http://schemas.microsoft.com/office/powerpoint/2010/main" val="1461830875"/>
      </p:ext>
    </p:extLst>
  </p:cSld>
  <p:clrMapOvr>
    <a:masterClrMapping/>
  </p:clrMapOvr>
  <p:extLst>
    <p:ext uri="{DCECCB84-F9BA-43D5-87BE-67443E8EF086}">
      <p15:sldGuideLst xmlns:p15="http://schemas.microsoft.com/office/powerpoint/2012/main">
        <p15:guide id="1" orient="horz" pos="4042">
          <p15:clr>
            <a:srgbClr val="FBAE40"/>
          </p15:clr>
        </p15:guide>
        <p15:guide id="2" pos="393">
          <p15:clr>
            <a:srgbClr val="FBAE40"/>
          </p15:clr>
        </p15:guide>
        <p15:guide id="3" pos="7287">
          <p15:clr>
            <a:srgbClr val="FBAE40"/>
          </p15:clr>
        </p15:guide>
        <p15:guide id="4" orient="horz" pos="1094">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C5A77C7-A655-F1A4-880A-C617304AC7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8D0EEBC-2EED-2FC9-65F6-082EEBC4A7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FCCA73-267C-FD7A-C97B-001EC7FC7C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B245E4-741B-46A9-94D1-0E241DD65ACD}" type="datetimeFigureOut">
              <a:rPr lang="ko-KR" altLang="en-US" smtClean="0"/>
              <a:t>2025-05-13</a:t>
            </a:fld>
            <a:endParaRPr lang="ko-KR" altLang="en-US"/>
          </a:p>
        </p:txBody>
      </p:sp>
      <p:sp>
        <p:nvSpPr>
          <p:cNvPr id="5" name="바닥글 개체 틀 4">
            <a:extLst>
              <a:ext uri="{FF2B5EF4-FFF2-40B4-BE49-F238E27FC236}">
                <a16:creationId xmlns:a16="http://schemas.microsoft.com/office/drawing/2014/main" id="{B861153F-6875-29FF-F12F-3F96ADD659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42AB6F47-B663-25BC-D896-1BCD76A3E6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74A7EC-4654-49B0-A68C-FDC7FC22EFC6}" type="slidenum">
              <a:rPr lang="ko-KR" altLang="en-US" smtClean="0"/>
              <a:t>‹#›</a:t>
            </a:fld>
            <a:endParaRPr lang="ko-KR" altLang="en-US"/>
          </a:p>
        </p:txBody>
      </p:sp>
    </p:spTree>
    <p:extLst>
      <p:ext uri="{BB962C8B-B14F-4D97-AF65-F5344CB8AC3E}">
        <p14:creationId xmlns:p14="http://schemas.microsoft.com/office/powerpoint/2010/main" val="2148378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png"/><Relationship Id="rId3" Type="http://schemas.openxmlformats.org/officeDocument/2006/relationships/image" Target="../media/image32.svg"/><Relationship Id="rId4" Type="http://schemas.openxmlformats.org/officeDocument/2006/relationships/image" Target="../media/image18.png"/><Relationship Id="rId5" Type="http://schemas.openxmlformats.org/officeDocument/2006/relationships/image" Target="../media/image34.svg"/><Relationship Id="rId6" Type="http://schemas.openxmlformats.org/officeDocument/2006/relationships/image" Target="../media/image19.png"/><Relationship Id="rId9" Type="http://schemas.openxmlformats.org/officeDocument/2006/relationships/notesSlide" Target="../notesSlides/notesSlide1.xml"/><Relationship Id="rId10" Type="http://schemas.openxmlformats.org/officeDocument/2006/relationships/image" Target="../media/image39.svg"/><Relationship Id="rId11" Type="http://schemas.openxmlformats.org/officeDocument/2006/relationships/image" Target="../media/image20.png"/><Relationship Id="rId12" Type="http://schemas.openxmlformats.org/officeDocument/2006/relationships/image" Target="../media/image41.svg"/><Relationship Id="rId13" Type="http://schemas.openxmlformats.org/officeDocument/2006/relationships/image" Target="../media/image21.png"/><Relationship Id="rId14" Type="http://schemas.openxmlformats.org/officeDocument/2006/relationships/image" Target="../media/image43.svg"/><Relationship Id="rId15" Type="http://schemas.openxmlformats.org/officeDocument/2006/relationships/image" Target="../media/image22.png"/><Relationship Id="rId16" Type="http://schemas.openxmlformats.org/officeDocument/2006/relationships/image" Target="../media/image45.svg"/><Relationship Id="rId17" Type="http://schemas.openxmlformats.org/officeDocument/2006/relationships/image" Target="../media/image23.png"/><Relationship Id="rId18" Type="http://schemas.openxmlformats.org/officeDocument/2006/relationships/image" Target="../media/image4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png"/><Relationship Id="rId3" Type="http://schemas.openxmlformats.org/officeDocument/2006/relationships/image" Target="../media/image32.svg"/><Relationship Id="rId4" Type="http://schemas.openxmlformats.org/officeDocument/2006/relationships/image" Target="../media/image24.png"/><Relationship Id="rId5" Type="http://schemas.openxmlformats.org/officeDocument/2006/relationships/image" Target="../media/image49.svg"/><Relationship Id="rId6" Type="http://schemas.openxmlformats.org/officeDocument/2006/relationships/image" Target="../media/image25.png"/><Relationship Id="rId7" Type="http://schemas.openxmlformats.org/officeDocument/2006/relationships/image" Target="../media/image51.svg"/><Relationship Id="rId8" Type="http://schemas.openxmlformats.org/officeDocument/2006/relationships/image" Target="../media/image26.png"/><Relationship Id="rId9" Type="http://schemas.openxmlformats.org/officeDocument/2006/relationships/image" Target="../media/image53.svg"/><Relationship Id="rId10" Type="http://schemas.openxmlformats.org/officeDocument/2006/relationships/image" Target="../media/image27.png"/><Relationship Id="rId11" Type="http://schemas.openxmlformats.org/officeDocument/2006/relationships/image" Target="../media/image55.svg"/><Relationship Id="rId12" Type="http://schemas.openxmlformats.org/officeDocument/2006/relationships/image" Target="../media/image28.png"/><Relationship Id="rId13" Type="http://schemas.openxmlformats.org/officeDocument/2006/relationships/image" Target="../media/image57.svg"/><Relationship Id="rId14" Type="http://schemas.openxmlformats.org/officeDocument/2006/relationships/image" Target="../media/image5.png"/><Relationship Id="rId15" Type="http://schemas.openxmlformats.org/officeDocument/2006/relationships/image" Target="../media/image9.svg"/><Relationship Id="rId16" Type="http://schemas.openxmlformats.org/officeDocument/2006/relationships/image" Target="../media/image6.png"/><Relationship Id="rId17" Type="http://schemas.openxmlformats.org/officeDocument/2006/relationships/image" Target="../media/image11.svg"/><Relationship Id="rId18" Type="http://schemas.openxmlformats.org/officeDocument/2006/relationships/image" Target="../media/image7.png"/><Relationship Id="rId19" Type="http://schemas.openxmlformats.org/officeDocument/2006/relationships/image" Target="../media/image13.svg"/><Relationship Id="rId20" Type="http://schemas.openxmlformats.org/officeDocument/2006/relationships/image" Target="../media/image29.png"/><Relationship Id="rId21" Type="http://schemas.openxmlformats.org/officeDocument/2006/relationships/image" Target="../media/image59.svg"/><Relationship Id="rId2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64.svg"/><Relationship Id="rId7" Type="http://schemas.openxmlformats.org/officeDocument/2006/relationships/image" Target="../media/image33.png"/><Relationship Id="rId8" Type="http://schemas.openxmlformats.org/officeDocument/2006/relationships/image" Target="../media/image66.svg"/><Relationship Id="rId9" Type="http://schemas.openxmlformats.org/officeDocument/2006/relationships/image" Target="../media/image34.png"/><Relationship Id="rId10" Type="http://schemas.openxmlformats.org/officeDocument/2006/relationships/image" Target="../media/image68.svg"/><Relationship Id="rId11" Type="http://schemas.openxmlformats.org/officeDocument/2006/relationships/image" Target="../media/image35.png"/><Relationship Id="rId12" Type="http://schemas.openxmlformats.org/officeDocument/2006/relationships/image" Target="../media/image70.svg"/><Relationship Id="rId13" Type="http://schemas.openxmlformats.org/officeDocument/2006/relationships/image" Target="../media/image36.png"/><Relationship Id="rId14" Type="http://schemas.openxmlformats.org/officeDocument/2006/relationships/image" Target="../media/image72.svg"/><Relationship Id="rId15" Type="http://schemas.openxmlformats.org/officeDocument/2006/relationships/image" Target="../media/image37.png"/><Relationship Id="rId16" Type="http://schemas.openxmlformats.org/officeDocument/2006/relationships/image" Target="../media/image74.svg"/><Relationship Id="rId17" Type="http://schemas.openxmlformats.org/officeDocument/2006/relationships/image" Target="../media/image17.png"/><Relationship Id="rId18" Type="http://schemas.openxmlformats.org/officeDocument/2006/relationships/image" Target="../media/image32.svg"/><Relationship Id="rId19" Type="http://schemas.openxmlformats.org/officeDocument/2006/relationships/image" Target="../media/image38.png"/><Relationship Id="rId20" Type="http://schemas.openxmlformats.org/officeDocument/2006/relationships/image" Target="../media/image76.svg"/><Relationship Id="rId21"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64.svg"/><Relationship Id="rId7" Type="http://schemas.openxmlformats.org/officeDocument/2006/relationships/image" Target="../media/image33.png"/><Relationship Id="rId8" Type="http://schemas.openxmlformats.org/officeDocument/2006/relationships/image" Target="../media/image66.svg"/><Relationship Id="rId9" Type="http://schemas.openxmlformats.org/officeDocument/2006/relationships/image" Target="../media/image34.png"/><Relationship Id="rId10" Type="http://schemas.openxmlformats.org/officeDocument/2006/relationships/image" Target="../media/image68.svg"/><Relationship Id="rId11" Type="http://schemas.openxmlformats.org/officeDocument/2006/relationships/image" Target="../media/image35.png"/><Relationship Id="rId12" Type="http://schemas.openxmlformats.org/officeDocument/2006/relationships/image" Target="../media/image70.svg"/><Relationship Id="rId13" Type="http://schemas.openxmlformats.org/officeDocument/2006/relationships/image" Target="../media/image36.png"/><Relationship Id="rId14" Type="http://schemas.openxmlformats.org/officeDocument/2006/relationships/image" Target="../media/image72.svg"/><Relationship Id="rId15" Type="http://schemas.openxmlformats.org/officeDocument/2006/relationships/image" Target="../media/image37.png"/><Relationship Id="rId16" Type="http://schemas.openxmlformats.org/officeDocument/2006/relationships/image" Target="../media/image74.svg"/><Relationship Id="rId17" Type="http://schemas.openxmlformats.org/officeDocument/2006/relationships/image" Target="../media/image17.png"/><Relationship Id="rId18" Type="http://schemas.openxmlformats.org/officeDocument/2006/relationships/image" Target="../media/image32.svg"/><Relationship Id="rId19" Type="http://schemas.openxmlformats.org/officeDocument/2006/relationships/image" Target="../media/image38.png"/><Relationship Id="rId20" Type="http://schemas.openxmlformats.org/officeDocument/2006/relationships/image" Target="../media/image76.svg"/><Relationship Id="rId21" Type="http://schemas.openxmlformats.org/officeDocument/2006/relationships/image" Target="../media/image1.png"/><Relationship Id="rId2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64.svg"/><Relationship Id="rId7" Type="http://schemas.openxmlformats.org/officeDocument/2006/relationships/image" Target="../media/image33.png"/><Relationship Id="rId8" Type="http://schemas.openxmlformats.org/officeDocument/2006/relationships/image" Target="../media/image66.svg"/><Relationship Id="rId9" Type="http://schemas.openxmlformats.org/officeDocument/2006/relationships/image" Target="../media/image34.png"/><Relationship Id="rId10" Type="http://schemas.openxmlformats.org/officeDocument/2006/relationships/image" Target="../media/image68.svg"/><Relationship Id="rId11" Type="http://schemas.openxmlformats.org/officeDocument/2006/relationships/image" Target="../media/image35.png"/><Relationship Id="rId12" Type="http://schemas.openxmlformats.org/officeDocument/2006/relationships/image" Target="../media/image70.svg"/><Relationship Id="rId13" Type="http://schemas.openxmlformats.org/officeDocument/2006/relationships/image" Target="../media/image36.png"/><Relationship Id="rId14" Type="http://schemas.openxmlformats.org/officeDocument/2006/relationships/image" Target="../media/image72.svg"/><Relationship Id="rId15" Type="http://schemas.openxmlformats.org/officeDocument/2006/relationships/image" Target="../media/image37.png"/><Relationship Id="rId16" Type="http://schemas.openxmlformats.org/officeDocument/2006/relationships/image" Target="../media/image74.svg"/><Relationship Id="rId17" Type="http://schemas.openxmlformats.org/officeDocument/2006/relationships/image" Target="../media/image17.png"/><Relationship Id="rId18" Type="http://schemas.openxmlformats.org/officeDocument/2006/relationships/image" Target="../media/image32.svg"/><Relationship Id="rId19" Type="http://schemas.openxmlformats.org/officeDocument/2006/relationships/image" Target="../media/image38.png"/><Relationship Id="rId20" Type="http://schemas.openxmlformats.org/officeDocument/2006/relationships/image" Target="../media/image76.svg"/><Relationship Id="rId21" Type="http://schemas.openxmlformats.org/officeDocument/2006/relationships/image" Target="../media/image2.png"/><Relationship Id="rId2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64.svg"/><Relationship Id="rId7" Type="http://schemas.openxmlformats.org/officeDocument/2006/relationships/image" Target="../media/image33.png"/><Relationship Id="rId8" Type="http://schemas.openxmlformats.org/officeDocument/2006/relationships/image" Target="../media/image66.svg"/><Relationship Id="rId9" Type="http://schemas.openxmlformats.org/officeDocument/2006/relationships/image" Target="../media/image34.png"/><Relationship Id="rId10" Type="http://schemas.openxmlformats.org/officeDocument/2006/relationships/image" Target="../media/image68.svg"/><Relationship Id="rId11" Type="http://schemas.openxmlformats.org/officeDocument/2006/relationships/image" Target="../media/image35.png"/><Relationship Id="rId12" Type="http://schemas.openxmlformats.org/officeDocument/2006/relationships/image" Target="../media/image70.svg"/><Relationship Id="rId13" Type="http://schemas.openxmlformats.org/officeDocument/2006/relationships/image" Target="../media/image36.png"/><Relationship Id="rId14" Type="http://schemas.openxmlformats.org/officeDocument/2006/relationships/image" Target="../media/image72.svg"/><Relationship Id="rId15" Type="http://schemas.openxmlformats.org/officeDocument/2006/relationships/image" Target="../media/image37.png"/><Relationship Id="rId16" Type="http://schemas.openxmlformats.org/officeDocument/2006/relationships/image" Target="../media/image74.svg"/><Relationship Id="rId17" Type="http://schemas.openxmlformats.org/officeDocument/2006/relationships/image" Target="../media/image17.png"/><Relationship Id="rId18" Type="http://schemas.openxmlformats.org/officeDocument/2006/relationships/image" Target="../media/image32.svg"/><Relationship Id="rId19" Type="http://schemas.openxmlformats.org/officeDocument/2006/relationships/image" Target="../media/image38.png"/><Relationship Id="rId20" Type="http://schemas.openxmlformats.org/officeDocument/2006/relationships/image" Target="../media/image76.svg"/><Relationship Id="rId21" Type="http://schemas.openxmlformats.org/officeDocument/2006/relationships/image" Target="../media/image3.png"/><Relationship Id="rId2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64.svg"/><Relationship Id="rId7" Type="http://schemas.openxmlformats.org/officeDocument/2006/relationships/image" Target="../media/image39.png"/><Relationship Id="rId8" Type="http://schemas.openxmlformats.org/officeDocument/2006/relationships/image" Target="../media/image79.svg"/><Relationship Id="rId9" Type="http://schemas.openxmlformats.org/officeDocument/2006/relationships/image" Target="../media/image40.png"/><Relationship Id="rId10" Type="http://schemas.openxmlformats.org/officeDocument/2006/relationships/image" Target="../media/image81.svg"/><Relationship Id="rId11" Type="http://schemas.openxmlformats.org/officeDocument/2006/relationships/image" Target="../media/image41.png"/><Relationship Id="rId12" Type="http://schemas.openxmlformats.org/officeDocument/2006/relationships/image" Target="../media/image83.svg"/><Relationship Id="rId13" Type="http://schemas.openxmlformats.org/officeDocument/2006/relationships/image" Target="../media/image42.png"/><Relationship Id="rId14" Type="http://schemas.openxmlformats.org/officeDocument/2006/relationships/image" Target="../media/image85.svg"/><Relationship Id="rId15" Type="http://schemas.openxmlformats.org/officeDocument/2006/relationships/image" Target="../media/image43.png"/><Relationship Id="rId16" Type="http://schemas.openxmlformats.org/officeDocument/2006/relationships/image" Target="../media/image87.svg"/><Relationship Id="rId17" Type="http://schemas.openxmlformats.org/officeDocument/2006/relationships/image" Target="../media/image44.png"/><Relationship Id="rId18" Type="http://schemas.openxmlformats.org/officeDocument/2006/relationships/image" Target="../media/image89.svg"/><Relationship Id="rId19" Type="http://schemas.openxmlformats.org/officeDocument/2006/relationships/image" Target="../media/image45.png"/><Relationship Id="rId20" Type="http://schemas.openxmlformats.org/officeDocument/2006/relationships/image" Target="../media/image91.svg"/><Relationship Id="rId21" Type="http://schemas.openxmlformats.org/officeDocument/2006/relationships/image" Target="../media/image46.png"/><Relationship Id="rId22" Type="http://schemas.openxmlformats.org/officeDocument/2006/relationships/image" Target="../media/image93.svg"/><Relationship Id="rId23" Type="http://schemas.openxmlformats.org/officeDocument/2006/relationships/image" Target="../media/image33.png"/><Relationship Id="rId26" Type="http://schemas.openxmlformats.org/officeDocument/2006/relationships/notesSlide" Target="../notesSlides/notesSlide7.xml"/><Relationship Id="rId27" Type="http://schemas.openxmlformats.org/officeDocument/2006/relationships/image" Target="../media/image66.svg"/><Relationship Id="rId28" Type="http://schemas.openxmlformats.org/officeDocument/2006/relationships/image" Target="../media/image47.png"/><Relationship Id="rId29" Type="http://schemas.openxmlformats.org/officeDocument/2006/relationships/image" Target="../media/image9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48.png"/><Relationship Id="rId5" Type="http://schemas.openxmlformats.org/officeDocument/2006/relationships/image" Target="../media/image97.svg"/><Relationship Id="rId6" Type="http://schemas.openxmlformats.org/officeDocument/2006/relationships/image" Target="../media/image37.png"/><Relationship Id="rId7" Type="http://schemas.openxmlformats.org/officeDocument/2006/relationships/image" Target="../media/image98.svg"/><Relationship Id="rId8" Type="http://schemas.openxmlformats.org/officeDocument/2006/relationships/image" Target="../media/image31.png"/><Relationship Id="rId9" Type="http://schemas.openxmlformats.org/officeDocument/2006/relationships/image" Target="../media/image49.png"/><Relationship Id="rId12" Type="http://schemas.openxmlformats.org/officeDocument/2006/relationships/notesSlide" Target="../notesSlides/notesSlide8.xml"/><Relationship Id="rId13" Type="http://schemas.openxmlformats.org/officeDocument/2006/relationships/image" Target="../media/image100.svg"/><Relationship Id="rId14" Type="http://schemas.openxmlformats.org/officeDocument/2006/relationships/image" Target="../media/image50.png"/><Relationship Id="rId15" Type="http://schemas.openxmlformats.org/officeDocument/2006/relationships/image" Target="../media/image102.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48.png"/><Relationship Id="rId5" Type="http://schemas.openxmlformats.org/officeDocument/2006/relationships/image" Target="../media/image97.svg"/><Relationship Id="rId6" Type="http://schemas.openxmlformats.org/officeDocument/2006/relationships/image" Target="../media/image37.png"/><Relationship Id="rId7" Type="http://schemas.openxmlformats.org/officeDocument/2006/relationships/image" Target="../media/image98.svg"/><Relationship Id="rId8" Type="http://schemas.openxmlformats.org/officeDocument/2006/relationships/image" Target="../media/image31.png"/><Relationship Id="rId9" Type="http://schemas.openxmlformats.org/officeDocument/2006/relationships/image" Target="../media/image49.png"/><Relationship Id="rId11" Type="http://schemas.openxmlformats.org/officeDocument/2006/relationships/notesSlide" Target="../notesSlides/notesSlide9.xml"/><Relationship Id="rId12" Type="http://schemas.openxmlformats.org/officeDocument/2006/relationships/image" Target="../media/image4.png"/><Relationship Id="rId13" Type="http://schemas.openxmlformats.org/officeDocument/2006/relationships/image" Target="../media/image100.svg"/><Relationship Id="rId14" Type="http://schemas.openxmlformats.org/officeDocument/2006/relationships/image" Target="../media/image50.png"/><Relationship Id="rId15" Type="http://schemas.openxmlformats.org/officeDocument/2006/relationships/image" Target="../media/image102.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48.png"/><Relationship Id="rId5" Type="http://schemas.openxmlformats.org/officeDocument/2006/relationships/image" Target="../media/image97.svg"/><Relationship Id="rId6" Type="http://schemas.openxmlformats.org/officeDocument/2006/relationships/image" Target="../media/image37.png"/><Relationship Id="rId7" Type="http://schemas.openxmlformats.org/officeDocument/2006/relationships/image" Target="../media/image98.svg"/><Relationship Id="rId8" Type="http://schemas.openxmlformats.org/officeDocument/2006/relationships/image" Target="../media/image31.png"/><Relationship Id="rId9" Type="http://schemas.openxmlformats.org/officeDocument/2006/relationships/image" Target="../media/image49.png"/><Relationship Id="rId12" Type="http://schemas.openxmlformats.org/officeDocument/2006/relationships/notesSlide" Target="../notesSlides/notesSlide10.xml"/><Relationship Id="rId13" Type="http://schemas.openxmlformats.org/officeDocument/2006/relationships/image" Target="../media/image100.svg"/><Relationship Id="rId14" Type="http://schemas.openxmlformats.org/officeDocument/2006/relationships/image" Target="../media/image50.png"/><Relationship Id="rId15" Type="http://schemas.openxmlformats.org/officeDocument/2006/relationships/image" Target="../media/image102.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8.png"/><Relationship Id="rId11"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10.png"/><Relationship Id="rId11"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12.png"/><Relationship Id="rId11"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14.png"/><Relationship Id="rId11"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15.png"/><Relationship Id="rId11"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60.png"/><Relationship Id="rId5" Type="http://schemas.openxmlformats.org/officeDocument/2006/relationships/image" Target="../media/image120.svg"/><Relationship Id="rId6" Type="http://schemas.openxmlformats.org/officeDocument/2006/relationships/image" Target="../media/image61.png"/><Relationship Id="rId7" Type="http://schemas.openxmlformats.org/officeDocument/2006/relationships/image" Target="../media/image122.svg"/><Relationship Id="rId8" Type="http://schemas.openxmlformats.org/officeDocument/2006/relationships/image" Target="../media/image31.png"/><Relationship Id="rId9" Type="http://schemas.openxmlformats.org/officeDocument/2006/relationships/image" Target="../media/image62.png"/><Relationship Id="rId10" Type="http://schemas.openxmlformats.org/officeDocument/2006/relationships/image" Target="../media/image124.svg"/><Relationship Id="rId11"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image" Target="../media/image61.svg"/><Relationship Id="rId4" Type="http://schemas.openxmlformats.org/officeDocument/2006/relationships/image" Target="../media/image60.png"/><Relationship Id="rId5" Type="http://schemas.openxmlformats.org/officeDocument/2006/relationships/image" Target="../media/image120.svg"/><Relationship Id="rId6" Type="http://schemas.openxmlformats.org/officeDocument/2006/relationships/image" Target="../media/image61.png"/><Relationship Id="rId7" Type="http://schemas.openxmlformats.org/officeDocument/2006/relationships/image" Target="../media/image122.svg"/><Relationship Id="rId8" Type="http://schemas.openxmlformats.org/officeDocument/2006/relationships/image" Target="../media/image31.png"/><Relationship Id="rId9" Type="http://schemas.openxmlformats.org/officeDocument/2006/relationships/image" Target="../media/image62.png"/><Relationship Id="rId10" Type="http://schemas.openxmlformats.org/officeDocument/2006/relationships/image" Target="../media/image124.svg"/><Relationship Id="rId11"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그래픽 40">
            <a:extLst>
              <a:ext uri="{FF2B5EF4-FFF2-40B4-BE49-F238E27FC236}">
                <a16:creationId xmlns:a16="http://schemas.microsoft.com/office/drawing/2014/main" id="{377B7F54-DA4F-B3D9-04F9-D2EBDE1BC078}"/>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pic>
        <p:nvPicPr>
          <p:cNvPr id="89" name="그래픽 88">
            <a:extLst>
              <a:ext uri="{FF2B5EF4-FFF2-40B4-BE49-F238E27FC236}">
                <a16:creationId xmlns:a16="http://schemas.microsoft.com/office/drawing/2014/main" id="{74114B4B-F496-60FE-9596-E6AE560E9DC6}"/>
              </a:ext>
            </a:extLst>
          </p:cNvPr>
          <p:cNvPicPr>
            <a:picLocks noChangeAspect="1"/>
          </p:cNvPicPr>
          <p:nvPr/>
        </p:nvPicPr>
        <p:blipFill rotWithShape="1">
          <a:blip r:embed="rId4">
            <a:extLst>
              <a:ext uri="{96DAC541-7B7A-43D3-8B79-37D633B846F1}">
                <asvg:svgBlip xmlns="" xmlns:asvg="http://schemas.microsoft.com/office/drawing/2016/SVG/main" r:embed="rId5"/>
              </a:ext>
            </a:extLst>
          </a:blip>
          <a:srcRect t="37985" r="48349"/>
          <a:stretch/>
        </p:blipFill>
        <p:spPr>
          <a:xfrm>
            <a:off x="10333589" y="-1"/>
            <a:ext cx="1858411" cy="2170297"/>
          </a:xfrm>
          <a:prstGeom prst="rect">
            <a:avLst/>
          </a:prstGeom>
        </p:spPr>
      </p:pic>
      <p:grpSp>
        <p:nvGrpSpPr>
          <p:cNvPr id="3" name="그룹 2">
            <a:extLst>
              <a:ext uri="{FF2B5EF4-FFF2-40B4-BE49-F238E27FC236}">
                <a16:creationId xmlns:a16="http://schemas.microsoft.com/office/drawing/2014/main" id="{6BB7F9CF-D2E8-11E8-C21E-3BFA51F0BBAB}"/>
              </a:ext>
            </a:extLst>
          </p:cNvPr>
          <p:cNvGrpSpPr/>
          <p:nvPr/>
        </p:nvGrpSpPr>
        <p:grpSpPr>
          <a:xfrm>
            <a:off x="4367809" y="1370504"/>
            <a:ext cx="7115886" cy="1793451"/>
            <a:chOff x="6747213" y="1370504"/>
            <a:chExt cx="4736481" cy="1793451"/>
          </a:xfrm>
        </p:grpSpPr>
        <p:sp>
          <p:nvSpPr>
            <p:cNvPr id="4" name="TextBox 3">
              <a:extLst>
                <a:ext uri="{FF2B5EF4-FFF2-40B4-BE49-F238E27FC236}">
                  <a16:creationId xmlns:a16="http://schemas.microsoft.com/office/drawing/2014/main" id="{A829A270-96EA-F97C-E5A6-A95390C1A2BA}"/>
                </a:ext>
              </a:extLst>
            </p:cNvPr>
            <p:cNvSpPr txBox="1"/>
            <p:nvPr/>
          </p:nvSpPr>
          <p:spPr>
            <a:xfrm>
              <a:off x="6784188" y="1370504"/>
              <a:ext cx="4061040" cy="369332"/>
            </a:xfrm>
            <a:prstGeom prst="rect">
              <a:avLst/>
            </a:prstGeom>
            <a:noFill/>
          </p:spPr>
          <p:txBody>
            <a:bodyPr wrap="square" rtlCol="0">
              <a:spAutoFit/>
            </a:bodyPr>
            <a:lstStyle/>
            <a:p>
              <a:pPr lvl="0">
                <a:defRPr/>
              </a:pPr>
              <a:r>
                <a:rPr lang="en-US" altLang="ko-KR" dirty="0">
                  <a:ln>
                    <a:solidFill>
                      <a:schemeClr val="accent1">
                        <a:shade val="15000"/>
                        <a:alpha val="0"/>
                      </a:schemeClr>
                    </a:solidFill>
                  </a:ln>
                  <a:solidFill>
                    <a:schemeClr val="tx1">
                      <a:lumMod val="75000"/>
                      <a:lumOff val="25000"/>
                    </a:schemeClr>
                  </a:solidFill>
                  <a:latin typeface="맑은 고딕" panose="020B0503020000020004" pitchFamily="50" charset="-127"/>
                </a:rPr>
                <a:t>[</a:t>
              </a:r>
              <a:r>
                <a:rPr lang="ko-KR" altLang="en-US" dirty="0" err="1">
                  <a:ln>
                    <a:solidFill>
                      <a:schemeClr val="accent1">
                        <a:shade val="15000"/>
                        <a:alpha val="0"/>
                      </a:schemeClr>
                    </a:solidFill>
                  </a:ln>
                  <a:solidFill>
                    <a:schemeClr val="tx1">
                      <a:lumMod val="75000"/>
                      <a:lumOff val="25000"/>
                    </a:schemeClr>
                  </a:solidFill>
                  <a:latin typeface="맑은 고딕" panose="020B0503020000020004" pitchFamily="50" charset="-127"/>
                </a:rPr>
                <a:t>두산로보틱스</a:t>
              </a:r>
              <a:r>
                <a:rPr lang="en-US" altLang="ko-KR" dirty="0">
                  <a:ln>
                    <a:solidFill>
                      <a:schemeClr val="accent1">
                        <a:shade val="15000"/>
                        <a:alpha val="0"/>
                      </a:schemeClr>
                    </a:solidFill>
                  </a:ln>
                  <a:solidFill>
                    <a:schemeClr val="tx1">
                      <a:lumMod val="75000"/>
                      <a:lumOff val="25000"/>
                    </a:schemeClr>
                  </a:solidFill>
                  <a:latin typeface="맑은 고딕" panose="020B0503020000020004" pitchFamily="50" charset="-127"/>
                </a:rPr>
                <a:t>] </a:t>
              </a:r>
              <a:r>
                <a:rPr lang="ko-KR" altLang="en-US" dirty="0">
                  <a:ln>
                    <a:solidFill>
                      <a:schemeClr val="accent1">
                        <a:shade val="15000"/>
                        <a:alpha val="0"/>
                      </a:schemeClr>
                    </a:solidFill>
                  </a:ln>
                  <a:solidFill>
                    <a:schemeClr val="tx1">
                      <a:lumMod val="75000"/>
                      <a:lumOff val="25000"/>
                    </a:schemeClr>
                  </a:solidFill>
                  <a:latin typeface="맑은 고딕" panose="020B0503020000020004" pitchFamily="50" charset="-127"/>
                </a:rPr>
                <a:t>지능형 </a:t>
              </a:r>
              <a:r>
                <a:rPr lang="ko-KR" altLang="en-US" dirty="0" err="1">
                  <a:ln>
                    <a:solidFill>
                      <a:schemeClr val="accent1">
                        <a:shade val="15000"/>
                        <a:alpha val="0"/>
                      </a:schemeClr>
                    </a:solidFill>
                  </a:ln>
                  <a:solidFill>
                    <a:schemeClr val="tx1">
                      <a:lumMod val="75000"/>
                      <a:lumOff val="25000"/>
                    </a:schemeClr>
                  </a:solidFill>
                  <a:latin typeface="맑은 고딕" panose="020B0503020000020004" pitchFamily="50" charset="-127"/>
                </a:rPr>
                <a:t>로보틱스</a:t>
              </a:r>
              <a:r>
                <a:rPr lang="ko-KR" altLang="en-US" dirty="0">
                  <a:ln>
                    <a:solidFill>
                      <a:schemeClr val="accent1">
                        <a:shade val="15000"/>
                        <a:alpha val="0"/>
                      </a:schemeClr>
                    </a:solidFill>
                  </a:ln>
                  <a:solidFill>
                    <a:schemeClr val="tx1">
                      <a:lumMod val="75000"/>
                      <a:lumOff val="25000"/>
                    </a:schemeClr>
                  </a:solidFill>
                  <a:latin typeface="맑은 고딕" panose="020B0503020000020004" pitchFamily="50" charset="-127"/>
                </a:rPr>
                <a:t> 엔지니어</a:t>
              </a:r>
            </a:p>
          </p:txBody>
        </p:sp>
        <p:sp>
          <p:nvSpPr>
            <p:cNvPr id="10" name="TextBox 9">
              <a:extLst>
                <a:ext uri="{FF2B5EF4-FFF2-40B4-BE49-F238E27FC236}">
                  <a16:creationId xmlns:a16="http://schemas.microsoft.com/office/drawing/2014/main" id="{A673C8D9-CE6D-AA17-08C5-62EEC7375D4E}"/>
                </a:ext>
              </a:extLst>
            </p:cNvPr>
            <p:cNvSpPr txBox="1"/>
            <p:nvPr/>
          </p:nvSpPr>
          <p:spPr>
            <a:xfrm>
              <a:off x="6747213" y="1809738"/>
              <a:ext cx="4736481" cy="1354217"/>
            </a:xfrm>
            <a:prstGeom prst="rect">
              <a:avLst/>
            </a:prstGeom>
            <a:noFill/>
          </p:spPr>
          <p:txBody>
            <a:bodyPr wrap="square" tIns="0" bIns="0">
              <a:spAutoFit/>
            </a:bodyPr>
            <a:lstStyle/>
            <a:p>
              <a:pPr eaLnBrk="1" fontAlgn="auto" latinLnBrk="1" hangingPunct="1">
                <a:spcBef>
                  <a:spcPts val="0"/>
                </a:spcBef>
                <a:spcAft>
                  <a:spcPts val="0"/>
                </a:spcAft>
                <a:defRPr/>
              </a:pPr>
              <a:r>
                <a:rPr lang="ko-KR" altLang="en-US" sz="4800" dirty="0">
                  <a:ln>
                    <a:solidFill>
                      <a:schemeClr val="accent1">
                        <a:shade val="15000"/>
                        <a:alpha val="0"/>
                      </a:schemeClr>
                    </a:solidFill>
                  </a:ln>
                  <a:solidFill>
                    <a:schemeClr val="tx1">
                      <a:lumMod val="75000"/>
                      <a:lumOff val="25000"/>
                    </a:schemeClr>
                  </a:solidFill>
                  <a:latin typeface="+mj-ea"/>
                  <a:ea typeface="+mj-ea"/>
                </a:rPr>
                <a:t>접촉 탐색으로 용접선 후보를 찾는 협동로봇 시스템</a:t>
              </a:r>
              <a:br>
                <a:rPr lang="en-US" altLang="ko-KR" sz="4000" b="1" dirty="0">
                  <a:ln>
                    <a:solidFill>
                      <a:schemeClr val="accent1">
                        <a:shade val="15000"/>
                        <a:alpha val="0"/>
                      </a:schemeClr>
                    </a:solidFill>
                  </a:ln>
                  <a:solidFill>
                    <a:schemeClr val="tx1">
                      <a:lumMod val="75000"/>
                      <a:lumOff val="25000"/>
                    </a:schemeClr>
                  </a:solidFill>
                  <a:latin typeface="+mj-ea"/>
                  <a:ea typeface="+mj-ea"/>
                </a:rPr>
              </a:br>
              <a:endParaRPr lang="ko-KR" altLang="en-US" sz="4000" b="1" dirty="0">
                <a:ln>
                  <a:solidFill>
                    <a:schemeClr val="accent1">
                      <a:shade val="15000"/>
                      <a:alpha val="0"/>
                    </a:schemeClr>
                  </a:solidFill>
                </a:ln>
                <a:solidFill>
                  <a:schemeClr val="tx1">
                    <a:lumMod val="75000"/>
                    <a:lumOff val="25000"/>
                  </a:schemeClr>
                </a:solidFill>
                <a:latin typeface="+mj-ea"/>
                <a:ea typeface="+mj-ea"/>
              </a:endParaRPr>
            </a:p>
          </p:txBody>
        </p:sp>
      </p:grpSp>
      <p:sp>
        <p:nvSpPr>
          <p:cNvPr id="11" name="TextBox 10">
            <a:extLst>
              <a:ext uri="{FF2B5EF4-FFF2-40B4-BE49-F238E27FC236}">
                <a16:creationId xmlns:a16="http://schemas.microsoft.com/office/drawing/2014/main" id="{AC6A9F18-1841-DEC0-E8F7-05B5795B476E}"/>
              </a:ext>
            </a:extLst>
          </p:cNvPr>
          <p:cNvSpPr txBox="1"/>
          <p:nvPr/>
        </p:nvSpPr>
        <p:spPr>
          <a:xfrm>
            <a:off x="0" y="0"/>
            <a:ext cx="12192000" cy="430886"/>
          </a:xfrm>
          <a:prstGeom prst="rect">
            <a:avLst/>
          </a:prstGeom>
          <a:solidFill>
            <a:srgbClr val="FFD85C"/>
          </a:solidFill>
          <a:effectLst/>
        </p:spPr>
        <p:txBody>
          <a:bodyPr wrap="square" rtlCol="0" anchor="ctr">
            <a:noAutofit/>
          </a:bodyPr>
          <a:lstStyle/>
          <a:p>
            <a:pPr algn="ctr"/>
            <a:r>
              <a:rPr lang="en-US" altLang="ko-KR" sz="1600" b="1" spc="600" dirty="0">
                <a:ln>
                  <a:solidFill>
                    <a:schemeClr val="accent1">
                      <a:shade val="15000"/>
                      <a:alpha val="0"/>
                    </a:schemeClr>
                  </a:solidFill>
                </a:ln>
                <a:solidFill>
                  <a:srgbClr val="3378C8"/>
                </a:solidFill>
                <a:latin typeface="맑은 고딕" panose="020B0503020000020004" pitchFamily="50" charset="-127"/>
                <a:ea typeface="맑은 고딕" panose="020B0503020000020004" pitchFamily="50" charset="-127"/>
              </a:rPr>
              <a:t>K-Digital Training</a:t>
            </a:r>
            <a:endParaRPr lang="ko-KR" altLang="en-US" sz="1600" b="1" spc="600" dirty="0">
              <a:ln>
                <a:solidFill>
                  <a:schemeClr val="accent1">
                    <a:shade val="15000"/>
                    <a:alpha val="0"/>
                  </a:schemeClr>
                </a:solidFill>
              </a:ln>
              <a:solidFill>
                <a:srgbClr val="3378C8"/>
              </a:solidFill>
              <a:latin typeface="맑은 고딕" panose="020B0503020000020004" pitchFamily="50" charset="-127"/>
              <a:ea typeface="맑은 고딕" panose="020B0503020000020004" pitchFamily="50" charset="-127"/>
            </a:endParaRPr>
          </a:p>
        </p:txBody>
      </p:sp>
      <p:pic>
        <p:nvPicPr>
          <p:cNvPr id="83" name="그래픽 82">
            <a:extLst>
              <a:ext uri="{FF2B5EF4-FFF2-40B4-BE49-F238E27FC236}">
                <a16:creationId xmlns:a16="http://schemas.microsoft.com/office/drawing/2014/main" id="{C8CDCDEF-234C-3475-E28B-71872D494B05}"/>
              </a:ext>
            </a:extLst>
          </p:cNvPr>
          <p:cNvPicPr>
            <a:picLocks noChangeAspect="1"/>
          </p:cNvPicPr>
          <p:nvPr/>
        </p:nvPicPr>
        <p:blipFill>
          <a:blip r:embed="rId6">
            <a:extLst>
              <a:ext uri="{96DAC541-7B7A-43D3-8B79-37D633B846F1}">
                <asvg:svgBlip xmlns="" xmlns:asvg="http://schemas.microsoft.com/office/drawing/2016/SVG/main" r:embed="rId10"/>
              </a:ext>
            </a:extLst>
          </a:blip>
          <a:stretch>
            <a:fillRect/>
          </a:stretch>
        </p:blipFill>
        <p:spPr>
          <a:xfrm>
            <a:off x="-160030" y="3915155"/>
            <a:ext cx="7469973" cy="3682727"/>
          </a:xfrm>
          <a:prstGeom prst="rect">
            <a:avLst/>
          </a:prstGeom>
        </p:spPr>
      </p:pic>
      <p:pic>
        <p:nvPicPr>
          <p:cNvPr id="35" name="그래픽 34">
            <a:extLst>
              <a:ext uri="{FF2B5EF4-FFF2-40B4-BE49-F238E27FC236}">
                <a16:creationId xmlns:a16="http://schemas.microsoft.com/office/drawing/2014/main" id="{0D726EA1-BE16-120A-6ADB-5C5AB1216ACF}"/>
              </a:ext>
            </a:extLst>
          </p:cNvPr>
          <p:cNvPicPr>
            <a:picLocks noChangeAspect="1"/>
          </p:cNvPicPr>
          <p:nvPr/>
        </p:nvPicPr>
        <p:blipFill rotWithShape="1">
          <a:blip r:embed="rId11">
            <a:extLst>
              <a:ext uri="{96DAC541-7B7A-43D3-8B79-37D633B846F1}">
                <asvg:svgBlip xmlns="" xmlns:asvg="http://schemas.microsoft.com/office/drawing/2016/SVG/main" r:embed="rId12"/>
              </a:ext>
            </a:extLst>
          </a:blip>
          <a:srcRect l="21662" t="1" b="17379"/>
          <a:stretch/>
        </p:blipFill>
        <p:spPr>
          <a:xfrm>
            <a:off x="0" y="1229667"/>
            <a:ext cx="6616357" cy="5641295"/>
          </a:xfrm>
          <a:prstGeom prst="rect">
            <a:avLst/>
          </a:prstGeom>
        </p:spPr>
      </p:pic>
      <p:grpSp>
        <p:nvGrpSpPr>
          <p:cNvPr id="47" name="그룹 46">
            <a:extLst>
              <a:ext uri="{FF2B5EF4-FFF2-40B4-BE49-F238E27FC236}">
                <a16:creationId xmlns:a16="http://schemas.microsoft.com/office/drawing/2014/main" id="{483AC635-D27B-44AF-C252-C231B6D1D76F}"/>
              </a:ext>
            </a:extLst>
          </p:cNvPr>
          <p:cNvGrpSpPr/>
          <p:nvPr/>
        </p:nvGrpSpPr>
        <p:grpSpPr>
          <a:xfrm>
            <a:off x="396381" y="2177346"/>
            <a:ext cx="1047217" cy="1047469"/>
            <a:chOff x="251139" y="1723399"/>
            <a:chExt cx="1047217" cy="1047469"/>
          </a:xfrm>
        </p:grpSpPr>
        <p:sp>
          <p:nvSpPr>
            <p:cNvPr id="45" name="자유형: 도형 44">
              <a:extLst>
                <a:ext uri="{FF2B5EF4-FFF2-40B4-BE49-F238E27FC236}">
                  <a16:creationId xmlns:a16="http://schemas.microsoft.com/office/drawing/2014/main" id="{A355785C-5147-8E5C-8C08-D78A66EB5980}"/>
                </a:ext>
              </a:extLst>
            </p:cNvPr>
            <p:cNvSpPr/>
            <p:nvPr/>
          </p:nvSpPr>
          <p:spPr>
            <a:xfrm>
              <a:off x="251139" y="1723399"/>
              <a:ext cx="1047217" cy="1047469"/>
            </a:xfrm>
            <a:custGeom>
              <a:avLst/>
              <a:gdLst>
                <a:gd name="connsiteX0" fmla="*/ 1047155 w 1047217"/>
                <a:gd name="connsiteY0" fmla="*/ 563441 h 1047469"/>
                <a:gd name="connsiteX1" fmla="*/ 1047155 w 1047217"/>
                <a:gd name="connsiteY1" fmla="*/ 483903 h 1047469"/>
                <a:gd name="connsiteX2" fmla="*/ 992095 w 1047217"/>
                <a:gd name="connsiteY2" fmla="*/ 428842 h 1047469"/>
                <a:gd name="connsiteX3" fmla="*/ 942257 w 1047217"/>
                <a:gd name="connsiteY3" fmla="*/ 428842 h 1047469"/>
                <a:gd name="connsiteX4" fmla="*/ 889651 w 1047217"/>
                <a:gd name="connsiteY4" fmla="*/ 391967 h 1047469"/>
                <a:gd name="connsiteX5" fmla="*/ 875555 w 1047217"/>
                <a:gd name="connsiteY5" fmla="*/ 356666 h 1047469"/>
                <a:gd name="connsiteX6" fmla="*/ 886127 w 1047217"/>
                <a:gd name="connsiteY6" fmla="*/ 295250 h 1047469"/>
                <a:gd name="connsiteX7" fmla="*/ 921995 w 1047217"/>
                <a:gd name="connsiteY7" fmla="*/ 259382 h 1047469"/>
                <a:gd name="connsiteX8" fmla="*/ 921995 w 1047217"/>
                <a:gd name="connsiteY8" fmla="*/ 181479 h 1047469"/>
                <a:gd name="connsiteX9" fmla="*/ 865739 w 1047217"/>
                <a:gd name="connsiteY9" fmla="*/ 125223 h 1047469"/>
                <a:gd name="connsiteX10" fmla="*/ 787836 w 1047217"/>
                <a:gd name="connsiteY10" fmla="*/ 125223 h 1047469"/>
                <a:gd name="connsiteX11" fmla="*/ 755870 w 1047217"/>
                <a:gd name="connsiteY11" fmla="*/ 157190 h 1047469"/>
                <a:gd name="connsiteX12" fmla="*/ 692692 w 1047217"/>
                <a:gd name="connsiteY12" fmla="*/ 167698 h 1047469"/>
                <a:gd name="connsiteX13" fmla="*/ 653866 w 1047217"/>
                <a:gd name="connsiteY13" fmla="*/ 150897 h 1047469"/>
                <a:gd name="connsiteX14" fmla="*/ 618439 w 1047217"/>
                <a:gd name="connsiteY14" fmla="*/ 99486 h 1047469"/>
                <a:gd name="connsiteX15" fmla="*/ 618439 w 1047217"/>
                <a:gd name="connsiteY15" fmla="*/ 55060 h 1047469"/>
                <a:gd name="connsiteX16" fmla="*/ 563378 w 1047217"/>
                <a:gd name="connsiteY16" fmla="*/ 0 h 1047469"/>
                <a:gd name="connsiteX17" fmla="*/ 483840 w 1047217"/>
                <a:gd name="connsiteY17" fmla="*/ 0 h 1047469"/>
                <a:gd name="connsiteX18" fmla="*/ 428779 w 1047217"/>
                <a:gd name="connsiteY18" fmla="*/ 55060 h 1047469"/>
                <a:gd name="connsiteX19" fmla="*/ 428779 w 1047217"/>
                <a:gd name="connsiteY19" fmla="*/ 95522 h 1047469"/>
                <a:gd name="connsiteX20" fmla="*/ 391904 w 1047217"/>
                <a:gd name="connsiteY20" fmla="*/ 147499 h 1047469"/>
                <a:gd name="connsiteX21" fmla="*/ 349555 w 1047217"/>
                <a:gd name="connsiteY21" fmla="*/ 164615 h 1047469"/>
                <a:gd name="connsiteX22" fmla="*/ 287636 w 1047217"/>
                <a:gd name="connsiteY22" fmla="*/ 153540 h 1047469"/>
                <a:gd name="connsiteX23" fmla="*/ 259382 w 1047217"/>
                <a:gd name="connsiteY23" fmla="*/ 125286 h 1047469"/>
                <a:gd name="connsiteX24" fmla="*/ 181479 w 1047217"/>
                <a:gd name="connsiteY24" fmla="*/ 125286 h 1047469"/>
                <a:gd name="connsiteX25" fmla="*/ 125223 w 1047217"/>
                <a:gd name="connsiteY25" fmla="*/ 181542 h 1047469"/>
                <a:gd name="connsiteX26" fmla="*/ 125223 w 1047217"/>
                <a:gd name="connsiteY26" fmla="*/ 259445 h 1047469"/>
                <a:gd name="connsiteX27" fmla="*/ 152785 w 1047217"/>
                <a:gd name="connsiteY27" fmla="*/ 287006 h 1047469"/>
                <a:gd name="connsiteX28" fmla="*/ 163734 w 1047217"/>
                <a:gd name="connsiteY28" fmla="*/ 349240 h 1047469"/>
                <a:gd name="connsiteX29" fmla="*/ 146052 w 1047217"/>
                <a:gd name="connsiteY29" fmla="*/ 392345 h 1047469"/>
                <a:gd name="connsiteX30" fmla="*/ 94201 w 1047217"/>
                <a:gd name="connsiteY30" fmla="*/ 428905 h 1047469"/>
                <a:gd name="connsiteX31" fmla="*/ 55060 w 1047217"/>
                <a:gd name="connsiteY31" fmla="*/ 428905 h 1047469"/>
                <a:gd name="connsiteX32" fmla="*/ 0 w 1047217"/>
                <a:gd name="connsiteY32" fmla="*/ 483965 h 1047469"/>
                <a:gd name="connsiteX33" fmla="*/ 0 w 1047217"/>
                <a:gd name="connsiteY33" fmla="*/ 563504 h 1047469"/>
                <a:gd name="connsiteX34" fmla="*/ 55060 w 1047217"/>
                <a:gd name="connsiteY34" fmla="*/ 618565 h 1047469"/>
                <a:gd name="connsiteX35" fmla="*/ 96781 w 1047217"/>
                <a:gd name="connsiteY35" fmla="*/ 618565 h 1047469"/>
                <a:gd name="connsiteX36" fmla="*/ 148254 w 1047217"/>
                <a:gd name="connsiteY36" fmla="*/ 654118 h 1047469"/>
                <a:gd name="connsiteX37" fmla="*/ 165748 w 1047217"/>
                <a:gd name="connsiteY37" fmla="*/ 694894 h 1047469"/>
                <a:gd name="connsiteX38" fmla="*/ 155239 w 1047217"/>
                <a:gd name="connsiteY38" fmla="*/ 758009 h 1047469"/>
                <a:gd name="connsiteX39" fmla="*/ 125223 w 1047217"/>
                <a:gd name="connsiteY39" fmla="*/ 788025 h 1047469"/>
                <a:gd name="connsiteX40" fmla="*/ 125223 w 1047217"/>
                <a:gd name="connsiteY40" fmla="*/ 865928 h 1047469"/>
                <a:gd name="connsiteX41" fmla="*/ 181479 w 1047217"/>
                <a:gd name="connsiteY41" fmla="*/ 922184 h 1047469"/>
                <a:gd name="connsiteX42" fmla="*/ 259382 w 1047217"/>
                <a:gd name="connsiteY42" fmla="*/ 922184 h 1047469"/>
                <a:gd name="connsiteX43" fmla="*/ 292733 w 1047217"/>
                <a:gd name="connsiteY43" fmla="*/ 888833 h 1047469"/>
                <a:gd name="connsiteX44" fmla="*/ 355218 w 1047217"/>
                <a:gd name="connsiteY44" fmla="*/ 878072 h 1047469"/>
                <a:gd name="connsiteX45" fmla="*/ 391149 w 1047217"/>
                <a:gd name="connsiteY45" fmla="*/ 892357 h 1047469"/>
                <a:gd name="connsiteX46" fmla="*/ 428779 w 1047217"/>
                <a:gd name="connsiteY46" fmla="*/ 943956 h 1047469"/>
                <a:gd name="connsiteX47" fmla="*/ 428779 w 1047217"/>
                <a:gd name="connsiteY47" fmla="*/ 992409 h 1047469"/>
                <a:gd name="connsiteX48" fmla="*/ 483840 w 1047217"/>
                <a:gd name="connsiteY48" fmla="*/ 1047470 h 1047469"/>
                <a:gd name="connsiteX49" fmla="*/ 563378 w 1047217"/>
                <a:gd name="connsiteY49" fmla="*/ 1047470 h 1047469"/>
                <a:gd name="connsiteX50" fmla="*/ 618439 w 1047217"/>
                <a:gd name="connsiteY50" fmla="*/ 992409 h 1047469"/>
                <a:gd name="connsiteX51" fmla="*/ 618439 w 1047217"/>
                <a:gd name="connsiteY51" fmla="*/ 939992 h 1047469"/>
                <a:gd name="connsiteX52" fmla="*/ 654621 w 1047217"/>
                <a:gd name="connsiteY52" fmla="*/ 888896 h 1047469"/>
                <a:gd name="connsiteX53" fmla="*/ 688853 w 1047217"/>
                <a:gd name="connsiteY53" fmla="*/ 874360 h 1047469"/>
                <a:gd name="connsiteX54" fmla="*/ 751024 w 1047217"/>
                <a:gd name="connsiteY54" fmla="*/ 885372 h 1047469"/>
                <a:gd name="connsiteX55" fmla="*/ 787899 w 1047217"/>
                <a:gd name="connsiteY55" fmla="*/ 922247 h 1047469"/>
                <a:gd name="connsiteX56" fmla="*/ 865802 w 1047217"/>
                <a:gd name="connsiteY56" fmla="*/ 922247 h 1047469"/>
                <a:gd name="connsiteX57" fmla="*/ 922058 w 1047217"/>
                <a:gd name="connsiteY57" fmla="*/ 865990 h 1047469"/>
                <a:gd name="connsiteX58" fmla="*/ 922058 w 1047217"/>
                <a:gd name="connsiteY58" fmla="*/ 788088 h 1047469"/>
                <a:gd name="connsiteX59" fmla="*/ 884428 w 1047217"/>
                <a:gd name="connsiteY59" fmla="*/ 750458 h 1047469"/>
                <a:gd name="connsiteX60" fmla="*/ 873290 w 1047217"/>
                <a:gd name="connsiteY60" fmla="*/ 688602 h 1047469"/>
                <a:gd name="connsiteX61" fmla="*/ 887511 w 1047217"/>
                <a:gd name="connsiteY61" fmla="*/ 654621 h 1047469"/>
                <a:gd name="connsiteX62" fmla="*/ 939803 w 1047217"/>
                <a:gd name="connsiteY62" fmla="*/ 618628 h 1047469"/>
                <a:gd name="connsiteX63" fmla="*/ 992158 w 1047217"/>
                <a:gd name="connsiteY63" fmla="*/ 618628 h 1047469"/>
                <a:gd name="connsiteX64" fmla="*/ 1047218 w 1047217"/>
                <a:gd name="connsiteY64" fmla="*/ 563567 h 104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47217" h="1047469">
                  <a:moveTo>
                    <a:pt x="1047155" y="563441"/>
                  </a:moveTo>
                  <a:lnTo>
                    <a:pt x="1047155" y="483903"/>
                  </a:lnTo>
                  <a:cubicBezTo>
                    <a:pt x="1047155" y="453509"/>
                    <a:pt x="1022488" y="428842"/>
                    <a:pt x="992095" y="428842"/>
                  </a:cubicBezTo>
                  <a:lnTo>
                    <a:pt x="942257" y="428842"/>
                  </a:lnTo>
                  <a:cubicBezTo>
                    <a:pt x="918723" y="428842"/>
                    <a:pt x="897328" y="414243"/>
                    <a:pt x="889651" y="391967"/>
                  </a:cubicBezTo>
                  <a:cubicBezTo>
                    <a:pt x="885498" y="379948"/>
                    <a:pt x="880778" y="368181"/>
                    <a:pt x="875555" y="356666"/>
                  </a:cubicBezTo>
                  <a:cubicBezTo>
                    <a:pt x="866053" y="335900"/>
                    <a:pt x="869955" y="311422"/>
                    <a:pt x="886127" y="295250"/>
                  </a:cubicBezTo>
                  <a:lnTo>
                    <a:pt x="921995" y="259382"/>
                  </a:lnTo>
                  <a:cubicBezTo>
                    <a:pt x="943516" y="237861"/>
                    <a:pt x="943516" y="203000"/>
                    <a:pt x="921995" y="181479"/>
                  </a:cubicBezTo>
                  <a:lnTo>
                    <a:pt x="865739" y="125223"/>
                  </a:lnTo>
                  <a:cubicBezTo>
                    <a:pt x="844218" y="103702"/>
                    <a:pt x="809357" y="103702"/>
                    <a:pt x="787836" y="125223"/>
                  </a:cubicBezTo>
                  <a:lnTo>
                    <a:pt x="755870" y="157190"/>
                  </a:lnTo>
                  <a:cubicBezTo>
                    <a:pt x="739194" y="173865"/>
                    <a:pt x="713772" y="178144"/>
                    <a:pt x="692692" y="167698"/>
                  </a:cubicBezTo>
                  <a:cubicBezTo>
                    <a:pt x="680106" y="161406"/>
                    <a:pt x="667144" y="155805"/>
                    <a:pt x="653866" y="150897"/>
                  </a:cubicBezTo>
                  <a:cubicBezTo>
                    <a:pt x="632471" y="142968"/>
                    <a:pt x="618439" y="122266"/>
                    <a:pt x="618439" y="99486"/>
                  </a:cubicBezTo>
                  <a:lnTo>
                    <a:pt x="618439" y="55060"/>
                  </a:lnTo>
                  <a:cubicBezTo>
                    <a:pt x="618439" y="24667"/>
                    <a:pt x="593772" y="0"/>
                    <a:pt x="563378" y="0"/>
                  </a:cubicBezTo>
                  <a:lnTo>
                    <a:pt x="483840" y="0"/>
                  </a:lnTo>
                  <a:cubicBezTo>
                    <a:pt x="453446" y="0"/>
                    <a:pt x="428779" y="24667"/>
                    <a:pt x="428779" y="55060"/>
                  </a:cubicBezTo>
                  <a:lnTo>
                    <a:pt x="428779" y="95522"/>
                  </a:lnTo>
                  <a:cubicBezTo>
                    <a:pt x="428779" y="118931"/>
                    <a:pt x="414054" y="140011"/>
                    <a:pt x="391904" y="147499"/>
                  </a:cubicBezTo>
                  <a:cubicBezTo>
                    <a:pt x="377368" y="152407"/>
                    <a:pt x="363210" y="158134"/>
                    <a:pt x="349555" y="164615"/>
                  </a:cubicBezTo>
                  <a:cubicBezTo>
                    <a:pt x="328727" y="174494"/>
                    <a:pt x="303934" y="169838"/>
                    <a:pt x="287636" y="153540"/>
                  </a:cubicBezTo>
                  <a:lnTo>
                    <a:pt x="259382" y="125286"/>
                  </a:lnTo>
                  <a:cubicBezTo>
                    <a:pt x="237861" y="103765"/>
                    <a:pt x="203000" y="103765"/>
                    <a:pt x="181479" y="125286"/>
                  </a:cubicBezTo>
                  <a:lnTo>
                    <a:pt x="125223" y="181542"/>
                  </a:lnTo>
                  <a:cubicBezTo>
                    <a:pt x="103702" y="203063"/>
                    <a:pt x="103702" y="237924"/>
                    <a:pt x="125223" y="259445"/>
                  </a:cubicBezTo>
                  <a:lnTo>
                    <a:pt x="152785" y="287006"/>
                  </a:lnTo>
                  <a:cubicBezTo>
                    <a:pt x="169146" y="303367"/>
                    <a:pt x="173802" y="328349"/>
                    <a:pt x="163734" y="349240"/>
                  </a:cubicBezTo>
                  <a:cubicBezTo>
                    <a:pt x="157001" y="363147"/>
                    <a:pt x="151149" y="377557"/>
                    <a:pt x="146052" y="392345"/>
                  </a:cubicBezTo>
                  <a:cubicBezTo>
                    <a:pt x="138501" y="414369"/>
                    <a:pt x="117483" y="428905"/>
                    <a:pt x="94201" y="428905"/>
                  </a:cubicBezTo>
                  <a:lnTo>
                    <a:pt x="55060" y="428905"/>
                  </a:lnTo>
                  <a:cubicBezTo>
                    <a:pt x="24667" y="428905"/>
                    <a:pt x="0" y="453572"/>
                    <a:pt x="0" y="483965"/>
                  </a:cubicBezTo>
                  <a:lnTo>
                    <a:pt x="0" y="563504"/>
                  </a:lnTo>
                  <a:cubicBezTo>
                    <a:pt x="0" y="593898"/>
                    <a:pt x="24667" y="618565"/>
                    <a:pt x="55060" y="618565"/>
                  </a:cubicBezTo>
                  <a:lnTo>
                    <a:pt x="96781" y="618565"/>
                  </a:lnTo>
                  <a:cubicBezTo>
                    <a:pt x="119686" y="618565"/>
                    <a:pt x="140451" y="632597"/>
                    <a:pt x="148254" y="654118"/>
                  </a:cubicBezTo>
                  <a:cubicBezTo>
                    <a:pt x="153351" y="668088"/>
                    <a:pt x="159203" y="681680"/>
                    <a:pt x="165748" y="694894"/>
                  </a:cubicBezTo>
                  <a:cubicBezTo>
                    <a:pt x="176256" y="715974"/>
                    <a:pt x="171851" y="741397"/>
                    <a:pt x="155239" y="758009"/>
                  </a:cubicBezTo>
                  <a:lnTo>
                    <a:pt x="125223" y="788025"/>
                  </a:lnTo>
                  <a:cubicBezTo>
                    <a:pt x="103702" y="809546"/>
                    <a:pt x="103702" y="844407"/>
                    <a:pt x="125223" y="865928"/>
                  </a:cubicBezTo>
                  <a:lnTo>
                    <a:pt x="181479" y="922184"/>
                  </a:lnTo>
                  <a:cubicBezTo>
                    <a:pt x="203000" y="943704"/>
                    <a:pt x="237861" y="943704"/>
                    <a:pt x="259382" y="922184"/>
                  </a:cubicBezTo>
                  <a:lnTo>
                    <a:pt x="292733" y="888833"/>
                  </a:lnTo>
                  <a:cubicBezTo>
                    <a:pt x="309219" y="872346"/>
                    <a:pt x="334075" y="868382"/>
                    <a:pt x="355218" y="878072"/>
                  </a:cubicBezTo>
                  <a:cubicBezTo>
                    <a:pt x="366923" y="883421"/>
                    <a:pt x="378879" y="888140"/>
                    <a:pt x="391149" y="892357"/>
                  </a:cubicBezTo>
                  <a:cubicBezTo>
                    <a:pt x="413425" y="899971"/>
                    <a:pt x="428779" y="920422"/>
                    <a:pt x="428779" y="943956"/>
                  </a:cubicBezTo>
                  <a:lnTo>
                    <a:pt x="428779" y="992409"/>
                  </a:lnTo>
                  <a:cubicBezTo>
                    <a:pt x="428779" y="1022803"/>
                    <a:pt x="453446" y="1047470"/>
                    <a:pt x="483840" y="1047470"/>
                  </a:cubicBezTo>
                  <a:lnTo>
                    <a:pt x="563378" y="1047470"/>
                  </a:lnTo>
                  <a:cubicBezTo>
                    <a:pt x="593772" y="1047470"/>
                    <a:pt x="618439" y="1022803"/>
                    <a:pt x="618439" y="992409"/>
                  </a:cubicBezTo>
                  <a:lnTo>
                    <a:pt x="618439" y="939992"/>
                  </a:lnTo>
                  <a:cubicBezTo>
                    <a:pt x="618439" y="917024"/>
                    <a:pt x="633038" y="896887"/>
                    <a:pt x="654621" y="888896"/>
                  </a:cubicBezTo>
                  <a:cubicBezTo>
                    <a:pt x="666326" y="884554"/>
                    <a:pt x="677715" y="879708"/>
                    <a:pt x="688853" y="874360"/>
                  </a:cubicBezTo>
                  <a:cubicBezTo>
                    <a:pt x="709682" y="864291"/>
                    <a:pt x="734663" y="869011"/>
                    <a:pt x="751024" y="885372"/>
                  </a:cubicBezTo>
                  <a:lnTo>
                    <a:pt x="787899" y="922247"/>
                  </a:lnTo>
                  <a:cubicBezTo>
                    <a:pt x="809420" y="943767"/>
                    <a:pt x="844281" y="943767"/>
                    <a:pt x="865802" y="922247"/>
                  </a:cubicBezTo>
                  <a:lnTo>
                    <a:pt x="922058" y="865990"/>
                  </a:lnTo>
                  <a:cubicBezTo>
                    <a:pt x="943578" y="844470"/>
                    <a:pt x="943578" y="809609"/>
                    <a:pt x="922058" y="788088"/>
                  </a:cubicBezTo>
                  <a:lnTo>
                    <a:pt x="884428" y="750458"/>
                  </a:lnTo>
                  <a:cubicBezTo>
                    <a:pt x="868130" y="734160"/>
                    <a:pt x="863410" y="709367"/>
                    <a:pt x="873290" y="688602"/>
                  </a:cubicBezTo>
                  <a:cubicBezTo>
                    <a:pt x="878576" y="677526"/>
                    <a:pt x="883295" y="666200"/>
                    <a:pt x="887511" y="654621"/>
                  </a:cubicBezTo>
                  <a:cubicBezTo>
                    <a:pt x="895440" y="632849"/>
                    <a:pt x="916583" y="618628"/>
                    <a:pt x="939803" y="618628"/>
                  </a:cubicBezTo>
                  <a:lnTo>
                    <a:pt x="992158" y="618628"/>
                  </a:lnTo>
                  <a:cubicBezTo>
                    <a:pt x="1022551" y="618628"/>
                    <a:pt x="1047218" y="593960"/>
                    <a:pt x="1047218" y="563567"/>
                  </a:cubicBezTo>
                  <a:close/>
                </a:path>
              </a:pathLst>
            </a:custGeom>
            <a:solidFill>
              <a:srgbClr val="FFD85C"/>
            </a:solidFill>
            <a:ln w="6254" cap="flat">
              <a:noFill/>
              <a:prstDash val="solid"/>
              <a:miter/>
            </a:ln>
          </p:spPr>
          <p:txBody>
            <a:bodyPr rtlCol="0" anchor="ctr"/>
            <a:lstStyle/>
            <a:p>
              <a:endParaRPr lang="ko-KR" altLang="en-US"/>
            </a:p>
          </p:txBody>
        </p:sp>
        <p:sp>
          <p:nvSpPr>
            <p:cNvPr id="46" name="자유형: 도형 45">
              <a:extLst>
                <a:ext uri="{FF2B5EF4-FFF2-40B4-BE49-F238E27FC236}">
                  <a16:creationId xmlns:a16="http://schemas.microsoft.com/office/drawing/2014/main" id="{4CF8A4C2-E2E9-4801-D878-CC415D2530BD}"/>
                </a:ext>
              </a:extLst>
            </p:cNvPr>
            <p:cNvSpPr/>
            <p:nvPr/>
          </p:nvSpPr>
          <p:spPr>
            <a:xfrm>
              <a:off x="575650" y="2048162"/>
              <a:ext cx="397819" cy="397819"/>
            </a:xfrm>
            <a:custGeom>
              <a:avLst/>
              <a:gdLst>
                <a:gd name="connsiteX0" fmla="*/ 397819 w 397819"/>
                <a:gd name="connsiteY0" fmla="*/ 198910 h 397819"/>
                <a:gd name="connsiteX1" fmla="*/ 198910 w 397819"/>
                <a:gd name="connsiteY1" fmla="*/ 397819 h 397819"/>
                <a:gd name="connsiteX2" fmla="*/ 0 w 397819"/>
                <a:gd name="connsiteY2" fmla="*/ 198910 h 397819"/>
                <a:gd name="connsiteX3" fmla="*/ 198910 w 397819"/>
                <a:gd name="connsiteY3" fmla="*/ 0 h 397819"/>
                <a:gd name="connsiteX4" fmla="*/ 397819 w 397819"/>
                <a:gd name="connsiteY4" fmla="*/ 198910 h 397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19" h="397819">
                  <a:moveTo>
                    <a:pt x="397819" y="198910"/>
                  </a:moveTo>
                  <a:cubicBezTo>
                    <a:pt x="397819" y="308779"/>
                    <a:pt x="308779" y="397819"/>
                    <a:pt x="198910" y="397819"/>
                  </a:cubicBezTo>
                  <a:cubicBezTo>
                    <a:pt x="89041" y="397819"/>
                    <a:pt x="0" y="308779"/>
                    <a:pt x="0" y="198910"/>
                  </a:cubicBezTo>
                  <a:cubicBezTo>
                    <a:pt x="0" y="89041"/>
                    <a:pt x="89041" y="0"/>
                    <a:pt x="198910" y="0"/>
                  </a:cubicBezTo>
                  <a:cubicBezTo>
                    <a:pt x="308779" y="0"/>
                    <a:pt x="397819" y="89041"/>
                    <a:pt x="397819" y="198910"/>
                  </a:cubicBezTo>
                  <a:close/>
                </a:path>
              </a:pathLst>
            </a:custGeom>
            <a:solidFill>
              <a:srgbClr val="3378C8"/>
            </a:solidFill>
            <a:ln w="6254" cap="flat">
              <a:noFill/>
              <a:prstDash val="solid"/>
              <a:miter/>
            </a:ln>
          </p:spPr>
          <p:txBody>
            <a:bodyPr rtlCol="0" anchor="ctr"/>
            <a:lstStyle/>
            <a:p>
              <a:endParaRPr lang="ko-KR" altLang="en-US"/>
            </a:p>
          </p:txBody>
        </p:sp>
      </p:grpSp>
      <p:pic>
        <p:nvPicPr>
          <p:cNvPr id="81" name="그래픽 80">
            <a:extLst>
              <a:ext uri="{FF2B5EF4-FFF2-40B4-BE49-F238E27FC236}">
                <a16:creationId xmlns:a16="http://schemas.microsoft.com/office/drawing/2014/main" id="{EB909586-6D08-0A01-846F-B0B934F70FD9}"/>
              </a:ext>
            </a:extLst>
          </p:cNvPr>
          <p:cNvPicPr>
            <a:picLocks noChangeAspect="1"/>
          </p:cNvPicPr>
          <p:nvPr/>
        </p:nvPicPr>
        <p:blipFill>
          <a:blip r:embed="rId13">
            <a:extLst>
              <a:ext uri="{96DAC541-7B7A-43D3-8B79-37D633B846F1}">
                <asvg:svgBlip xmlns="" xmlns:asvg="http://schemas.microsoft.com/office/drawing/2016/SVG/main" r:embed="rId14"/>
              </a:ext>
            </a:extLst>
          </a:blip>
          <a:stretch>
            <a:fillRect/>
          </a:stretch>
        </p:blipFill>
        <p:spPr>
          <a:xfrm>
            <a:off x="4528896" y="5508981"/>
            <a:ext cx="335776" cy="335776"/>
          </a:xfrm>
          <a:prstGeom prst="rect">
            <a:avLst/>
          </a:prstGeom>
        </p:spPr>
      </p:pic>
      <p:pic>
        <p:nvPicPr>
          <p:cNvPr id="85" name="그래픽 84">
            <a:extLst>
              <a:ext uri="{FF2B5EF4-FFF2-40B4-BE49-F238E27FC236}">
                <a16:creationId xmlns:a16="http://schemas.microsoft.com/office/drawing/2014/main" id="{5B98B6AA-191E-3F47-C5A2-7437B866088A}"/>
              </a:ext>
            </a:extLst>
          </p:cNvPr>
          <p:cNvPicPr>
            <a:picLocks noChangeAspect="1"/>
          </p:cNvPicPr>
          <p:nvPr/>
        </p:nvPicPr>
        <p:blipFill>
          <a:blip r:embed="rId15">
            <a:extLst>
              <a:ext uri="{96DAC541-7B7A-43D3-8B79-37D633B846F1}">
                <asvg:svgBlip xmlns="" xmlns:asvg="http://schemas.microsoft.com/office/drawing/2016/SVG/main" r:embed="rId16"/>
              </a:ext>
            </a:extLst>
          </a:blip>
          <a:stretch>
            <a:fillRect/>
          </a:stretch>
        </p:blipFill>
        <p:spPr>
          <a:xfrm>
            <a:off x="919990" y="5818556"/>
            <a:ext cx="321625" cy="321625"/>
          </a:xfrm>
          <a:prstGeom prst="rect">
            <a:avLst/>
          </a:prstGeom>
        </p:spPr>
      </p:pic>
      <p:grpSp>
        <p:nvGrpSpPr>
          <p:cNvPr id="5" name="그룹 4">
            <a:extLst>
              <a:ext uri="{FF2B5EF4-FFF2-40B4-BE49-F238E27FC236}">
                <a16:creationId xmlns:a16="http://schemas.microsoft.com/office/drawing/2014/main" id="{47E940EE-9ABE-2A3B-7544-82A403E19450}"/>
              </a:ext>
            </a:extLst>
          </p:cNvPr>
          <p:cNvGrpSpPr/>
          <p:nvPr/>
        </p:nvGrpSpPr>
        <p:grpSpPr>
          <a:xfrm>
            <a:off x="6747213" y="3882051"/>
            <a:ext cx="5236249" cy="1641298"/>
            <a:chOff x="6768048" y="3882051"/>
            <a:chExt cx="5236249" cy="1641298"/>
          </a:xfrm>
        </p:grpSpPr>
        <p:pic>
          <p:nvPicPr>
            <p:cNvPr id="91" name="그래픽 90">
              <a:extLst>
                <a:ext uri="{FF2B5EF4-FFF2-40B4-BE49-F238E27FC236}">
                  <a16:creationId xmlns:a16="http://schemas.microsoft.com/office/drawing/2014/main" id="{A8FD9C56-2157-5E5A-A440-5804663844CE}"/>
                </a:ext>
              </a:extLst>
            </p:cNvPr>
            <p:cNvPicPr>
              <a:picLocks noChangeAspect="1"/>
            </p:cNvPicPr>
            <p:nvPr/>
          </p:nvPicPr>
          <p:blipFill>
            <a:blip r:embed="rId17">
              <a:extLst>
                <a:ext uri="{96DAC541-7B7A-43D3-8B79-37D633B846F1}">
                  <asvg:svgBlip xmlns="" xmlns:asvg="http://schemas.microsoft.com/office/drawing/2016/SVG/main" r:embed="rId18"/>
                </a:ext>
              </a:extLst>
            </a:blip>
            <a:stretch>
              <a:fillRect/>
            </a:stretch>
          </p:blipFill>
          <p:spPr>
            <a:xfrm flipV="1">
              <a:off x="6768048" y="3882051"/>
              <a:ext cx="1663769" cy="704998"/>
            </a:xfrm>
            <a:prstGeom prst="rect">
              <a:avLst/>
            </a:prstGeom>
          </p:spPr>
        </p:pic>
        <p:sp>
          <p:nvSpPr>
            <p:cNvPr id="2" name="TextBox 1">
              <a:extLst>
                <a:ext uri="{FF2B5EF4-FFF2-40B4-BE49-F238E27FC236}">
                  <a16:creationId xmlns:a16="http://schemas.microsoft.com/office/drawing/2014/main" id="{EFFA678B-2EB1-169D-6EE4-F587EF397234}"/>
                </a:ext>
              </a:extLst>
            </p:cNvPr>
            <p:cNvSpPr txBox="1"/>
            <p:nvPr/>
          </p:nvSpPr>
          <p:spPr>
            <a:xfrm>
              <a:off x="6831823" y="4028125"/>
              <a:ext cx="5158567" cy="956159"/>
            </a:xfrm>
            <a:prstGeom prst="rect">
              <a:avLst/>
            </a:prstGeom>
            <a:noFill/>
          </p:spPr>
          <p:txBody>
            <a:bodyPr tIns="0" bIns="0">
              <a:spAutoFit/>
            </a:bodyPr>
            <a:lstStyle/>
            <a:p>
              <a:pPr eaLnBrk="1" fontAlgn="auto" latinLnBrk="1" hangingPunct="1">
                <a:lnSpc>
                  <a:spcPct val="150000"/>
                </a:lnSpc>
                <a:spcBef>
                  <a:spcPts val="0"/>
                </a:spcBef>
                <a:spcAft>
                  <a:spcPts val="0"/>
                </a:spcAft>
                <a:defRPr/>
              </a:pPr>
              <a:r>
                <a:rPr lang="en-US" altLang="ko-KR" sz="2400" b="1" dirty="0">
                  <a:ln>
                    <a:solidFill>
                      <a:schemeClr val="accent1">
                        <a:shade val="15000"/>
                        <a:alpha val="0"/>
                      </a:schemeClr>
                    </a:solidFill>
                  </a:ln>
                  <a:solidFill>
                    <a:schemeClr val="bg1"/>
                  </a:solidFill>
                  <a:latin typeface="맑은 고딕" panose="020B0503020000020004" pitchFamily="50" charset="-127"/>
                  <a:ea typeface="맑은 고딕" panose="020B0503020000020004" pitchFamily="50" charset="-127"/>
                </a:rPr>
                <a:t>TEAM </a:t>
              </a:r>
              <a:r>
                <a:rPr lang="ko-KR" altLang="en-US" sz="2400" b="1" dirty="0">
                  <a:ln>
                    <a:solidFill>
                      <a:schemeClr val="accent1">
                        <a:shade val="15000"/>
                        <a:alpha val="0"/>
                      </a:schemeClr>
                    </a:solidFill>
                  </a:ln>
                  <a:solidFill>
                    <a:schemeClr val="bg1"/>
                  </a:solidFill>
                  <a:latin typeface="맑은 고딕" panose="020B0503020000020004" pitchFamily="50" charset="-127"/>
                  <a:ea typeface="맑은 고딕" panose="020B0503020000020004" pitchFamily="50" charset="-127"/>
                </a:rPr>
                <a:t/>
              </a:r>
              <a:r>
                <a:rPr lang="ko-KR" altLang="en-US" sz="24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t>
              </a:r>
              <a:r>
                <a:rPr lang="ko-KR" altLang="en-US" sz="2400" b="1" dirty="0" err="1">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weld-made</a:t>
              </a:r>
              <a:r>
                <a:rPr lang="ko-KR" altLang="en-US" sz="24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t>
              </a:r>
              <a:r>
                <a:rPr lang="en-US" altLang="ko-KR" sz="24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r>
              <a:r>
                <a:rPr lang="ko-KR" altLang="en-US" sz="2400" b="1" dirty="0" err="1">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r>
              <a:r>
                <a:rPr lang="en-US" altLang="ko-KR" sz="24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r>
            </a:p>
            <a:p>
              <a:pPr eaLnBrk="1" fontAlgn="auto" latinLnBrk="1" hangingPunct="1">
                <a:lnSpc>
                  <a:spcPct val="150000"/>
                </a:lnSpc>
                <a:spcBef>
                  <a:spcPts val="0"/>
                </a:spcBef>
                <a:spcAft>
                  <a:spcPts val="0"/>
                </a:spcAft>
                <a:defRPr/>
              </a:pP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박병후</a:t>
              </a:r>
              <a:r>
                <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t>
              </a: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김학민</a:t>
              </a:r>
              <a:r>
                <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t>
              </a: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남현지</a:t>
              </a:r>
              <a:r>
                <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t>
              </a: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정의석</a:t>
              </a:r>
              <a:r>
                <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r>
              <a:endPar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0" name="TextBox 79">
              <a:extLst>
                <a:ext uri="{FF2B5EF4-FFF2-40B4-BE49-F238E27FC236}">
                  <a16:creationId xmlns:a16="http://schemas.microsoft.com/office/drawing/2014/main" id="{065ADEEF-A1EB-4A5E-B31D-2DD09939039D}"/>
                </a:ext>
              </a:extLst>
            </p:cNvPr>
            <p:cNvSpPr txBox="1"/>
            <p:nvPr/>
          </p:nvSpPr>
          <p:spPr>
            <a:xfrm>
              <a:off x="6845730" y="5121188"/>
              <a:ext cx="5158567" cy="402161"/>
            </a:xfrm>
            <a:prstGeom prst="rect">
              <a:avLst/>
            </a:prstGeom>
            <a:noFill/>
          </p:spPr>
          <p:txBody>
            <a:bodyPr tIns="0" bIns="0">
              <a:spAutoFit/>
            </a:bodyPr>
            <a:lstStyle/>
            <a:p>
              <a:pPr>
                <a:lnSpc>
                  <a:spcPct val="150000"/>
                </a:lnSpc>
                <a:defRPr/>
              </a:pPr>
              <a:r>
                <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멘토</a:t>
              </a:r>
              <a:r>
                <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 </a:t>
              </a:r>
              <a:r>
                <a:rPr lang="ko-KR" altLang="en-US" sz="2000" b="1" dirty="0">
                  <a:ln>
                    <a:solidFill>
                      <a:schemeClr val="accent1">
                        <a:shade val="15000"/>
                        <a:alpha val="0"/>
                      </a:schemeClr>
                    </a:solidFill>
                  </a:ln>
                  <a:solidFill>
                    <a:schemeClr val="tx1">
                      <a:lumMod val="75000"/>
                      <a:lumOff val="25000"/>
                    </a:schemeClr>
                  </a:solidFill>
                  <a:latin typeface="맑은 고딕" panose="020B0503020000020004" pitchFamily="50" charset="-127"/>
                </a:rPr>
                <a:t>이일주</a:t>
              </a:r>
              <a:endParaRPr lang="en-US" altLang="ko-KR" sz="20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spTree>
    <p:extLst>
      <p:ext uri="{BB962C8B-B14F-4D97-AF65-F5344CB8AC3E}">
        <p14:creationId xmlns:p14="http://schemas.microsoft.com/office/powerpoint/2010/main" val="2572801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그래픽 21">
            <a:extLst>
              <a:ext uri="{FF2B5EF4-FFF2-40B4-BE49-F238E27FC236}">
                <a16:creationId xmlns:a16="http://schemas.microsoft.com/office/drawing/2014/main" id="{DA74FF4B-66B3-60E4-0B66-EA5252224543}"/>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63388"/>
            <a:ext cx="12192000" cy="6858000"/>
          </a:xfrm>
          <a:prstGeom prst="rect">
            <a:avLst/>
          </a:prstGeom>
        </p:spPr>
      </p:pic>
      <p:pic>
        <p:nvPicPr>
          <p:cNvPr id="38" name="그래픽 37">
            <a:extLst>
              <a:ext uri="{FF2B5EF4-FFF2-40B4-BE49-F238E27FC236}">
                <a16:creationId xmlns:a16="http://schemas.microsoft.com/office/drawing/2014/main" id="{02FBEB9F-9FB4-5657-130A-CD2351467C34}"/>
              </a:ext>
            </a:extLst>
          </p:cNvPr>
          <p:cNvPicPr>
            <a:picLocks noChangeAspect="1"/>
          </p:cNvPicPr>
          <p:nvPr/>
        </p:nvPicPr>
        <p:blipFill rotWithShape="1">
          <a:blip r:embed="rId4">
            <a:extLst>
              <a:ext uri="{96DAC541-7B7A-43D3-8B79-37D633B846F1}">
                <asvg:svgBlip xmlns="" xmlns:asvg="http://schemas.microsoft.com/office/drawing/2016/SVG/main" r:embed="rId5"/>
              </a:ext>
            </a:extLst>
          </a:blip>
          <a:srcRect l="-1" r="27522" b="23907"/>
          <a:stretch/>
        </p:blipFill>
        <p:spPr>
          <a:xfrm flipV="1">
            <a:off x="7546066" y="-1"/>
            <a:ext cx="4645934" cy="3296669"/>
          </a:xfrm>
          <a:prstGeom prst="rect">
            <a:avLst/>
          </a:prstGeom>
        </p:spPr>
      </p:pic>
      <p:grpSp>
        <p:nvGrpSpPr>
          <p:cNvPr id="2" name="그룹 1">
            <a:extLst>
              <a:ext uri="{FF2B5EF4-FFF2-40B4-BE49-F238E27FC236}">
                <a16:creationId xmlns:a16="http://schemas.microsoft.com/office/drawing/2014/main" id="{27DEE60A-06FB-8528-5148-E5576BB19A0F}"/>
              </a:ext>
            </a:extLst>
          </p:cNvPr>
          <p:cNvGrpSpPr/>
          <p:nvPr/>
        </p:nvGrpSpPr>
        <p:grpSpPr>
          <a:xfrm>
            <a:off x="870882" y="519237"/>
            <a:ext cx="2256700" cy="1269295"/>
            <a:chOff x="870882" y="519237"/>
            <a:chExt cx="2256700" cy="1269295"/>
          </a:xfrm>
        </p:grpSpPr>
        <p:sp>
          <p:nvSpPr>
            <p:cNvPr id="15" name="TextBox 14">
              <a:extLst>
                <a:ext uri="{FF2B5EF4-FFF2-40B4-BE49-F238E27FC236}">
                  <a16:creationId xmlns:a16="http://schemas.microsoft.com/office/drawing/2014/main" id="{34733C01-501E-BDB3-3FB4-8A1A6AFBB517}"/>
                </a:ext>
              </a:extLst>
            </p:cNvPr>
            <p:cNvSpPr txBox="1"/>
            <p:nvPr/>
          </p:nvSpPr>
          <p:spPr>
            <a:xfrm>
              <a:off x="875370" y="957535"/>
              <a:ext cx="2252212" cy="830997"/>
            </a:xfrm>
            <a:prstGeom prst="rect">
              <a:avLst/>
            </a:prstGeom>
            <a:noFill/>
          </p:spPr>
          <p:txBody>
            <a:bodyPr wrap="square">
              <a:spAutoFit/>
            </a:bodyPr>
            <a:lstStyle/>
            <a:p>
              <a:pPr>
                <a:defRPr/>
              </a:pPr>
              <a:r>
                <a:rPr lang="ko-KR" altLang="en-US" sz="4800"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목 차</a:t>
              </a:r>
            </a:p>
          </p:txBody>
        </p:sp>
        <p:sp>
          <p:nvSpPr>
            <p:cNvPr id="27" name="TextBox 26">
              <a:extLst>
                <a:ext uri="{FF2B5EF4-FFF2-40B4-BE49-F238E27FC236}">
                  <a16:creationId xmlns:a16="http://schemas.microsoft.com/office/drawing/2014/main" id="{B3B4124F-4D0D-30C0-E721-EE580D127CC8}"/>
                </a:ext>
              </a:extLst>
            </p:cNvPr>
            <p:cNvSpPr txBox="1"/>
            <p:nvPr/>
          </p:nvSpPr>
          <p:spPr>
            <a:xfrm>
              <a:off x="870882" y="519237"/>
              <a:ext cx="2252213" cy="369332"/>
            </a:xfrm>
            <a:prstGeom prst="rect">
              <a:avLst/>
            </a:prstGeom>
            <a:noFill/>
          </p:spPr>
          <p:txBody>
            <a:bodyPr wrap="square">
              <a:spAutoFit/>
            </a:bodyPr>
            <a:lstStyle/>
            <a:p>
              <a:pPr algn="ctr"/>
              <a:r>
                <a:rPr lang="en-US" altLang="ko-KR" sz="1800" b="1" dirty="0">
                  <a:ln>
                    <a:solidFill>
                      <a:schemeClr val="accent1">
                        <a:shade val="15000"/>
                        <a:alpha val="0"/>
                      </a:schemeClr>
                    </a:solidFill>
                  </a:ln>
                  <a:solidFill>
                    <a:srgbClr val="3378C8"/>
                  </a:solidFill>
                  <a:latin typeface="맑은 고딕" panose="020B0503020000020004" pitchFamily="50" charset="-127"/>
                  <a:ea typeface="맑은 고딕" panose="020B0503020000020004" pitchFamily="50" charset="-127"/>
                </a:rPr>
                <a:t>K-Digital Training</a:t>
              </a:r>
              <a:endParaRPr lang="ko-KR" altLang="en-US" sz="1800" b="1" dirty="0">
                <a:ln>
                  <a:solidFill>
                    <a:schemeClr val="accent1">
                      <a:shade val="15000"/>
                      <a:alpha val="0"/>
                    </a:schemeClr>
                  </a:solidFill>
                </a:ln>
                <a:solidFill>
                  <a:srgbClr val="3378C8"/>
                </a:solidFill>
                <a:latin typeface="맑은 고딕" panose="020B0503020000020004" pitchFamily="50" charset="-127"/>
                <a:ea typeface="맑은 고딕" panose="020B0503020000020004" pitchFamily="50" charset="-127"/>
              </a:endParaRPr>
            </a:p>
          </p:txBody>
        </p:sp>
      </p:grpSp>
      <p:grpSp>
        <p:nvGrpSpPr>
          <p:cNvPr id="3" name="그룹 2">
            <a:extLst>
              <a:ext uri="{FF2B5EF4-FFF2-40B4-BE49-F238E27FC236}">
                <a16:creationId xmlns:a16="http://schemas.microsoft.com/office/drawing/2014/main" id="{81AEA493-6EE8-E6E0-22D0-D4B64342FD6D}"/>
              </a:ext>
            </a:extLst>
          </p:cNvPr>
          <p:cNvGrpSpPr/>
          <p:nvPr/>
        </p:nvGrpSpPr>
        <p:grpSpPr>
          <a:xfrm>
            <a:off x="6242110" y="2376079"/>
            <a:ext cx="4444751" cy="584775"/>
            <a:chOff x="6242110" y="2376079"/>
            <a:chExt cx="4444751" cy="584775"/>
          </a:xfrm>
        </p:grpSpPr>
        <p:sp>
          <p:nvSpPr>
            <p:cNvPr id="17" name="TextBox 16">
              <a:extLst>
                <a:ext uri="{FF2B5EF4-FFF2-40B4-BE49-F238E27FC236}">
                  <a16:creationId xmlns:a16="http://schemas.microsoft.com/office/drawing/2014/main" id="{6BC3CE16-3D78-432D-45D4-887A58C787A8}"/>
                </a:ext>
              </a:extLst>
            </p:cNvPr>
            <p:cNvSpPr txBox="1"/>
            <p:nvPr/>
          </p:nvSpPr>
          <p:spPr>
            <a:xfrm>
              <a:off x="7013793" y="2514579"/>
              <a:ext cx="3673068" cy="307777"/>
            </a:xfrm>
            <a:prstGeom prst="rect">
              <a:avLst/>
            </a:prstGeom>
            <a:noFill/>
          </p:spPr>
          <p:txBody>
            <a:bodyPr tIns="0" bIns="0">
              <a:spAutoFit/>
            </a:bodyPr>
            <a:lstStyle/>
            <a:p>
              <a:pPr eaLnBrk="1" fontAlgn="auto" latinLnBrk="1" hangingPunct="1">
                <a:spcBef>
                  <a:spcPts val="0"/>
                </a:spcBef>
                <a:spcAft>
                  <a:spcPts val="0"/>
                </a:spcAft>
                <a:defRPr/>
              </a:pPr>
              <a:r>
                <a:rPr lang="ko-KR" altLang="en-US" sz="2000" b="1" dirty="0">
                  <a:ln>
                    <a:solidFill>
                      <a:schemeClr val="accent1">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개요</a:t>
              </a:r>
            </a:p>
          </p:txBody>
        </p:sp>
        <p:sp>
          <p:nvSpPr>
            <p:cNvPr id="29" name="TextBox 28">
              <a:extLst>
                <a:ext uri="{FF2B5EF4-FFF2-40B4-BE49-F238E27FC236}">
                  <a16:creationId xmlns:a16="http://schemas.microsoft.com/office/drawing/2014/main" id="{5684A24D-EA77-472C-D9A2-BB6B189736F2}"/>
                </a:ext>
              </a:extLst>
            </p:cNvPr>
            <p:cNvSpPr txBox="1"/>
            <p:nvPr/>
          </p:nvSpPr>
          <p:spPr>
            <a:xfrm>
              <a:off x="6242110" y="2376079"/>
              <a:ext cx="747768" cy="584775"/>
            </a:xfrm>
            <a:prstGeom prst="rect">
              <a:avLst/>
            </a:prstGeom>
            <a:noFill/>
          </p:spPr>
          <p:txBody>
            <a:bodyPr wrap="square">
              <a:spAutoFit/>
            </a:bodyPr>
            <a:lstStyle/>
            <a:p>
              <a:r>
                <a:rPr lang="en-US" altLang="ko-KR" sz="3200" b="1" dirty="0" smtClean="0">
                  <a:ln>
                    <a:solidFill>
                      <a:schemeClr val="accent1">
                        <a:alpha val="0"/>
                      </a:schemeClr>
                    </a:solidFill>
                  </a:ln>
                  <a:solidFill>
                    <a:srgbClr val="3378C8">
                      <a:alpha val="50000"/>
                    </a:srgbClr>
                  </a:solidFill>
                  <a:latin typeface="세방고딕 Bold" panose="00000800000000000000" pitchFamily="2" charset="-127"/>
                  <a:ea typeface="세방고딕 Bold" panose="00000800000000000000" pitchFamily="2" charset="-127"/>
                </a:rPr>
                <a:t>01</a:t>
              </a:r>
              <a:endParaRPr lang="ko-KR" altLang="en-US" sz="3200" dirty="0">
                <a:solidFill>
                  <a:srgbClr val="3378C8">
                    <a:alpha val="50000"/>
                  </a:srgbClr>
                </a:solidFill>
                <a:latin typeface="세방고딕 Bold" panose="00000800000000000000" pitchFamily="2" charset="-127"/>
                <a:ea typeface="세방고딕 Bold" panose="00000800000000000000" pitchFamily="2" charset="-127"/>
              </a:endParaRPr>
            </a:p>
          </p:txBody>
        </p:sp>
      </p:grpSp>
      <p:grpSp>
        <p:nvGrpSpPr>
          <p:cNvPr id="4" name="그룹 3">
            <a:extLst>
              <a:ext uri="{FF2B5EF4-FFF2-40B4-BE49-F238E27FC236}">
                <a16:creationId xmlns:a16="http://schemas.microsoft.com/office/drawing/2014/main" id="{D20302EC-FD5F-4618-CE2E-659079D82F39}"/>
              </a:ext>
            </a:extLst>
          </p:cNvPr>
          <p:cNvGrpSpPr/>
          <p:nvPr/>
        </p:nvGrpSpPr>
        <p:grpSpPr>
          <a:xfrm>
            <a:off x="6242109" y="3175385"/>
            <a:ext cx="3976700" cy="584775"/>
            <a:chOff x="6242109" y="3175385"/>
            <a:chExt cx="3976700" cy="584775"/>
          </a:xfrm>
        </p:grpSpPr>
        <p:sp>
          <p:nvSpPr>
            <p:cNvPr id="18" name="TextBox 17">
              <a:extLst>
                <a:ext uri="{FF2B5EF4-FFF2-40B4-BE49-F238E27FC236}">
                  <a16:creationId xmlns:a16="http://schemas.microsoft.com/office/drawing/2014/main" id="{6CDD6500-F434-1C7D-0147-703718F294D9}"/>
                </a:ext>
              </a:extLst>
            </p:cNvPr>
            <p:cNvSpPr txBox="1"/>
            <p:nvPr/>
          </p:nvSpPr>
          <p:spPr>
            <a:xfrm>
              <a:off x="7013793" y="3315668"/>
              <a:ext cx="3205016" cy="307777"/>
            </a:xfrm>
            <a:prstGeom prst="rect">
              <a:avLst/>
            </a:prstGeom>
            <a:noFill/>
          </p:spPr>
          <p:txBody>
            <a:bodyPr wrap="square" tIns="0" bIns="0">
              <a:spAutoFit/>
            </a:bodyPr>
            <a:lstStyle/>
            <a:p>
              <a:pPr eaLnBrk="1" fontAlgn="auto" latinLnBrk="1" hangingPunct="1">
                <a:spcBef>
                  <a:spcPts val="0"/>
                </a:spcBef>
                <a:spcAft>
                  <a:spcPts val="0"/>
                </a:spcAft>
                <a:defRPr/>
              </a:pPr>
              <a:r>
                <a:rPr lang="ko-KR" altLang="en-US" sz="2000" b="1" dirty="0">
                  <a:ln>
                    <a:solidFill>
                      <a:schemeClr val="accent1">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팀 구성 및 역할</a:t>
              </a:r>
            </a:p>
          </p:txBody>
        </p:sp>
        <p:sp>
          <p:nvSpPr>
            <p:cNvPr id="30" name="TextBox 29">
              <a:extLst>
                <a:ext uri="{FF2B5EF4-FFF2-40B4-BE49-F238E27FC236}">
                  <a16:creationId xmlns:a16="http://schemas.microsoft.com/office/drawing/2014/main" id="{6BCA31C1-3A00-5B22-AD1D-9939B1DD6C44}"/>
                </a:ext>
              </a:extLst>
            </p:cNvPr>
            <p:cNvSpPr txBox="1"/>
            <p:nvPr/>
          </p:nvSpPr>
          <p:spPr>
            <a:xfrm>
              <a:off x="6242109" y="3175385"/>
              <a:ext cx="764479" cy="584775"/>
            </a:xfrm>
            <a:prstGeom prst="rect">
              <a:avLst/>
            </a:prstGeom>
            <a:noFill/>
          </p:spPr>
          <p:txBody>
            <a:bodyPr wrap="square">
              <a:spAutoFit/>
            </a:bodyPr>
            <a:lstStyle/>
            <a:p>
              <a:r>
                <a:rPr lang="en-US" altLang="ko-KR" sz="3200" b="1" dirty="0">
                  <a:ln>
                    <a:solidFill>
                      <a:schemeClr val="accent1">
                        <a:alpha val="0"/>
                      </a:schemeClr>
                    </a:solidFill>
                  </a:ln>
                  <a:solidFill>
                    <a:srgbClr val="3378C8">
                      <a:alpha val="50000"/>
                    </a:srgbClr>
                  </a:solidFill>
                  <a:latin typeface="세방고딕 Bold" panose="00000800000000000000" pitchFamily="2" charset="-127"/>
                  <a:ea typeface="세방고딕 Bold" panose="00000800000000000000" pitchFamily="2" charset="-127"/>
                </a:rPr>
                <a:t>02</a:t>
              </a:r>
              <a:endParaRPr lang="ko-KR" altLang="en-US" sz="3200" dirty="0">
                <a:solidFill>
                  <a:srgbClr val="3378C8">
                    <a:alpha val="50000"/>
                  </a:srgbClr>
                </a:solidFill>
                <a:latin typeface="세방고딕 Bold" panose="00000800000000000000" pitchFamily="2" charset="-127"/>
                <a:ea typeface="세방고딕 Bold" panose="00000800000000000000" pitchFamily="2" charset="-127"/>
              </a:endParaRPr>
            </a:p>
          </p:txBody>
        </p:sp>
      </p:grpSp>
      <p:grpSp>
        <p:nvGrpSpPr>
          <p:cNvPr id="5" name="그룹 4">
            <a:extLst>
              <a:ext uri="{FF2B5EF4-FFF2-40B4-BE49-F238E27FC236}">
                <a16:creationId xmlns:a16="http://schemas.microsoft.com/office/drawing/2014/main" id="{D21147F6-73ED-B15D-3DFE-4ADAFF33C696}"/>
              </a:ext>
            </a:extLst>
          </p:cNvPr>
          <p:cNvGrpSpPr/>
          <p:nvPr/>
        </p:nvGrpSpPr>
        <p:grpSpPr>
          <a:xfrm>
            <a:off x="6242109" y="3974691"/>
            <a:ext cx="4185695" cy="584775"/>
            <a:chOff x="6242109" y="3974691"/>
            <a:chExt cx="4185695" cy="584775"/>
          </a:xfrm>
        </p:grpSpPr>
        <p:sp>
          <p:nvSpPr>
            <p:cNvPr id="19" name="TextBox 18">
              <a:extLst>
                <a:ext uri="{FF2B5EF4-FFF2-40B4-BE49-F238E27FC236}">
                  <a16:creationId xmlns:a16="http://schemas.microsoft.com/office/drawing/2014/main" id="{7E44B231-400D-B96D-4FEA-0393C6C1101A}"/>
                </a:ext>
              </a:extLst>
            </p:cNvPr>
            <p:cNvSpPr txBox="1"/>
            <p:nvPr/>
          </p:nvSpPr>
          <p:spPr>
            <a:xfrm>
              <a:off x="7013793" y="4116757"/>
              <a:ext cx="3414011" cy="307777"/>
            </a:xfrm>
            <a:prstGeom prst="rect">
              <a:avLst/>
            </a:prstGeom>
            <a:noFill/>
          </p:spPr>
          <p:txBody>
            <a:bodyPr wrap="square" tIns="0" bIns="0">
              <a:spAutoFit/>
            </a:bodyPr>
            <a:lstStyle/>
            <a:p>
              <a:pPr eaLnBrk="1" fontAlgn="auto" latinLnBrk="1" hangingPunct="1">
                <a:spcBef>
                  <a:spcPts val="0"/>
                </a:spcBef>
                <a:spcAft>
                  <a:spcPts val="0"/>
                </a:spcAft>
                <a:defRPr/>
              </a:pPr>
              <a:r>
                <a:rPr lang="ko-KR" altLang="en-US" sz="2000" b="1" dirty="0">
                  <a:ln>
                    <a:solidFill>
                      <a:schemeClr val="accent1">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절차 및 방법</a:t>
              </a:r>
            </a:p>
          </p:txBody>
        </p:sp>
        <p:sp>
          <p:nvSpPr>
            <p:cNvPr id="31" name="TextBox 30">
              <a:extLst>
                <a:ext uri="{FF2B5EF4-FFF2-40B4-BE49-F238E27FC236}">
                  <a16:creationId xmlns:a16="http://schemas.microsoft.com/office/drawing/2014/main" id="{8A44BBDE-9A03-753D-BEBD-076DCAC77B43}"/>
                </a:ext>
              </a:extLst>
            </p:cNvPr>
            <p:cNvSpPr txBox="1"/>
            <p:nvPr/>
          </p:nvSpPr>
          <p:spPr>
            <a:xfrm>
              <a:off x="6242109" y="3974691"/>
              <a:ext cx="764479" cy="584775"/>
            </a:xfrm>
            <a:prstGeom prst="rect">
              <a:avLst/>
            </a:prstGeom>
            <a:noFill/>
          </p:spPr>
          <p:txBody>
            <a:bodyPr wrap="square">
              <a:spAutoFit/>
            </a:bodyPr>
            <a:lstStyle/>
            <a:p>
              <a:r>
                <a:rPr lang="en-US" altLang="ko-KR" sz="3200" b="1" dirty="0">
                  <a:ln>
                    <a:solidFill>
                      <a:schemeClr val="accent1">
                        <a:alpha val="0"/>
                      </a:schemeClr>
                    </a:solidFill>
                  </a:ln>
                  <a:solidFill>
                    <a:srgbClr val="3378C8">
                      <a:alpha val="50000"/>
                    </a:srgbClr>
                  </a:solidFill>
                  <a:latin typeface="세방고딕 Bold" panose="00000800000000000000" pitchFamily="2" charset="-127"/>
                  <a:ea typeface="세방고딕 Bold" panose="00000800000000000000" pitchFamily="2" charset="-127"/>
                </a:rPr>
                <a:t>03</a:t>
              </a:r>
              <a:endParaRPr lang="ko-KR" altLang="en-US" sz="3200" dirty="0">
                <a:solidFill>
                  <a:srgbClr val="3378C8">
                    <a:alpha val="50000"/>
                  </a:srgbClr>
                </a:solidFill>
                <a:latin typeface="세방고딕 Bold" panose="00000800000000000000" pitchFamily="2" charset="-127"/>
                <a:ea typeface="세방고딕 Bold" panose="00000800000000000000" pitchFamily="2" charset="-127"/>
              </a:endParaRPr>
            </a:p>
          </p:txBody>
        </p:sp>
      </p:grpSp>
      <p:grpSp>
        <p:nvGrpSpPr>
          <p:cNvPr id="7" name="그룹 6">
            <a:extLst>
              <a:ext uri="{FF2B5EF4-FFF2-40B4-BE49-F238E27FC236}">
                <a16:creationId xmlns:a16="http://schemas.microsoft.com/office/drawing/2014/main" id="{4936AF52-1B94-6FAA-0B07-46390BD1D250}"/>
              </a:ext>
            </a:extLst>
          </p:cNvPr>
          <p:cNvGrpSpPr/>
          <p:nvPr/>
        </p:nvGrpSpPr>
        <p:grpSpPr>
          <a:xfrm>
            <a:off x="6242109" y="4773997"/>
            <a:ext cx="3256573" cy="584775"/>
            <a:chOff x="6242109" y="4773997"/>
            <a:chExt cx="3256573" cy="584775"/>
          </a:xfrm>
        </p:grpSpPr>
        <p:sp>
          <p:nvSpPr>
            <p:cNvPr id="20" name="TextBox 19">
              <a:extLst>
                <a:ext uri="{FF2B5EF4-FFF2-40B4-BE49-F238E27FC236}">
                  <a16:creationId xmlns:a16="http://schemas.microsoft.com/office/drawing/2014/main" id="{A7011022-0A21-498C-52F2-7DEE3D0CBE42}"/>
                </a:ext>
              </a:extLst>
            </p:cNvPr>
            <p:cNvSpPr txBox="1"/>
            <p:nvPr/>
          </p:nvSpPr>
          <p:spPr>
            <a:xfrm>
              <a:off x="7013793" y="4917846"/>
              <a:ext cx="2484889" cy="307777"/>
            </a:xfrm>
            <a:prstGeom prst="rect">
              <a:avLst/>
            </a:prstGeom>
            <a:noFill/>
          </p:spPr>
          <p:txBody>
            <a:bodyPr wrap="square" tIns="0" bIns="0">
              <a:spAutoFit/>
            </a:bodyPr>
            <a:lstStyle/>
            <a:p>
              <a:pPr eaLnBrk="1" fontAlgn="auto" latinLnBrk="1" hangingPunct="1">
                <a:spcBef>
                  <a:spcPts val="0"/>
                </a:spcBef>
                <a:spcAft>
                  <a:spcPts val="0"/>
                </a:spcAft>
                <a:defRPr/>
              </a:pPr>
              <a:r>
                <a:rPr lang="ko-KR" altLang="en-US" sz="2000" b="1" dirty="0">
                  <a:ln>
                    <a:solidFill>
                      <a:schemeClr val="accent1">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32" name="TextBox 31">
              <a:extLst>
                <a:ext uri="{FF2B5EF4-FFF2-40B4-BE49-F238E27FC236}">
                  <a16:creationId xmlns:a16="http://schemas.microsoft.com/office/drawing/2014/main" id="{C1B5840F-C867-1449-73D3-066733F5C22F}"/>
                </a:ext>
              </a:extLst>
            </p:cNvPr>
            <p:cNvSpPr txBox="1"/>
            <p:nvPr/>
          </p:nvSpPr>
          <p:spPr>
            <a:xfrm>
              <a:off x="6242109" y="4773997"/>
              <a:ext cx="764479" cy="584775"/>
            </a:xfrm>
            <a:prstGeom prst="rect">
              <a:avLst/>
            </a:prstGeom>
            <a:noFill/>
          </p:spPr>
          <p:txBody>
            <a:bodyPr wrap="square">
              <a:spAutoFit/>
            </a:bodyPr>
            <a:lstStyle/>
            <a:p>
              <a:r>
                <a:rPr lang="en-US" altLang="ko-KR" sz="3200" b="1" dirty="0">
                  <a:ln>
                    <a:solidFill>
                      <a:schemeClr val="accent1">
                        <a:alpha val="0"/>
                      </a:schemeClr>
                    </a:solidFill>
                  </a:ln>
                  <a:solidFill>
                    <a:srgbClr val="3378C8">
                      <a:alpha val="50000"/>
                    </a:srgbClr>
                  </a:solidFill>
                  <a:latin typeface="세방고딕 Bold" panose="00000800000000000000" pitchFamily="2" charset="-127"/>
                  <a:ea typeface="세방고딕 Bold" panose="00000800000000000000" pitchFamily="2" charset="-127"/>
                </a:rPr>
                <a:t>04</a:t>
              </a:r>
              <a:endParaRPr lang="ko-KR" altLang="en-US" sz="3200" dirty="0">
                <a:solidFill>
                  <a:srgbClr val="3378C8">
                    <a:alpha val="50000"/>
                  </a:srgbClr>
                </a:solidFill>
                <a:latin typeface="세방고딕 Bold" panose="00000800000000000000" pitchFamily="2" charset="-127"/>
                <a:ea typeface="세방고딕 Bold" panose="00000800000000000000" pitchFamily="2" charset="-127"/>
              </a:endParaRPr>
            </a:p>
          </p:txBody>
        </p:sp>
      </p:grpSp>
      <p:grpSp>
        <p:nvGrpSpPr>
          <p:cNvPr id="8" name="그룹 7">
            <a:extLst>
              <a:ext uri="{FF2B5EF4-FFF2-40B4-BE49-F238E27FC236}">
                <a16:creationId xmlns:a16="http://schemas.microsoft.com/office/drawing/2014/main" id="{EFC425D4-6E83-E94D-6C6B-194A0473AC84}"/>
              </a:ext>
            </a:extLst>
          </p:cNvPr>
          <p:cNvGrpSpPr/>
          <p:nvPr/>
        </p:nvGrpSpPr>
        <p:grpSpPr>
          <a:xfrm>
            <a:off x="6242109" y="5573304"/>
            <a:ext cx="3976700" cy="584775"/>
            <a:chOff x="6242109" y="5573304"/>
            <a:chExt cx="3976700" cy="584775"/>
          </a:xfrm>
        </p:grpSpPr>
        <p:sp>
          <p:nvSpPr>
            <p:cNvPr id="21" name="TextBox 20">
              <a:extLst>
                <a:ext uri="{FF2B5EF4-FFF2-40B4-BE49-F238E27FC236}">
                  <a16:creationId xmlns:a16="http://schemas.microsoft.com/office/drawing/2014/main" id="{2CFF09DF-8F34-A520-554E-5E8D5B8B64FC}"/>
                </a:ext>
              </a:extLst>
            </p:cNvPr>
            <p:cNvSpPr txBox="1"/>
            <p:nvPr/>
          </p:nvSpPr>
          <p:spPr>
            <a:xfrm>
              <a:off x="7013793" y="5718935"/>
              <a:ext cx="3205016" cy="307777"/>
            </a:xfrm>
            <a:prstGeom prst="rect">
              <a:avLst/>
            </a:prstGeom>
            <a:noFill/>
          </p:spPr>
          <p:txBody>
            <a:bodyPr tIns="0" bIns="0">
              <a:spAutoFit/>
            </a:bodyPr>
            <a:lstStyle/>
            <a:p>
              <a:pPr eaLnBrk="1" fontAlgn="auto" latinLnBrk="1" hangingPunct="1">
                <a:spcBef>
                  <a:spcPts val="0"/>
                </a:spcBef>
                <a:spcAft>
                  <a:spcPts val="0"/>
                </a:spcAft>
                <a:defRPr/>
              </a:pPr>
              <a:r>
                <a:rPr lang="ko-KR" altLang="en-US" sz="2000" b="1" dirty="0">
                  <a:ln>
                    <a:solidFill>
                      <a:schemeClr val="accent1">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자체 평가 의견</a:t>
              </a:r>
            </a:p>
          </p:txBody>
        </p:sp>
        <p:sp>
          <p:nvSpPr>
            <p:cNvPr id="33" name="TextBox 32">
              <a:extLst>
                <a:ext uri="{FF2B5EF4-FFF2-40B4-BE49-F238E27FC236}">
                  <a16:creationId xmlns:a16="http://schemas.microsoft.com/office/drawing/2014/main" id="{EF31F813-66E5-6D7E-A2E8-9D595F7C4B3C}"/>
                </a:ext>
              </a:extLst>
            </p:cNvPr>
            <p:cNvSpPr txBox="1"/>
            <p:nvPr/>
          </p:nvSpPr>
          <p:spPr>
            <a:xfrm>
              <a:off x="6242109" y="5573304"/>
              <a:ext cx="764479" cy="584775"/>
            </a:xfrm>
            <a:prstGeom prst="rect">
              <a:avLst/>
            </a:prstGeom>
            <a:noFill/>
          </p:spPr>
          <p:txBody>
            <a:bodyPr wrap="square">
              <a:spAutoFit/>
            </a:bodyPr>
            <a:lstStyle/>
            <a:p>
              <a:r>
                <a:rPr lang="en-US" altLang="ko-KR" sz="3200" b="1" dirty="0">
                  <a:ln>
                    <a:solidFill>
                      <a:schemeClr val="accent1">
                        <a:alpha val="0"/>
                      </a:schemeClr>
                    </a:solidFill>
                  </a:ln>
                  <a:solidFill>
                    <a:srgbClr val="3378C8">
                      <a:alpha val="50000"/>
                    </a:srgbClr>
                  </a:solidFill>
                  <a:latin typeface="세방고딕 Bold" panose="00000800000000000000" pitchFamily="2" charset="-127"/>
                  <a:ea typeface="세방고딕 Bold" panose="00000800000000000000" pitchFamily="2" charset="-127"/>
                </a:rPr>
                <a:t>05</a:t>
              </a:r>
              <a:endParaRPr lang="ko-KR" altLang="en-US" sz="3200" dirty="0">
                <a:solidFill>
                  <a:srgbClr val="3378C8">
                    <a:alpha val="50000"/>
                  </a:srgbClr>
                </a:solidFill>
                <a:latin typeface="세방고딕 Bold" panose="00000800000000000000" pitchFamily="2" charset="-127"/>
                <a:ea typeface="세방고딕 Bold" panose="00000800000000000000" pitchFamily="2" charset="-127"/>
              </a:endParaRPr>
            </a:p>
          </p:txBody>
        </p:sp>
      </p:grpSp>
      <p:sp>
        <p:nvSpPr>
          <p:cNvPr id="16" name="TextBox 15">
            <a:extLst>
              <a:ext uri="{FF2B5EF4-FFF2-40B4-BE49-F238E27FC236}">
                <a16:creationId xmlns:a16="http://schemas.microsoft.com/office/drawing/2014/main" id="{4B796DA2-A294-786D-A804-14A5CA4298D2}"/>
              </a:ext>
            </a:extLst>
          </p:cNvPr>
          <p:cNvSpPr txBox="1"/>
          <p:nvPr/>
        </p:nvSpPr>
        <p:spPr>
          <a:xfrm>
            <a:off x="0" y="674370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pic>
        <p:nvPicPr>
          <p:cNvPr id="42" name="그래픽 41">
            <a:extLst>
              <a:ext uri="{FF2B5EF4-FFF2-40B4-BE49-F238E27FC236}">
                <a16:creationId xmlns:a16="http://schemas.microsoft.com/office/drawing/2014/main" id="{5807ED90-BD54-871A-198F-7B8B0FF7B0A1}"/>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1042684" y="4289182"/>
            <a:ext cx="142875" cy="142875"/>
          </a:xfrm>
          <a:prstGeom prst="rect">
            <a:avLst/>
          </a:prstGeom>
        </p:spPr>
      </p:pic>
      <p:pic>
        <p:nvPicPr>
          <p:cNvPr id="50" name="그래픽 49">
            <a:extLst>
              <a:ext uri="{FF2B5EF4-FFF2-40B4-BE49-F238E27FC236}">
                <a16:creationId xmlns:a16="http://schemas.microsoft.com/office/drawing/2014/main" id="{30C31F35-2805-AE48-BDF2-EA025493CB28}"/>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11073038" y="1555170"/>
            <a:ext cx="233362" cy="233362"/>
          </a:xfrm>
          <a:prstGeom prst="rect">
            <a:avLst/>
          </a:prstGeom>
        </p:spPr>
      </p:pic>
      <p:pic>
        <p:nvPicPr>
          <p:cNvPr id="52" name="그래픽 51">
            <a:extLst>
              <a:ext uri="{FF2B5EF4-FFF2-40B4-BE49-F238E27FC236}">
                <a16:creationId xmlns:a16="http://schemas.microsoft.com/office/drawing/2014/main" id="{CE4DB9DB-68C0-99C7-C871-369EF59049AF}"/>
              </a:ext>
            </a:extLst>
          </p:cNvPr>
          <p:cNvPicPr>
            <a:picLocks noChangeAspect="1"/>
          </p:cNvPicPr>
          <p:nvPr/>
        </p:nvPicPr>
        <p:blipFill>
          <a:blip r:embed="rId10">
            <a:extLst>
              <a:ext uri="{96DAC541-7B7A-43D3-8B79-37D633B846F1}">
                <asvg:svgBlip xmlns="" xmlns:asvg="http://schemas.microsoft.com/office/drawing/2016/SVG/main" r:embed="rId11"/>
              </a:ext>
            </a:extLst>
          </a:blip>
          <a:stretch>
            <a:fillRect/>
          </a:stretch>
        </p:blipFill>
        <p:spPr>
          <a:xfrm rot="2700000">
            <a:off x="11933337" y="302760"/>
            <a:ext cx="343679" cy="343679"/>
          </a:xfrm>
          <a:prstGeom prst="rect">
            <a:avLst/>
          </a:prstGeom>
        </p:spPr>
      </p:pic>
      <p:grpSp>
        <p:nvGrpSpPr>
          <p:cNvPr id="9" name="그룹 8">
            <a:extLst>
              <a:ext uri="{FF2B5EF4-FFF2-40B4-BE49-F238E27FC236}">
                <a16:creationId xmlns:a16="http://schemas.microsoft.com/office/drawing/2014/main" id="{EBF7D4C4-C114-692A-CA6C-BFE8DEAD4DDC}"/>
              </a:ext>
            </a:extLst>
          </p:cNvPr>
          <p:cNvGrpSpPr/>
          <p:nvPr/>
        </p:nvGrpSpPr>
        <p:grpSpPr>
          <a:xfrm>
            <a:off x="296588" y="1043222"/>
            <a:ext cx="6161017" cy="4371570"/>
            <a:chOff x="296588" y="1043222"/>
            <a:chExt cx="6161017" cy="4371570"/>
          </a:xfrm>
        </p:grpSpPr>
        <p:pic>
          <p:nvPicPr>
            <p:cNvPr id="25" name="그래픽 24">
              <a:extLst>
                <a:ext uri="{FF2B5EF4-FFF2-40B4-BE49-F238E27FC236}">
                  <a16:creationId xmlns:a16="http://schemas.microsoft.com/office/drawing/2014/main" id="{2B60E93F-B972-BFFC-0CF7-C8C6035FC20B}"/>
                </a:ext>
              </a:extLst>
            </p:cNvPr>
            <p:cNvPicPr>
              <a:picLocks noChangeAspect="1"/>
            </p:cNvPicPr>
            <p:nvPr/>
          </p:nvPicPr>
          <p:blipFill>
            <a:blip r:embed="rId12">
              <a:extLst>
                <a:ext uri="{96DAC541-7B7A-43D3-8B79-37D633B846F1}">
                  <asvg:svgBlip xmlns="" xmlns:asvg="http://schemas.microsoft.com/office/drawing/2016/SVG/main" r:embed="rId13"/>
                </a:ext>
              </a:extLst>
            </a:blip>
            <a:stretch>
              <a:fillRect/>
            </a:stretch>
          </p:blipFill>
          <p:spPr>
            <a:xfrm>
              <a:off x="346394" y="1043222"/>
              <a:ext cx="6111211" cy="3433995"/>
            </a:xfrm>
            <a:prstGeom prst="rect">
              <a:avLst/>
            </a:prstGeom>
          </p:spPr>
        </p:pic>
        <p:pic>
          <p:nvPicPr>
            <p:cNvPr id="40" name="그래픽 39">
              <a:extLst>
                <a:ext uri="{FF2B5EF4-FFF2-40B4-BE49-F238E27FC236}">
                  <a16:creationId xmlns:a16="http://schemas.microsoft.com/office/drawing/2014/main" id="{E5BD5758-E313-FA1D-F891-ED6E4998AE9C}"/>
                </a:ext>
              </a:extLst>
            </p:cNvPr>
            <p:cNvPicPr>
              <a:picLocks noChangeAspect="1"/>
            </p:cNvPicPr>
            <p:nvPr/>
          </p:nvPicPr>
          <p:blipFill>
            <a:blip r:embed="rId14">
              <a:extLst>
                <a:ext uri="{96DAC541-7B7A-43D3-8B79-37D633B846F1}">
                  <asvg:svgBlip xmlns="" xmlns:asvg="http://schemas.microsoft.com/office/drawing/2016/SVG/main" r:embed="rId15"/>
                </a:ext>
              </a:extLst>
            </a:blip>
            <a:stretch>
              <a:fillRect/>
            </a:stretch>
          </p:blipFill>
          <p:spPr>
            <a:xfrm>
              <a:off x="3709557" y="5176667"/>
              <a:ext cx="238125" cy="238125"/>
            </a:xfrm>
            <a:prstGeom prst="rect">
              <a:avLst/>
            </a:prstGeom>
          </p:spPr>
        </p:pic>
        <p:pic>
          <p:nvPicPr>
            <p:cNvPr id="46" name="그래픽 45">
              <a:extLst>
                <a:ext uri="{FF2B5EF4-FFF2-40B4-BE49-F238E27FC236}">
                  <a16:creationId xmlns:a16="http://schemas.microsoft.com/office/drawing/2014/main" id="{67B47286-5E9D-782A-E602-D5E6C06D59CC}"/>
                </a:ext>
              </a:extLst>
            </p:cNvPr>
            <p:cNvPicPr>
              <a:picLocks noChangeAspect="1"/>
            </p:cNvPicPr>
            <p:nvPr/>
          </p:nvPicPr>
          <p:blipFill>
            <a:blip r:embed="rId16">
              <a:extLst>
                <a:ext uri="{96DAC541-7B7A-43D3-8B79-37D633B846F1}">
                  <asvg:svgBlip xmlns="" xmlns:asvg="http://schemas.microsoft.com/office/drawing/2016/SVG/main" r:embed="rId17"/>
                </a:ext>
              </a:extLst>
            </a:blip>
            <a:stretch>
              <a:fillRect/>
            </a:stretch>
          </p:blipFill>
          <p:spPr>
            <a:xfrm>
              <a:off x="4538270" y="4298532"/>
              <a:ext cx="106965" cy="106965"/>
            </a:xfrm>
            <a:prstGeom prst="rect">
              <a:avLst/>
            </a:prstGeom>
          </p:spPr>
        </p:pic>
        <p:pic>
          <p:nvPicPr>
            <p:cNvPr id="48" name="그래픽 47">
              <a:extLst>
                <a:ext uri="{FF2B5EF4-FFF2-40B4-BE49-F238E27FC236}">
                  <a16:creationId xmlns:a16="http://schemas.microsoft.com/office/drawing/2014/main" id="{E638B003-6F0A-E445-44EF-5D295FB0AA1B}"/>
                </a:ext>
              </a:extLst>
            </p:cNvPr>
            <p:cNvPicPr>
              <a:picLocks noChangeAspect="1"/>
            </p:cNvPicPr>
            <p:nvPr/>
          </p:nvPicPr>
          <p:blipFill>
            <a:blip r:embed="rId18">
              <a:extLst>
                <a:ext uri="{96DAC541-7B7A-43D3-8B79-37D633B846F1}">
                  <asvg:svgBlip xmlns="" xmlns:asvg="http://schemas.microsoft.com/office/drawing/2016/SVG/main" r:embed="rId19"/>
                </a:ext>
              </a:extLst>
            </a:blip>
            <a:stretch>
              <a:fillRect/>
            </a:stretch>
          </p:blipFill>
          <p:spPr>
            <a:xfrm>
              <a:off x="1203634" y="2752292"/>
              <a:ext cx="320555" cy="320555"/>
            </a:xfrm>
            <a:prstGeom prst="rect">
              <a:avLst/>
            </a:prstGeom>
          </p:spPr>
        </p:pic>
        <p:pic>
          <p:nvPicPr>
            <p:cNvPr id="54" name="그래픽 53">
              <a:extLst>
                <a:ext uri="{FF2B5EF4-FFF2-40B4-BE49-F238E27FC236}">
                  <a16:creationId xmlns:a16="http://schemas.microsoft.com/office/drawing/2014/main" id="{FB713AF8-DDAC-1DA9-8897-D1948DF33C16}"/>
                </a:ext>
              </a:extLst>
            </p:cNvPr>
            <p:cNvPicPr>
              <a:picLocks noChangeAspect="1"/>
            </p:cNvPicPr>
            <p:nvPr/>
          </p:nvPicPr>
          <p:blipFill>
            <a:blip r:embed="rId20">
              <a:extLst>
                <a:ext uri="{96DAC541-7B7A-43D3-8B79-37D633B846F1}">
                  <asvg:svgBlip xmlns="" xmlns:asvg="http://schemas.microsoft.com/office/drawing/2016/SVG/main" r:embed="rId21"/>
                </a:ext>
              </a:extLst>
            </a:blip>
            <a:stretch>
              <a:fillRect/>
            </a:stretch>
          </p:blipFill>
          <p:spPr>
            <a:xfrm>
              <a:off x="296588" y="1824462"/>
              <a:ext cx="320555" cy="304324"/>
            </a:xfrm>
            <a:prstGeom prst="rect">
              <a:avLst/>
            </a:prstGeom>
          </p:spPr>
        </p:pic>
      </p:grpSp>
    </p:spTree>
    <p:extLst>
      <p:ext uri="{BB962C8B-B14F-4D97-AF65-F5344CB8AC3E}">
        <p14:creationId xmlns:p14="http://schemas.microsoft.com/office/powerpoint/2010/main" val="339393022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7" name="그래픽 16">
            <a:extLst>
              <a:ext uri="{FF2B5EF4-FFF2-40B4-BE49-F238E27FC236}">
                <a16:creationId xmlns:a16="http://schemas.microsoft.com/office/drawing/2014/main" id="{5D7D92DC-AA5F-DB8A-4577-CE6DDC763B35}"/>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18" name="사각형: 둥근 한쪽 모서리 17">
            <a:extLst>
              <a:ext uri="{FF2B5EF4-FFF2-40B4-BE49-F238E27FC236}">
                <a16:creationId xmlns:a16="http://schemas.microsoft.com/office/drawing/2014/main" id="{2EAF6D58-084F-2DED-DF2E-AAB0DF464557}"/>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739452E3-2013-66BF-2EBE-F0EC960C4077}"/>
              </a:ext>
            </a:extLst>
          </p:cNvPr>
          <p:cNvGrpSpPr/>
          <p:nvPr/>
        </p:nvGrpSpPr>
        <p:grpSpPr>
          <a:xfrm>
            <a:off x="376102" y="333243"/>
            <a:ext cx="5948498" cy="830997"/>
            <a:chOff x="376102" y="333243"/>
            <a:chExt cx="5948498" cy="830997"/>
          </a:xfrm>
        </p:grpSpPr>
        <p:sp>
          <p:nvSpPr>
            <p:cNvPr id="22" name="TextBox 21">
              <a:extLst>
                <a:ext uri="{FF2B5EF4-FFF2-40B4-BE49-F238E27FC236}">
                  <a16:creationId xmlns:a16="http://schemas.microsoft.com/office/drawing/2014/main" id="{92519771-A232-D9CF-4769-EBFF2F8CFBB1}"/>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23" name="TextBox 22">
              <a:extLst>
                <a:ext uri="{FF2B5EF4-FFF2-40B4-BE49-F238E27FC236}">
                  <a16:creationId xmlns:a16="http://schemas.microsoft.com/office/drawing/2014/main" id="{EE109AB5-00CA-F0E8-7FD9-645FB6E912A9}"/>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개요</a:t>
              </a:r>
            </a:p>
          </p:txBody>
        </p:sp>
        <p:sp>
          <p:nvSpPr>
            <p:cNvPr id="25" name="TextBox 24">
              <a:extLst>
                <a:ext uri="{FF2B5EF4-FFF2-40B4-BE49-F238E27FC236}">
                  <a16:creationId xmlns:a16="http://schemas.microsoft.com/office/drawing/2014/main" id="{093CAA92-4EAE-8A8B-E8EE-0F5B51065B1A}"/>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01</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26" name="그림 25">
            <a:extLst>
              <a:ext uri="{FF2B5EF4-FFF2-40B4-BE49-F238E27FC236}">
                <a16:creationId xmlns:a16="http://schemas.microsoft.com/office/drawing/2014/main" id="{FE80A41B-F61E-4713-97AE-0B084B8425AD}"/>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28" name="그룹 27">
            <a:extLst>
              <a:ext uri="{FF2B5EF4-FFF2-40B4-BE49-F238E27FC236}">
                <a16:creationId xmlns:a16="http://schemas.microsoft.com/office/drawing/2014/main" id="{718F8096-D17C-15A7-34ED-DD08BC50AA49}"/>
              </a:ext>
            </a:extLst>
          </p:cNvPr>
          <p:cNvGrpSpPr/>
          <p:nvPr/>
        </p:nvGrpSpPr>
        <p:grpSpPr>
          <a:xfrm>
            <a:off x="541891" y="1430219"/>
            <a:ext cx="10526159" cy="369332"/>
            <a:chOff x="541891" y="1430219"/>
            <a:chExt cx="10526159" cy="369332"/>
          </a:xfrm>
        </p:grpSpPr>
        <p:sp>
          <p:nvSpPr>
            <p:cNvPr id="29" name="TextBox 28">
              <a:extLst>
                <a:ext uri="{FF2B5EF4-FFF2-40B4-BE49-F238E27FC236}">
                  <a16:creationId xmlns:a16="http://schemas.microsoft.com/office/drawing/2014/main" id="{2168CD54-D633-5776-71CD-FD7897E3EC30}"/>
                </a:ext>
              </a:extLst>
            </p:cNvPr>
            <p:cNvSpPr txBox="1"/>
            <p:nvPr/>
          </p:nvSpPr>
          <p:spPr>
            <a:xfrm>
              <a:off x="743615" y="1430219"/>
              <a:ext cx="10324435" cy="369332"/>
            </a:xfrm>
            <a:prstGeom prst="rect">
              <a:avLst/>
            </a:prstGeom>
            <a:noFill/>
          </p:spPr>
          <p:txBody>
            <a:bodyPr wrap="square">
              <a:spAutoFit/>
            </a:bodyPr>
            <a:lstStyle/>
            <a:p>
              <a:pPr>
                <a:defRPr/>
              </a:pPr>
              <a:r>
                <a:rPr lang="ko-KR" altLang="en-US" dirty="0">
                  <a:ln>
                    <a:solidFill>
                      <a:schemeClr val="accent1">
                        <a:shade val="15000"/>
                        <a:alpha val="0"/>
                      </a:schemeClr>
                    </a:solidFill>
                  </a:ln>
                  <a:solidFill>
                    <a:schemeClr val="tx1">
                      <a:lumMod val="75000"/>
                      <a:lumOff val="25000"/>
                    </a:schemeClr>
                  </a:solidFill>
                  <a:latin typeface="+mj-ea"/>
                  <a:ea typeface="+mj-ea"/>
                </a:rPr>
                <a:t>직접교시는 품종이 바뀔 때마다 다시 해야 한다 — 다품종 소량일수록 부담이 크다</a:t>
              </a:r>
            </a:p>
          </p:txBody>
        </p:sp>
        <p:sp>
          <p:nvSpPr>
            <p:cNvPr id="30" name="그래픽 43">
              <a:extLst>
                <a:ext uri="{FF2B5EF4-FFF2-40B4-BE49-F238E27FC236}">
                  <a16:creationId xmlns:a16="http://schemas.microsoft.com/office/drawing/2014/main" id="{3A85AD0A-F31C-CE36-E2E5-7C20DEA387EC}"/>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31" name="TextBox 30">
            <a:extLst>
              <a:ext uri="{FF2B5EF4-FFF2-40B4-BE49-F238E27FC236}">
                <a16:creationId xmlns:a16="http://schemas.microsoft.com/office/drawing/2014/main" id="{F3F47CD5-B807-B83F-61E9-F4274413B9B9}"/>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32" name="TextBox 31">
            <a:extLst>
              <a:ext uri="{FF2B5EF4-FFF2-40B4-BE49-F238E27FC236}">
                <a16:creationId xmlns:a16="http://schemas.microsoft.com/office/drawing/2014/main" id="{33D5EC40-66CF-4031-0B6C-BB0FF72B95AC}"/>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01-① 주제 · 배경 · 기획 의도</a:t>
            </a:r>
            <a:endParaRPr lang="ko-KR" altLang="en-US" sz="1400" b="1" spc="-100" dirty="0">
              <a:solidFill>
                <a:schemeClr val="accent1"/>
              </a:solidFill>
              <a:latin typeface="+mn-ea"/>
            </a:endParaRPr>
          </a:p>
        </p:txBody>
      </p:sp>
      <p:graphicFrame>
        <p:nvGraphicFramePr>
          <p:cNvPr id="33" name="Table 32"/>
          <p:cNvGraphicFramePr>
            <a:graphicFrameLocks noGrp="1"/>
          </p:cNvGraphicFramePr>
          <p:nvPr/>
        </p:nvGraphicFramePr>
        <p:xfrm>
          <a:off x="457200" y="2286000"/>
          <a:ext cx="6400800" cy="3840480"/>
        </p:xfrm>
        <a:graphic>
          <a:graphicData uri="http://schemas.openxmlformats.org/drawingml/2006/table">
            <a:tbl>
              <a:tblPr firstRow="1" bandRow="1">
                <a:tableStyleId>{5C22544A-7EE6-4342-B048-85BDC9FD1C3A}</a:tableStyleId>
              </a:tblPr>
              <a:tblGrid>
                <a:gridCol w="1920240"/>
                <a:gridCol w="3383280"/>
                <a:gridCol w="1097280"/>
              </a:tblGrid>
              <a:tr h="768096">
                <a:tc>
                  <a:txBody>
                    <a:bodyPr wrap="square"/>
                    <a:lstStyle/>
                    <a:p>
                      <a:r>
                        <a:rPr sz="1500" b="1">
                          <a:solidFill>
                            <a:srgbClr val="FFFFFF"/>
                          </a:solidFill>
                          <a:latin typeface="맑은 고딕"/>
                          <a:ea typeface="맑은 고딕"/>
                        </a:rPr>
                        <a:t>비용이 드는 곳</a:t>
                      </a:r>
                    </a:p>
                  </a:txBody>
                  <a:tcPr marL="73152" marR="73152" marT="27432" marB="27432" anchor="ctr">
                    <a:solidFill>
                      <a:srgbClr val="3378C8"/>
                    </a:solidFill>
                  </a:tcPr>
                </a:tc>
                <a:tc>
                  <a:txBody>
                    <a:bodyPr wrap="square"/>
                    <a:lstStyle/>
                    <a:p>
                      <a:r>
                        <a:rPr sz="1500" b="1">
                          <a:solidFill>
                            <a:srgbClr val="FFFFFF"/>
                          </a:solidFill>
                          <a:latin typeface="맑은 고딕"/>
                          <a:ea typeface="맑은 고딕"/>
                        </a:rPr>
                        <a:t>핵심</a:t>
                      </a:r>
                    </a:p>
                  </a:txBody>
                  <a:tcPr marL="73152" marR="73152" marT="27432" marB="27432" anchor="ctr">
                    <a:solidFill>
                      <a:srgbClr val="3378C8"/>
                    </a:solidFill>
                  </a:tcPr>
                </a:tc>
                <a:tc>
                  <a:txBody>
                    <a:bodyPr wrap="square"/>
                    <a:lstStyle/>
                    <a:p>
                      <a:r>
                        <a:rPr sz="1500" b="1">
                          <a:solidFill>
                            <a:srgbClr val="FFFFFF"/>
                          </a:solidFill>
                          <a:latin typeface="맑은 고딕"/>
                          <a:ea typeface="맑은 고딕"/>
                        </a:rPr>
                        <a:t>근거</a:t>
                      </a:r>
                    </a:p>
                  </a:txBody>
                  <a:tcPr marL="73152" marR="73152" marT="27432" marB="27432" anchor="ctr">
                    <a:solidFill>
                      <a:srgbClr val="3378C8"/>
                    </a:solidFill>
                  </a:tcPr>
                </a:tc>
              </a:tr>
              <a:tr h="768096">
                <a:tc>
                  <a:txBody>
                    <a:bodyPr wrap="square"/>
                    <a:lstStyle/>
                    <a:p>
                      <a:r>
                        <a:rPr sz="1500" b="1">
                          <a:solidFill>
                            <a:srgbClr val="262626"/>
                          </a:solidFill>
                          <a:latin typeface="맑은 고딕"/>
                          <a:ea typeface="맑은 고딕"/>
                        </a:rPr>
                        <a:t>재티칭 · 비가동</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교체마다 교시 + 셀 정지</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가정</a:t>
                      </a:r>
                    </a:p>
                  </a:txBody>
                  <a:tcPr marL="73152" marR="73152" marT="27432" marB="27432" anchor="ctr">
                    <a:solidFill>
                      <a:srgbClr val="FFFFFF"/>
                    </a:solidFill>
                  </a:tcPr>
                </a:tc>
              </a:tr>
              <a:tr h="768096">
                <a:tc>
                  <a:txBody>
                    <a:bodyPr wrap="square"/>
                    <a:lstStyle/>
                    <a:p>
                      <a:r>
                        <a:rPr sz="1500" b="1">
                          <a:solidFill>
                            <a:srgbClr val="262626"/>
                          </a:solidFill>
                          <a:latin typeface="맑은 고딕"/>
                          <a:ea typeface="맑은 고딕"/>
                        </a:rPr>
                        <a:t>교육</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조작 익히는 데 2~3 일</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E16</a:t>
                      </a:r>
                    </a:p>
                  </a:txBody>
                  <a:tcPr marL="73152" marR="73152" marT="27432" marB="27432" anchor="ctr">
                    <a:solidFill>
                      <a:srgbClr val="F2F5FA"/>
                    </a:solidFill>
                  </a:tcPr>
                </a:tc>
              </a:tr>
              <a:tr h="768096">
                <a:tc>
                  <a:txBody>
                    <a:bodyPr wrap="square"/>
                    <a:lstStyle/>
                    <a:p>
                      <a:r>
                        <a:rPr sz="1500" b="1">
                          <a:solidFill>
                            <a:srgbClr val="262626"/>
                          </a:solidFill>
                          <a:latin typeface="맑은 고딕"/>
                          <a:ea typeface="맑은 고딕"/>
                        </a:rPr>
                        <a:t>불량 · 재작업</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편차 → 경로 어긋남</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가정</a:t>
                      </a:r>
                    </a:p>
                  </a:txBody>
                  <a:tcPr marL="73152" marR="73152" marT="27432" marB="27432" anchor="ctr">
                    <a:solidFill>
                      <a:srgbClr val="FFFFFF"/>
                    </a:solidFill>
                  </a:tcPr>
                </a:tc>
              </a:tr>
              <a:tr h="768096">
                <a:tc>
                  <a:txBody>
                    <a:bodyPr wrap="square"/>
                    <a:lstStyle/>
                    <a:p>
                      <a:r>
                        <a:rPr sz="1500" b="1">
                          <a:solidFill>
                            <a:srgbClr val="262626"/>
                          </a:solidFill>
                          <a:latin typeface="맑은 고딕"/>
                          <a:ea typeface="맑은 고딕"/>
                        </a:rPr>
                        <a:t>납기 지연</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담당자 없으면 교체 지연</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E3</a:t>
                      </a:r>
                    </a:p>
                  </a:txBody>
                  <a:tcPr marL="73152" marR="73152" marT="27432" marB="27432" anchor="ctr">
                    <a:solidFill>
                      <a:srgbClr val="F2F5FA"/>
                    </a:solidFill>
                  </a:tcPr>
                </a:tc>
              </a:tr>
            </a:tbl>
          </a:graphicData>
        </a:graphic>
      </p:graphicFrame>
      <p:sp>
        <p:nvSpPr>
          <p:cNvPr id="34" name="Rounded Rectangle 33"/>
          <p:cNvSpPr/>
          <p:nvPr/>
        </p:nvSpPr>
        <p:spPr>
          <a:xfrm>
            <a:off x="7178040" y="2286000"/>
            <a:ext cx="2194560" cy="160020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3400" b="1">
                <a:solidFill>
                  <a:srgbClr val="3378C8"/>
                </a:solidFill>
                <a:latin typeface="맑은 고딕"/>
                <a:ea typeface="맑은 고딕"/>
              </a:rPr>
              <a:t>68.2 %</a:t>
            </a:r>
          </a:p>
          <a:p>
            <a:pPr algn="ctr">
              <a:spcAft>
                <a:spcPts val="200"/>
              </a:spcAft>
            </a:pPr>
            <a:r>
              <a:rPr sz="1300" b="0">
                <a:solidFill>
                  <a:srgbClr val="262626"/>
                </a:solidFill>
                <a:latin typeface="맑은 고딕"/>
                <a:ea typeface="맑은 고딕"/>
              </a:rPr>
              <a:t>뿌리산업 종사자</a:t>
            </a:r>
          </a:p>
          <a:p>
            <a:pPr algn="ctr">
              <a:spcAft>
                <a:spcPts val="200"/>
              </a:spcAft>
            </a:pPr>
            <a:r>
              <a:rPr sz="1300" b="0">
                <a:solidFill>
                  <a:srgbClr val="262626"/>
                </a:solidFill>
                <a:latin typeface="맑은 고딕"/>
                <a:ea typeface="맑은 고딕"/>
              </a:rPr>
              <a:t>40 대 이상</a:t>
            </a:r>
          </a:p>
        </p:txBody>
      </p:sp>
      <p:sp>
        <p:nvSpPr>
          <p:cNvPr id="35" name="Rounded Rectangle 34"/>
          <p:cNvSpPr/>
          <p:nvPr/>
        </p:nvSpPr>
        <p:spPr>
          <a:xfrm>
            <a:off x="9537192" y="2286000"/>
            <a:ext cx="2194560" cy="160020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3400" b="1">
                <a:solidFill>
                  <a:srgbClr val="3378C8"/>
                </a:solidFill>
                <a:latin typeface="맑은 고딕"/>
                <a:ea typeface="맑은 고딕"/>
              </a:rPr>
              <a:t>89.3 %</a:t>
            </a:r>
          </a:p>
          <a:p>
            <a:pPr algn="ctr">
              <a:spcAft>
                <a:spcPts val="200"/>
              </a:spcAft>
            </a:pPr>
            <a:r>
              <a:rPr sz="1300" b="0">
                <a:solidFill>
                  <a:srgbClr val="262626"/>
                </a:solidFill>
                <a:latin typeface="맑은 고딕"/>
                <a:ea typeface="맑은 고딕"/>
              </a:rPr>
              <a:t>10 인 미만 업체</a:t>
            </a:r>
          </a:p>
          <a:p>
            <a:pPr algn="ctr">
              <a:spcAft>
                <a:spcPts val="200"/>
              </a:spcAft>
            </a:pPr>
            <a:r>
              <a:rPr sz="1300" b="0">
                <a:solidFill>
                  <a:srgbClr val="262626"/>
                </a:solidFill>
                <a:latin typeface="맑은 고딕"/>
                <a:ea typeface="맑은 고딕"/>
              </a:rPr>
              <a:t>인력 부족</a:t>
            </a:r>
          </a:p>
        </p:txBody>
      </p:sp>
      <p:sp>
        <p:nvSpPr>
          <p:cNvPr id="36" name="기획 의도"/>
          <p:cNvSpPr/>
          <p:nvPr/>
        </p:nvSpPr>
        <p:spPr>
          <a:xfrm>
            <a:off x="7178040" y="4069080"/>
            <a:ext cx="4553712" cy="2011680"/>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놓고 → 누르면 → 로봇이 찾는다</a:t>
            </a:r>
          </a:p>
          <a:p>
            <a:pPr algn="ctr">
              <a:spcAft>
                <a:spcPts val="200"/>
              </a:spcAft>
            </a:pPr>
            <a:r>
              <a:rPr sz="1500" b="0">
                <a:solidFill>
                  <a:srgbClr val="262626"/>
                </a:solidFill>
                <a:latin typeface="맑은 고딕"/>
                <a:ea typeface="맑은 고딕"/>
              </a:rPr>
              <a:t>교시 없이 · 센서 추가 없이</a:t>
            </a:r>
          </a:p>
        </p:txBody>
      </p:sp>
      <p:sp>
        <p:nvSpPr>
          <p:cNvPr id="37"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BRD v3.2.0 1.1 · 3.1 · 3.3(US-01). E2 · E3 · E13 · E16 = BRD 11 장 근거 자료, "가정" = BRD 1.6 의 팀 가정값(A2~A6)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7" name="그래픽 16">
            <a:extLst>
              <a:ext uri="{FF2B5EF4-FFF2-40B4-BE49-F238E27FC236}">
                <a16:creationId xmlns:a16="http://schemas.microsoft.com/office/drawing/2014/main" id="{5D7D92DC-AA5F-DB8A-4577-CE6DDC763B35}"/>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18" name="사각형: 둥근 한쪽 모서리 17">
            <a:extLst>
              <a:ext uri="{FF2B5EF4-FFF2-40B4-BE49-F238E27FC236}">
                <a16:creationId xmlns:a16="http://schemas.microsoft.com/office/drawing/2014/main" id="{2EAF6D58-084F-2DED-DF2E-AAB0DF464557}"/>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739452E3-2013-66BF-2EBE-F0EC960C4077}"/>
              </a:ext>
            </a:extLst>
          </p:cNvPr>
          <p:cNvGrpSpPr/>
          <p:nvPr/>
        </p:nvGrpSpPr>
        <p:grpSpPr>
          <a:xfrm>
            <a:off x="376102" y="333243"/>
            <a:ext cx="5948498" cy="830997"/>
            <a:chOff x="376102" y="333243"/>
            <a:chExt cx="5948498" cy="830997"/>
          </a:xfrm>
        </p:grpSpPr>
        <p:sp>
          <p:nvSpPr>
            <p:cNvPr id="22" name="TextBox 21">
              <a:extLst>
                <a:ext uri="{FF2B5EF4-FFF2-40B4-BE49-F238E27FC236}">
                  <a16:creationId xmlns:a16="http://schemas.microsoft.com/office/drawing/2014/main" id="{92519771-A232-D9CF-4769-EBFF2F8CFBB1}"/>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23" name="TextBox 22">
              <a:extLst>
                <a:ext uri="{FF2B5EF4-FFF2-40B4-BE49-F238E27FC236}">
                  <a16:creationId xmlns:a16="http://schemas.microsoft.com/office/drawing/2014/main" id="{EE109AB5-00CA-F0E8-7FD9-645FB6E912A9}"/>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개요</a:t>
              </a:r>
            </a:p>
          </p:txBody>
        </p:sp>
        <p:sp>
          <p:nvSpPr>
            <p:cNvPr id="25" name="TextBox 24">
              <a:extLst>
                <a:ext uri="{FF2B5EF4-FFF2-40B4-BE49-F238E27FC236}">
                  <a16:creationId xmlns:a16="http://schemas.microsoft.com/office/drawing/2014/main" id="{093CAA92-4EAE-8A8B-E8EE-0F5B51065B1A}"/>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01</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26" name="그림 25">
            <a:extLst>
              <a:ext uri="{FF2B5EF4-FFF2-40B4-BE49-F238E27FC236}">
                <a16:creationId xmlns:a16="http://schemas.microsoft.com/office/drawing/2014/main" id="{FE80A41B-F61E-4713-97AE-0B084B8425AD}"/>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28" name="그룹 27">
            <a:extLst>
              <a:ext uri="{FF2B5EF4-FFF2-40B4-BE49-F238E27FC236}">
                <a16:creationId xmlns:a16="http://schemas.microsoft.com/office/drawing/2014/main" id="{718F8096-D17C-15A7-34ED-DD08BC50AA49}"/>
              </a:ext>
            </a:extLst>
          </p:cNvPr>
          <p:cNvGrpSpPr/>
          <p:nvPr/>
        </p:nvGrpSpPr>
        <p:grpSpPr>
          <a:xfrm>
            <a:off x="541891" y="1430219"/>
            <a:ext cx="10526159" cy="369332"/>
            <a:chOff x="541891" y="1430219"/>
            <a:chExt cx="10526159" cy="369332"/>
          </a:xfrm>
        </p:grpSpPr>
        <p:sp>
          <p:nvSpPr>
            <p:cNvPr id="29" name="TextBox 28">
              <a:extLst>
                <a:ext uri="{FF2B5EF4-FFF2-40B4-BE49-F238E27FC236}">
                  <a16:creationId xmlns:a16="http://schemas.microsoft.com/office/drawing/2014/main" id="{2168CD54-D633-5776-71CD-FD7897E3EC30}"/>
                </a:ext>
              </a:extLst>
            </p:cNvPr>
            <p:cNvSpPr txBox="1"/>
            <p:nvPr/>
          </p:nvSpPr>
          <p:spPr>
            <a:xfrm>
              <a:off x="743615" y="1430219"/>
              <a:ext cx="10324435" cy="369332"/>
            </a:xfrm>
            <a:prstGeom prst="rect">
              <a:avLst/>
            </a:prstGeom>
            <a:noFill/>
          </p:spPr>
          <p:txBody>
            <a:bodyPr wrap="square">
              <a:spAutoFit/>
            </a:bodyPr>
            <a:lstStyle/>
            <a:p>
              <a:pPr>
                <a:defRPr/>
              </a:pPr>
              <a:r>
                <a:rPr lang="ko-KR" altLang="en-US" dirty="0">
                  <a:ln>
                    <a:solidFill>
                      <a:schemeClr val="accent1">
                        <a:shade val="15000"/>
                        <a:alpha val="0"/>
                      </a:schemeClr>
                    </a:solidFill>
                  </a:ln>
                  <a:solidFill>
                    <a:schemeClr val="tx1">
                      <a:lumMod val="75000"/>
                      <a:lumOff val="25000"/>
                    </a:schemeClr>
                  </a:solidFill>
                  <a:latin typeface="+mj-ea"/>
                  <a:ea typeface="+mj-ea"/>
                </a:rPr>
                <a:t>센서를 더하지 않고 로봇이 만져서 찾는다 — 그 과정을 실시간 3D 로 보여준다</a:t>
              </a:r>
            </a:p>
          </p:txBody>
        </p:sp>
        <p:sp>
          <p:nvSpPr>
            <p:cNvPr id="30" name="그래픽 43">
              <a:extLst>
                <a:ext uri="{FF2B5EF4-FFF2-40B4-BE49-F238E27FC236}">
                  <a16:creationId xmlns:a16="http://schemas.microsoft.com/office/drawing/2014/main" id="{3A85AD0A-F31C-CE36-E2E5-7C20DEA387EC}"/>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31" name="TextBox 30">
            <a:extLst>
              <a:ext uri="{FF2B5EF4-FFF2-40B4-BE49-F238E27FC236}">
                <a16:creationId xmlns:a16="http://schemas.microsoft.com/office/drawing/2014/main" id="{F3F47CD5-B807-B83F-61E9-F4274413B9B9}"/>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32" name="TextBox 31">
            <a:extLst>
              <a:ext uri="{FF2B5EF4-FFF2-40B4-BE49-F238E27FC236}">
                <a16:creationId xmlns:a16="http://schemas.microsoft.com/office/drawing/2014/main" id="{33D5EC40-66CF-4031-0B6C-BB0FF72B95AC}"/>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01-② 특화 포인트</a:t>
            </a:r>
            <a:endParaRPr lang="ko-KR" altLang="en-US" sz="1400" b="1" spc="-100" dirty="0">
              <a:solidFill>
                <a:schemeClr val="accent1"/>
              </a:solidFill>
              <a:latin typeface="+mn-ea"/>
            </a:endParaRPr>
          </a:p>
        </p:txBody>
      </p:sp>
      <p:pic>
        <p:nvPicPr>
          <p:cNvPr id="33" name="Picture 32" descr="compare-alternatives.png"/>
          <p:cNvPicPr>
            <a:picLocks noChangeAspect="1"/>
          </p:cNvPicPr>
          <p:nvPr/>
        </p:nvPicPr>
        <p:blipFill>
          <a:blip r:embed="rId21"/>
          <a:stretch>
            <a:fillRect/>
          </a:stretch>
        </p:blipFill>
        <p:spPr>
          <a:xfrm>
            <a:off x="457200" y="2240280"/>
            <a:ext cx="7589520" cy="4067251"/>
          </a:xfrm>
          <a:prstGeom prst="rect">
            <a:avLst/>
          </a:prstGeom>
        </p:spPr>
      </p:pic>
      <p:sp>
        <p:nvSpPr>
          <p:cNvPr id="34" name="Rounded Rectangle 33"/>
          <p:cNvSpPr/>
          <p:nvPr/>
        </p:nvSpPr>
        <p:spPr>
          <a:xfrm>
            <a:off x="8183879" y="2286000"/>
            <a:ext cx="3547872" cy="1188720"/>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22357F"/>
                </a:solidFill>
                <a:latin typeface="맑은 고딕"/>
                <a:ea typeface="맑은 고딕"/>
              </a:rPr>
              <a:t>무센서 탐침 = 촉각</a:t>
            </a:r>
          </a:p>
          <a:p>
            <a:pPr algn="ctr">
              <a:spcAft>
                <a:spcPts val="200"/>
              </a:spcAft>
            </a:pPr>
            <a:r>
              <a:rPr sz="1300" b="0">
                <a:solidFill>
                  <a:srgbClr val="262626"/>
                </a:solidFill>
                <a:latin typeface="맑은 고딕"/>
                <a:ea typeface="맑은 고딕"/>
              </a:rPr>
              <a:t>로봇 관절 토크로 추정한 외력</a:t>
            </a:r>
          </a:p>
        </p:txBody>
      </p:sp>
      <p:sp>
        <p:nvSpPr>
          <p:cNvPr id="35" name="Rounded Rectangle 34"/>
          <p:cNvSpPr/>
          <p:nvPr/>
        </p:nvSpPr>
        <p:spPr>
          <a:xfrm>
            <a:off x="8183879" y="3611880"/>
            <a:ext cx="3547872" cy="1188720"/>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22357F"/>
                </a:solidFill>
                <a:latin typeface="맑은 고딕"/>
                <a:ea typeface="맑은 고딕"/>
              </a:rPr>
              <a:t>실시간 3D 관제</a:t>
            </a:r>
          </a:p>
          <a:p>
            <a:pPr algn="ctr">
              <a:spcAft>
                <a:spcPts val="200"/>
              </a:spcAft>
            </a:pPr>
            <a:r>
              <a:rPr sz="1300" b="0">
                <a:solidFill>
                  <a:srgbClr val="262626"/>
                </a:solidFill>
                <a:latin typeface="맑은 고딕"/>
                <a:ea typeface="맑은 고딕"/>
              </a:rPr>
              <a:t>단계 · 접촉점 · 형상을 바로</a:t>
            </a:r>
          </a:p>
        </p:txBody>
      </p:sp>
      <p:sp>
        <p:nvSpPr>
          <p:cNvPr id="36" name="[뺄 수 있음] 01-② 용접"/>
          <p:cNvSpPr/>
          <p:nvPr/>
        </p:nvSpPr>
        <p:spPr>
          <a:xfrm>
            <a:off x="8183879" y="4937760"/>
            <a:ext cx="3547872" cy="1188720"/>
          </a:xfrm>
          <a:prstGeom prst="roundRect">
            <a:avLst>
              <a:gd name="adj" fmla="val 12000"/>
            </a:avLst>
          </a:prstGeom>
          <a:solidFill>
            <a:srgbClr val="FFF1E0"/>
          </a:solidFill>
          <a:ln w="22225">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D2691E"/>
                </a:solidFill>
                <a:latin typeface="맑은 고딕"/>
                <a:ea typeface="맑은 고딕"/>
              </a:rPr>
              <a:t>스캔 → 용접 모션</a:t>
            </a:r>
          </a:p>
          <a:p>
            <a:pPr algn="ctr">
              <a:spcAft>
                <a:spcPts val="200"/>
              </a:spcAft>
            </a:pPr>
            <a:r>
              <a:rPr sz="1300" b="0">
                <a:solidFill>
                  <a:srgbClr val="D2691E"/>
                </a:solidFill>
                <a:latin typeface="맑은 고딕"/>
                <a:ea typeface="맑은 고딕"/>
              </a:rPr>
              <a:t>[뺄 수 있음]</a:t>
            </a:r>
          </a:p>
        </p:txBody>
      </p:sp>
      <p:sp>
        <p:nvSpPr>
          <p:cNvPr id="37"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BRD v3.2.0 3.2(대안 비교 · 가격) · 1.5(기술적 가치), ADR 0001. 비전 가격은 E12. 목표가 1,000 만원은 가정 A7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7" name="그래픽 16">
            <a:extLst>
              <a:ext uri="{FF2B5EF4-FFF2-40B4-BE49-F238E27FC236}">
                <a16:creationId xmlns:a16="http://schemas.microsoft.com/office/drawing/2014/main" id="{5D7D92DC-AA5F-DB8A-4577-CE6DDC763B35}"/>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18" name="사각형: 둥근 한쪽 모서리 17">
            <a:extLst>
              <a:ext uri="{FF2B5EF4-FFF2-40B4-BE49-F238E27FC236}">
                <a16:creationId xmlns:a16="http://schemas.microsoft.com/office/drawing/2014/main" id="{2EAF6D58-084F-2DED-DF2E-AAB0DF464557}"/>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739452E3-2013-66BF-2EBE-F0EC960C4077}"/>
              </a:ext>
            </a:extLst>
          </p:cNvPr>
          <p:cNvGrpSpPr/>
          <p:nvPr/>
        </p:nvGrpSpPr>
        <p:grpSpPr>
          <a:xfrm>
            <a:off x="376102" y="333243"/>
            <a:ext cx="5948498" cy="830997"/>
            <a:chOff x="376102" y="333243"/>
            <a:chExt cx="5948498" cy="830997"/>
          </a:xfrm>
        </p:grpSpPr>
        <p:sp>
          <p:nvSpPr>
            <p:cNvPr id="22" name="TextBox 21">
              <a:extLst>
                <a:ext uri="{FF2B5EF4-FFF2-40B4-BE49-F238E27FC236}">
                  <a16:creationId xmlns:a16="http://schemas.microsoft.com/office/drawing/2014/main" id="{92519771-A232-D9CF-4769-EBFF2F8CFBB1}"/>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23" name="TextBox 22">
              <a:extLst>
                <a:ext uri="{FF2B5EF4-FFF2-40B4-BE49-F238E27FC236}">
                  <a16:creationId xmlns:a16="http://schemas.microsoft.com/office/drawing/2014/main" id="{EE109AB5-00CA-F0E8-7FD9-645FB6E912A9}"/>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개요</a:t>
              </a:r>
            </a:p>
          </p:txBody>
        </p:sp>
        <p:sp>
          <p:nvSpPr>
            <p:cNvPr id="25" name="TextBox 24">
              <a:extLst>
                <a:ext uri="{FF2B5EF4-FFF2-40B4-BE49-F238E27FC236}">
                  <a16:creationId xmlns:a16="http://schemas.microsoft.com/office/drawing/2014/main" id="{093CAA92-4EAE-8A8B-E8EE-0F5B51065B1A}"/>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01</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26" name="그림 25">
            <a:extLst>
              <a:ext uri="{FF2B5EF4-FFF2-40B4-BE49-F238E27FC236}">
                <a16:creationId xmlns:a16="http://schemas.microsoft.com/office/drawing/2014/main" id="{FE80A41B-F61E-4713-97AE-0B084B8425AD}"/>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28" name="그룹 27">
            <a:extLst>
              <a:ext uri="{FF2B5EF4-FFF2-40B4-BE49-F238E27FC236}">
                <a16:creationId xmlns:a16="http://schemas.microsoft.com/office/drawing/2014/main" id="{718F8096-D17C-15A7-34ED-DD08BC50AA49}"/>
              </a:ext>
            </a:extLst>
          </p:cNvPr>
          <p:cNvGrpSpPr/>
          <p:nvPr/>
        </p:nvGrpSpPr>
        <p:grpSpPr>
          <a:xfrm>
            <a:off x="541891" y="1430219"/>
            <a:ext cx="10526159" cy="369332"/>
            <a:chOff x="541891" y="1430219"/>
            <a:chExt cx="10526159" cy="369332"/>
          </a:xfrm>
        </p:grpSpPr>
        <p:sp>
          <p:nvSpPr>
            <p:cNvPr id="29" name="TextBox 28">
              <a:extLst>
                <a:ext uri="{FF2B5EF4-FFF2-40B4-BE49-F238E27FC236}">
                  <a16:creationId xmlns:a16="http://schemas.microsoft.com/office/drawing/2014/main" id="{2168CD54-D633-5776-71CD-FD7897E3EC30}"/>
                </a:ext>
              </a:extLst>
            </p:cNvPr>
            <p:cNvSpPr txBox="1"/>
            <p:nvPr/>
          </p:nvSpPr>
          <p:spPr>
            <a:xfrm>
              <a:off x="743615" y="1430219"/>
              <a:ext cx="10324435" cy="369332"/>
            </a:xfrm>
            <a:prstGeom prst="rect">
              <a:avLst/>
            </a:prstGeom>
            <a:noFill/>
          </p:spPr>
          <p:txBody>
            <a:bodyPr wrap="square">
              <a:spAutoFit/>
            </a:bodyPr>
            <a:lstStyle/>
            <a:p>
              <a:pPr>
                <a:defRPr/>
              </a:pPr>
              <a:r>
                <a:rPr lang="ko-KR" altLang="en-US" dirty="0">
                  <a:ln>
                    <a:solidFill>
                      <a:schemeClr val="accent1">
                        <a:shade val="15000"/>
                        <a:alpha val="0"/>
                      </a:schemeClr>
                    </a:solidFill>
                  </a:ln>
                  <a:solidFill>
                    <a:schemeClr val="tx1">
                      <a:lumMod val="75000"/>
                      <a:lumOff val="25000"/>
                    </a:schemeClr>
                  </a:solidFill>
                  <a:latin typeface="+mj-ea"/>
                  <a:ea typeface="+mj-ea"/>
                </a:rPr>
                <a:t>MVP: 직육면체 하나를 다섯 번 만져 형상과 경로 후보를 만들고 웹에 보여준다</a:t>
              </a:r>
            </a:p>
          </p:txBody>
        </p:sp>
        <p:sp>
          <p:nvSpPr>
            <p:cNvPr id="30" name="그래픽 43">
              <a:extLst>
                <a:ext uri="{FF2B5EF4-FFF2-40B4-BE49-F238E27FC236}">
                  <a16:creationId xmlns:a16="http://schemas.microsoft.com/office/drawing/2014/main" id="{3A85AD0A-F31C-CE36-E2E5-7C20DEA387EC}"/>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31" name="TextBox 30">
            <a:extLst>
              <a:ext uri="{FF2B5EF4-FFF2-40B4-BE49-F238E27FC236}">
                <a16:creationId xmlns:a16="http://schemas.microsoft.com/office/drawing/2014/main" id="{F3F47CD5-B807-B83F-61E9-F4274413B9B9}"/>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32" name="TextBox 31">
            <a:extLst>
              <a:ext uri="{FF2B5EF4-FFF2-40B4-BE49-F238E27FC236}">
                <a16:creationId xmlns:a16="http://schemas.microsoft.com/office/drawing/2014/main" id="{33D5EC40-66CF-4031-0B6C-BB0FF72B95AC}"/>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01-③ 구현 내용 · 컨셉 · 훈련 연관</a:t>
            </a:r>
            <a:endParaRPr lang="ko-KR" altLang="en-US" sz="1400" b="1" spc="-100" dirty="0">
              <a:solidFill>
                <a:schemeClr val="accent1"/>
              </a:solidFill>
              <a:latin typeface="+mn-ea"/>
            </a:endParaRPr>
          </a:p>
        </p:txBody>
      </p:sp>
      <p:pic>
        <p:nvPicPr>
          <p:cNvPr id="33" name="Picture 32" descr="overview-mvp-flow.png"/>
          <p:cNvPicPr>
            <a:picLocks noChangeAspect="1"/>
          </p:cNvPicPr>
          <p:nvPr/>
        </p:nvPicPr>
        <p:blipFill>
          <a:blip r:embed="rId21"/>
          <a:stretch>
            <a:fillRect/>
          </a:stretch>
        </p:blipFill>
        <p:spPr>
          <a:xfrm>
            <a:off x="457200" y="2240280"/>
            <a:ext cx="6949440" cy="4067251"/>
          </a:xfrm>
          <a:prstGeom prst="rect">
            <a:avLst/>
          </a:prstGeom>
        </p:spPr>
      </p:pic>
      <p:sp>
        <p:nvSpPr>
          <p:cNvPr id="34" name="TextBox 33"/>
          <p:cNvSpPr txBox="1"/>
          <p:nvPr/>
        </p:nvSpPr>
        <p:spPr>
          <a:xfrm>
            <a:off x="7635240" y="2212848"/>
            <a:ext cx="4096512" cy="411480"/>
          </a:xfrm>
          <a:prstGeom prst="rect">
            <a:avLst/>
          </a:prstGeom>
          <a:noFill/>
        </p:spPr>
        <p:txBody>
          <a:bodyPr wrap="square" anchor="t" tIns="54864" bIns="54864">
            <a:spAutoFit/>
          </a:bodyPr>
          <a:lstStyle/>
          <a:p>
            <a:pPr algn="l">
              <a:spcAft>
                <a:spcPts val="400"/>
              </a:spcAft>
            </a:pPr>
            <a:r>
              <a:rPr sz="1600" b="1">
                <a:solidFill>
                  <a:srgbClr val="3378C8"/>
                </a:solidFill>
                <a:latin typeface="맑은 고딕"/>
                <a:ea typeface="맑은 고딕"/>
              </a:rPr>
              <a:t>훈련 연관</a:t>
            </a:r>
          </a:p>
        </p:txBody>
      </p:sp>
      <p:sp>
        <p:nvSpPr>
          <p:cNvPr id="35" name="Rounded Rectangle 34"/>
          <p:cNvSpPr/>
          <p:nvPr/>
        </p:nvSpPr>
        <p:spPr>
          <a:xfrm>
            <a:off x="7635240" y="2697480"/>
            <a:ext cx="4096512" cy="804672"/>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700" b="1">
                <a:solidFill>
                  <a:srgbClr val="22357F"/>
                </a:solidFill>
                <a:latin typeface="맑은 고딕"/>
                <a:ea typeface="맑은 고딕"/>
              </a:rPr>
              <a:t>ROS 2 노드 5 개</a:t>
            </a:r>
          </a:p>
          <a:p>
            <a:pPr algn="ctr">
              <a:spcAft>
                <a:spcPts val="200"/>
              </a:spcAft>
            </a:pPr>
            <a:r>
              <a:rPr sz="1300" b="0">
                <a:solidFill>
                  <a:srgbClr val="262626"/>
                </a:solidFill>
                <a:latin typeface="맑은 고딕"/>
                <a:ea typeface="맑은 고딕"/>
              </a:rPr>
              <a:t>토픽 · 서비스 · 액션 계약</a:t>
            </a:r>
          </a:p>
        </p:txBody>
      </p:sp>
      <p:sp>
        <p:nvSpPr>
          <p:cNvPr id="36" name="Rounded Rectangle 35"/>
          <p:cNvSpPr/>
          <p:nvPr/>
        </p:nvSpPr>
        <p:spPr>
          <a:xfrm>
            <a:off x="7635240" y="3611880"/>
            <a:ext cx="4096512" cy="804672"/>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700" b="1">
                <a:solidFill>
                  <a:srgbClr val="22357F"/>
                </a:solidFill>
                <a:latin typeface="맑은 고딕"/>
                <a:ea typeface="맑은 고딕"/>
              </a:rPr>
              <a:t>두산 DSR 서비스</a:t>
            </a:r>
          </a:p>
          <a:p>
            <a:pPr algn="ctr">
              <a:spcAft>
                <a:spcPts val="200"/>
              </a:spcAft>
            </a:pPr>
            <a:r>
              <a:rPr sz="1300" b="0">
                <a:solidFill>
                  <a:srgbClr val="262626"/>
                </a:solidFill>
                <a:latin typeface="맑은 고딕"/>
                <a:ea typeface="맑은 고딕"/>
              </a:rPr>
              <a:t>robot_manager 한 곳에서 호출</a:t>
            </a:r>
          </a:p>
        </p:txBody>
      </p:sp>
      <p:sp>
        <p:nvSpPr>
          <p:cNvPr id="37" name="Rounded Rectangle 36"/>
          <p:cNvSpPr/>
          <p:nvPr/>
        </p:nvSpPr>
        <p:spPr>
          <a:xfrm>
            <a:off x="7635240" y="4526280"/>
            <a:ext cx="4096512" cy="804672"/>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700" b="1">
                <a:solidFill>
                  <a:srgbClr val="22357F"/>
                </a:solidFill>
                <a:latin typeface="맑은 고딕"/>
                <a:ea typeface="맑은 고딕"/>
              </a:rPr>
              <a:t>launch · 파라미터</a:t>
            </a:r>
          </a:p>
          <a:p>
            <a:pPr algn="ctr">
              <a:spcAft>
                <a:spcPts val="200"/>
              </a:spcAft>
            </a:pPr>
            <a:r>
              <a:rPr sz="1300" b="0">
                <a:solidFill>
                  <a:srgbClr val="262626"/>
                </a:solidFill>
                <a:latin typeface="맑은 고딕"/>
                <a:ea typeface="맑은 고딕"/>
              </a:rPr>
              <a:t>sim ↔ 실기를 인자 하나로</a:t>
            </a:r>
          </a:p>
        </p:txBody>
      </p:sp>
      <p:sp>
        <p:nvSpPr>
          <p:cNvPr id="38" name="Rounded Rectangle 37"/>
          <p:cNvSpPr/>
          <p:nvPr/>
        </p:nvSpPr>
        <p:spPr>
          <a:xfrm>
            <a:off x="7635240" y="5440680"/>
            <a:ext cx="4096512" cy="804672"/>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700" b="1">
                <a:solidFill>
                  <a:srgbClr val="22357F"/>
                </a:solidFill>
                <a:latin typeface="맑은 고딕"/>
                <a:ea typeface="맑은 고딕"/>
              </a:rPr>
              <a:t>HMI</a:t>
            </a:r>
          </a:p>
          <a:p>
            <a:pPr algn="ctr">
              <a:spcAft>
                <a:spcPts val="200"/>
              </a:spcAft>
            </a:pPr>
            <a:r>
              <a:rPr sz="1300" b="0">
                <a:solidFill>
                  <a:srgbClr val="262626"/>
                </a:solidFill>
                <a:latin typeface="맑은 고딕"/>
                <a:ea typeface="맑은 고딕"/>
              </a:rPr>
              <a:t>React 3D · MQTT · FastAPI</a:t>
            </a:r>
          </a:p>
        </p:txBody>
      </p:sp>
      <p:sp>
        <p:nvSpPr>
          <p:cNvPr id="39"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BRD v3.2.0 2 장 포함 범위 · 1.4 절(탐색 절차) · docs/architecture.md · 산출물 01 시스템 아키텍처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7" name="그래픽 16">
            <a:extLst>
              <a:ext uri="{FF2B5EF4-FFF2-40B4-BE49-F238E27FC236}">
                <a16:creationId xmlns:a16="http://schemas.microsoft.com/office/drawing/2014/main" id="{5D7D92DC-AA5F-DB8A-4577-CE6DDC763B35}"/>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18" name="사각형: 둥근 한쪽 모서리 17">
            <a:extLst>
              <a:ext uri="{FF2B5EF4-FFF2-40B4-BE49-F238E27FC236}">
                <a16:creationId xmlns:a16="http://schemas.microsoft.com/office/drawing/2014/main" id="{2EAF6D58-084F-2DED-DF2E-AAB0DF464557}"/>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739452E3-2013-66BF-2EBE-F0EC960C4077}"/>
              </a:ext>
            </a:extLst>
          </p:cNvPr>
          <p:cNvGrpSpPr/>
          <p:nvPr/>
        </p:nvGrpSpPr>
        <p:grpSpPr>
          <a:xfrm>
            <a:off x="376102" y="333243"/>
            <a:ext cx="5948498" cy="830997"/>
            <a:chOff x="376102" y="333243"/>
            <a:chExt cx="5948498" cy="830997"/>
          </a:xfrm>
        </p:grpSpPr>
        <p:sp>
          <p:nvSpPr>
            <p:cNvPr id="22" name="TextBox 21">
              <a:extLst>
                <a:ext uri="{FF2B5EF4-FFF2-40B4-BE49-F238E27FC236}">
                  <a16:creationId xmlns:a16="http://schemas.microsoft.com/office/drawing/2014/main" id="{92519771-A232-D9CF-4769-EBFF2F8CFBB1}"/>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23" name="TextBox 22">
              <a:extLst>
                <a:ext uri="{FF2B5EF4-FFF2-40B4-BE49-F238E27FC236}">
                  <a16:creationId xmlns:a16="http://schemas.microsoft.com/office/drawing/2014/main" id="{EE109AB5-00CA-F0E8-7FD9-645FB6E912A9}"/>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개요</a:t>
              </a:r>
            </a:p>
          </p:txBody>
        </p:sp>
        <p:sp>
          <p:nvSpPr>
            <p:cNvPr id="25" name="TextBox 24">
              <a:extLst>
                <a:ext uri="{FF2B5EF4-FFF2-40B4-BE49-F238E27FC236}">
                  <a16:creationId xmlns:a16="http://schemas.microsoft.com/office/drawing/2014/main" id="{093CAA92-4EAE-8A8B-E8EE-0F5B51065B1A}"/>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01</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26" name="그림 25">
            <a:extLst>
              <a:ext uri="{FF2B5EF4-FFF2-40B4-BE49-F238E27FC236}">
                <a16:creationId xmlns:a16="http://schemas.microsoft.com/office/drawing/2014/main" id="{FE80A41B-F61E-4713-97AE-0B084B8425AD}"/>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28" name="그룹 27">
            <a:extLst>
              <a:ext uri="{FF2B5EF4-FFF2-40B4-BE49-F238E27FC236}">
                <a16:creationId xmlns:a16="http://schemas.microsoft.com/office/drawing/2014/main" id="{718F8096-D17C-15A7-34ED-DD08BC50AA49}"/>
              </a:ext>
            </a:extLst>
          </p:cNvPr>
          <p:cNvGrpSpPr/>
          <p:nvPr/>
        </p:nvGrpSpPr>
        <p:grpSpPr>
          <a:xfrm>
            <a:off x="541891" y="1430219"/>
            <a:ext cx="10526159" cy="369332"/>
            <a:chOff x="541891" y="1430219"/>
            <a:chExt cx="10526159" cy="369332"/>
          </a:xfrm>
        </p:grpSpPr>
        <p:sp>
          <p:nvSpPr>
            <p:cNvPr id="29" name="TextBox 28">
              <a:extLst>
                <a:ext uri="{FF2B5EF4-FFF2-40B4-BE49-F238E27FC236}">
                  <a16:creationId xmlns:a16="http://schemas.microsoft.com/office/drawing/2014/main" id="{2168CD54-D633-5776-71CD-FD7897E3EC30}"/>
                </a:ext>
              </a:extLst>
            </p:cNvPr>
            <p:cNvSpPr txBox="1"/>
            <p:nvPr/>
          </p:nvSpPr>
          <p:spPr>
            <a:xfrm>
              <a:off x="743615" y="1430219"/>
              <a:ext cx="10324435" cy="369332"/>
            </a:xfrm>
            <a:prstGeom prst="rect">
              <a:avLst/>
            </a:prstGeom>
            <a:noFill/>
          </p:spPr>
          <p:txBody>
            <a:bodyPr wrap="square">
              <a:spAutoFit/>
            </a:bodyPr>
            <a:lstStyle/>
            <a:p>
              <a:pPr>
                <a:defRPr/>
              </a:pPr>
              <a:r>
                <a:rPr lang="ko-KR" altLang="en-US" dirty="0">
                  <a:ln>
                    <a:solidFill>
                      <a:schemeClr val="accent1">
                        <a:shade val="15000"/>
                        <a:alpha val="0"/>
                      </a:schemeClr>
                    </a:solidFill>
                  </a:ln>
                  <a:solidFill>
                    <a:schemeClr val="tx1">
                      <a:lumMod val="75000"/>
                      <a:lumOff val="25000"/>
                    </a:schemeClr>
                  </a:solidFill>
                  <a:latin typeface="+mj-ea"/>
                  <a:ea typeface="+mj-ea"/>
                </a:rPr>
                <a:t>품종 교체 1 회의 사람 시간을 1 시간에서 0.1 시간으로 — 수치는 BRD 가정이다</a:t>
              </a:r>
            </a:p>
          </p:txBody>
        </p:sp>
        <p:sp>
          <p:nvSpPr>
            <p:cNvPr id="30" name="그래픽 43">
              <a:extLst>
                <a:ext uri="{FF2B5EF4-FFF2-40B4-BE49-F238E27FC236}">
                  <a16:creationId xmlns:a16="http://schemas.microsoft.com/office/drawing/2014/main" id="{3A85AD0A-F31C-CE36-E2E5-7C20DEA387EC}"/>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31" name="TextBox 30">
            <a:extLst>
              <a:ext uri="{FF2B5EF4-FFF2-40B4-BE49-F238E27FC236}">
                <a16:creationId xmlns:a16="http://schemas.microsoft.com/office/drawing/2014/main" id="{F3F47CD5-B807-B83F-61E9-F4274413B9B9}"/>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32" name="TextBox 31">
            <a:extLst>
              <a:ext uri="{FF2B5EF4-FFF2-40B4-BE49-F238E27FC236}">
                <a16:creationId xmlns:a16="http://schemas.microsoft.com/office/drawing/2014/main" id="{33D5EC40-66CF-4031-0B6C-BB0FF72B95AC}"/>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01-⑤ 활용방안 · 기대효과</a:t>
            </a:r>
            <a:endParaRPr lang="ko-KR" altLang="en-US" sz="1400" b="1" spc="-100" dirty="0">
              <a:solidFill>
                <a:schemeClr val="accent1"/>
              </a:solidFill>
              <a:latin typeface="+mn-ea"/>
            </a:endParaRPr>
          </a:p>
        </p:txBody>
      </p:sp>
      <p:pic>
        <p:nvPicPr>
          <p:cNvPr id="33" name="Picture 32" descr="value-compare.png"/>
          <p:cNvPicPr>
            <a:picLocks noChangeAspect="1"/>
          </p:cNvPicPr>
          <p:nvPr/>
        </p:nvPicPr>
        <p:blipFill>
          <a:blip r:embed="rId21"/>
          <a:stretch>
            <a:fillRect/>
          </a:stretch>
        </p:blipFill>
        <p:spPr>
          <a:xfrm>
            <a:off x="457200" y="2240280"/>
            <a:ext cx="11274552" cy="4124836"/>
          </a:xfrm>
          <a:prstGeom prst="rect">
            <a:avLst/>
          </a:prstGeom>
        </p:spPr>
      </p:pic>
      <p:sp>
        <p:nvSpPr>
          <p:cNvPr id="34"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BRD v3.2.0 1.6(가정 A2 · A3 · A4 · 시나리오) · 1.3 · 2 장. 로봇 탐색 7.3 분 = 9/23 실기 438 s(#180, KPI 120 s 미달). 치수 = 캘리퍼 대비(#180)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1" name="그래픽 190">
            <a:extLst>
              <a:ext uri="{FF2B5EF4-FFF2-40B4-BE49-F238E27FC236}">
                <a16:creationId xmlns:a16="http://schemas.microsoft.com/office/drawing/2014/main" id="{B5967736-A99C-BBBF-FEBF-FDFE9F35EF96}"/>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83D39D92-E66A-0690-755F-95170021E213}"/>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팀 구성 및 역할</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02</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5" name="그룹 4">
            <a:extLst>
              <a:ext uri="{FF2B5EF4-FFF2-40B4-BE49-F238E27FC236}">
                <a16:creationId xmlns:a16="http://schemas.microsoft.com/office/drawing/2014/main" id="{E247BE64-85B5-7C04-D551-43D7EA2D00D1}"/>
              </a:ext>
            </a:extLst>
          </p:cNvPr>
          <p:cNvGrpSpPr/>
          <p:nvPr/>
        </p:nvGrpSpPr>
        <p:grpSpPr>
          <a:xfrm>
            <a:off x="541891" y="1430219"/>
            <a:ext cx="10526159" cy="369332"/>
            <a:chOff x="541891" y="1430219"/>
            <a:chExt cx="10526159" cy="369332"/>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369332"/>
            </a:xfrm>
            <a:prstGeom prst="rect">
              <a:avLst/>
            </a:prstGeom>
            <a:noFill/>
          </p:spPr>
          <p:txBody>
            <a:bodyPr wrap="square">
              <a:spAutoFit/>
            </a:bodyPr>
            <a:lstStyle/>
            <a:p>
              <a:pPr>
                <a:defRPr/>
              </a:pPr>
              <a:r>
                <a:rPr lang="ko-KR" altLang="en-US" b="1" dirty="0">
                  <a:ln>
                    <a:solidFill>
                      <a:schemeClr val="accent1">
                        <a:shade val="15000"/>
                        <a:alpha val="0"/>
                      </a:schemeClr>
                    </a:solidFill>
                  </a:ln>
                  <a:solidFill>
                    <a:schemeClr val="tx1">
                      <a:lumMod val="75000"/>
                      <a:lumOff val="25000"/>
                    </a:schemeClr>
                  </a:solidFill>
                  <a:latin typeface="+mj-ea"/>
                  <a:ea typeface="+mj-ea"/>
                </a:rPr>
                <a:t>네 명이 노드를 나눠 맡고, 계약 문서로 경계를 정했다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02 팀 구성 및 역할</a:t>
            </a:r>
            <a:endParaRPr lang="ko-KR" altLang="en-US" sz="1400" b="1" spc="-100" dirty="0">
              <a:solidFill>
                <a:schemeClr val="accent1"/>
              </a:solidFill>
              <a:latin typeface="+mn-ea"/>
            </a:endParaRPr>
          </a:p>
        </p:txBody>
      </p:sp>
      <p:sp>
        <p:nvSpPr>
          <p:cNvPr id="192" name="Rounded Rectangle 191"/>
          <p:cNvSpPr/>
          <p:nvPr/>
        </p:nvSpPr>
        <p:spPr>
          <a:xfrm>
            <a:off x="457200" y="2240280"/>
            <a:ext cx="2688336" cy="868680"/>
          </a:xfrm>
          <a:prstGeom prst="roundRect">
            <a:avLst>
              <a:gd name="adj" fmla="val 12000"/>
            </a:avLst>
          </a:prstGeom>
          <a:solidFill>
            <a:srgbClr val="2235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FFFFFF"/>
                </a:solidFill>
                <a:latin typeface="맑은 고딕"/>
                <a:ea typeface="맑은 고딕"/>
              </a:rPr>
              <a:t>박병후</a:t>
            </a:r>
          </a:p>
          <a:p>
            <a:pPr algn="ctr">
              <a:spcAft>
                <a:spcPts val="200"/>
              </a:spcAft>
            </a:pPr>
            <a:r>
              <a:rPr sz="1300" b="0">
                <a:solidFill>
                  <a:srgbClr val="FFFFFF"/>
                </a:solidFill>
                <a:latin typeface="맑은 고딕"/>
                <a:ea typeface="맑은 고딕"/>
              </a:rPr>
              <a:t>팀장 · 스캔 흐름 · 계약</a:t>
            </a:r>
          </a:p>
        </p:txBody>
      </p:sp>
      <p:sp>
        <p:nvSpPr>
          <p:cNvPr id="193" name="TextBox 192"/>
          <p:cNvSpPr txBox="1"/>
          <p:nvPr/>
        </p:nvSpPr>
        <p:spPr>
          <a:xfrm>
            <a:off x="457200" y="3182112"/>
            <a:ext cx="2688336" cy="1143000"/>
          </a:xfrm>
          <a:prstGeom prst="rect">
            <a:avLst/>
          </a:prstGeom>
          <a:solidFill>
            <a:srgbClr val="F2F5FA"/>
          </a:solidFill>
        </p:spPr>
        <p:txBody>
          <a:bodyPr wrap="square" anchor="t" tIns="54864" bIns="54864">
            <a:spAutoFit/>
          </a:bodyPr>
          <a:lstStyle/>
          <a:p>
            <a:pPr algn="ctr">
              <a:spcAft>
                <a:spcPts val="100"/>
              </a:spcAft>
            </a:pPr>
            <a:r>
              <a:rPr sz="1400" b="1">
                <a:solidFill>
                  <a:srgbClr val="22357F"/>
                </a:solidFill>
                <a:latin typeface="맑은 고딕"/>
                <a:ea typeface="맑은 고딕"/>
              </a:rPr>
              <a:t>scan_manager</a:t>
            </a:r>
          </a:p>
          <a:p>
            <a:pPr algn="ctr">
              <a:spcAft>
                <a:spcPts val="100"/>
              </a:spcAft>
            </a:pPr>
            <a:r>
              <a:rPr sz="1400" b="1">
                <a:solidFill>
                  <a:srgbClr val="22357F"/>
                </a:solidFill>
                <a:latin typeface="맑은 고딕"/>
                <a:ea typeface="맑은 고딕"/>
              </a:rPr>
              <a:t>result_store</a:t>
            </a:r>
          </a:p>
          <a:p>
            <a:pPr algn="ctr">
              <a:spcAft>
                <a:spcPts val="100"/>
              </a:spcAft>
            </a:pPr>
            <a:r>
              <a:rPr sz="1400" b="1">
                <a:solidFill>
                  <a:srgbClr val="22357F"/>
                </a:solidFill>
                <a:latin typeface="맑은 고딕"/>
                <a:ea typeface="맑은 고딕"/>
              </a:rPr>
              <a:t>contact_scan_interfaces</a:t>
            </a:r>
          </a:p>
        </p:txBody>
      </p:sp>
      <p:sp>
        <p:nvSpPr>
          <p:cNvPr id="194" name="TextBox 193"/>
          <p:cNvSpPr txBox="1"/>
          <p:nvPr/>
        </p:nvSpPr>
        <p:spPr>
          <a:xfrm>
            <a:off x="457200" y="4389120"/>
            <a:ext cx="2688336" cy="1097280"/>
          </a:xfrm>
          <a:prstGeom prst="rect">
            <a:avLst/>
          </a:prstGeom>
          <a:noFill/>
        </p:spPr>
        <p:txBody>
          <a:bodyPr wrap="square" anchor="t" tIns="54864" bIns="54864">
            <a:spAutoFit/>
          </a:bodyPr>
          <a:lstStyle/>
          <a:p>
            <a:pPr algn="ctr">
              <a:spcAft>
                <a:spcPts val="100"/>
              </a:spcAft>
            </a:pPr>
            <a:r>
              <a:rPr sz="1300" b="0">
                <a:solidFill>
                  <a:srgbClr val="262626"/>
                </a:solidFill>
                <a:latin typeface="맑은 고딕"/>
                <a:ea typeface="맑은 고딕"/>
              </a:rPr>
              <a:t>스캔 순서 상태기계</a:t>
            </a:r>
          </a:p>
          <a:p>
            <a:pPr algn="ctr">
              <a:spcAft>
                <a:spcPts val="100"/>
              </a:spcAft>
            </a:pPr>
            <a:r>
              <a:rPr sz="1300" b="0">
                <a:solidFill>
                  <a:srgbClr val="262626"/>
                </a:solidFill>
                <a:latin typeface="맑은 고딕"/>
                <a:ea typeface="맑은 고딕"/>
              </a:rPr>
              <a:t>중지 · 안전복귀 · 재시작</a:t>
            </a:r>
          </a:p>
          <a:p>
            <a:pPr algn="ctr">
              <a:spcAft>
                <a:spcPts val="100"/>
              </a:spcAft>
            </a:pPr>
            <a:r>
              <a:rPr sz="1300" b="0">
                <a:solidFill>
                  <a:srgbClr val="262626"/>
                </a:solidFill>
                <a:latin typeface="맑은 고딕"/>
                <a:ea typeface="맑은 고딕"/>
              </a:rPr>
              <a:t>결과 기록 · 설정 전파</a:t>
            </a:r>
          </a:p>
        </p:txBody>
      </p:sp>
      <p:sp>
        <p:nvSpPr>
          <p:cNvPr id="195" name="TextBox 194"/>
          <p:cNvSpPr txBox="1"/>
          <p:nvPr/>
        </p:nvSpPr>
        <p:spPr>
          <a:xfrm>
            <a:off x="457200" y="5440680"/>
            <a:ext cx="2688336" cy="320040"/>
          </a:xfrm>
          <a:prstGeom prst="rect">
            <a:avLst/>
          </a:prstGeom>
          <a:noFill/>
        </p:spPr>
        <p:txBody>
          <a:bodyPr wrap="square" anchor="t" tIns="54864" bIns="54864">
            <a:spAutoFit/>
          </a:bodyPr>
          <a:lstStyle/>
          <a:p>
            <a:pPr algn="ctr">
              <a:spcAft>
                <a:spcPts val="400"/>
              </a:spcAft>
            </a:pPr>
            <a:r>
              <a:rPr sz="1300" b="0">
                <a:solidFill>
                  <a:srgbClr val="7F7F7F"/>
                </a:solidFill>
                <a:latin typeface="맑은 고딕"/>
                <a:ea typeface="맑은 고딕"/>
              </a:rPr>
              <a:t>산출물 01 · 05 · 06 · BRD</a:t>
            </a:r>
          </a:p>
        </p:txBody>
      </p:sp>
      <p:sp>
        <p:nvSpPr>
          <p:cNvPr id="196" name="Rounded Rectangle 195"/>
          <p:cNvSpPr/>
          <p:nvPr/>
        </p:nvSpPr>
        <p:spPr>
          <a:xfrm>
            <a:off x="3319272" y="2240280"/>
            <a:ext cx="2688336" cy="868680"/>
          </a:xfrm>
          <a:prstGeom prst="roundRect">
            <a:avLst>
              <a:gd name="adj" fmla="val 12000"/>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FFFFFF"/>
                </a:solidFill>
                <a:latin typeface="맑은 고딕"/>
                <a:ea typeface="맑은 고딕"/>
              </a:rPr>
              <a:t>김학민</a:t>
            </a:r>
          </a:p>
          <a:p>
            <a:pPr algn="ctr">
              <a:spcAft>
                <a:spcPts val="200"/>
              </a:spcAft>
            </a:pPr>
            <a:r>
              <a:rPr sz="1300" b="0">
                <a:solidFill>
                  <a:srgbClr val="FFFFFF"/>
                </a:solidFill>
                <a:latin typeface="맑은 고딕"/>
                <a:ea typeface="맑은 고딕"/>
              </a:rPr>
              <a:t>로봇 제어 · 좌표 기준</a:t>
            </a:r>
          </a:p>
        </p:txBody>
      </p:sp>
      <p:sp>
        <p:nvSpPr>
          <p:cNvPr id="197" name="TextBox 196"/>
          <p:cNvSpPr txBox="1"/>
          <p:nvPr/>
        </p:nvSpPr>
        <p:spPr>
          <a:xfrm>
            <a:off x="3319272" y="3182112"/>
            <a:ext cx="2688336" cy="1143000"/>
          </a:xfrm>
          <a:prstGeom prst="rect">
            <a:avLst/>
          </a:prstGeom>
          <a:solidFill>
            <a:srgbClr val="F2F5FA"/>
          </a:solidFill>
        </p:spPr>
        <p:txBody>
          <a:bodyPr wrap="square" anchor="t" tIns="54864" bIns="54864">
            <a:spAutoFit/>
          </a:bodyPr>
          <a:lstStyle/>
          <a:p>
            <a:pPr algn="ctr">
              <a:spcAft>
                <a:spcPts val="100"/>
              </a:spcAft>
            </a:pPr>
            <a:r>
              <a:rPr sz="1400" b="1">
                <a:solidFill>
                  <a:srgbClr val="2E8B7A"/>
                </a:solidFill>
                <a:latin typeface="맑은 고딕"/>
                <a:ea typeface="맑은 고딕"/>
              </a:rPr>
              <a:t>robot_manager</a:t>
            </a:r>
          </a:p>
        </p:txBody>
      </p:sp>
      <p:sp>
        <p:nvSpPr>
          <p:cNvPr id="198" name="TextBox 197"/>
          <p:cNvSpPr txBox="1"/>
          <p:nvPr/>
        </p:nvSpPr>
        <p:spPr>
          <a:xfrm>
            <a:off x="3319272" y="4389120"/>
            <a:ext cx="2688336" cy="1097280"/>
          </a:xfrm>
          <a:prstGeom prst="rect">
            <a:avLst/>
          </a:prstGeom>
          <a:noFill/>
        </p:spPr>
        <p:txBody>
          <a:bodyPr wrap="square" anchor="t" tIns="54864" bIns="54864">
            <a:spAutoFit/>
          </a:bodyPr>
          <a:lstStyle/>
          <a:p>
            <a:pPr algn="ctr">
              <a:spcAft>
                <a:spcPts val="100"/>
              </a:spcAft>
            </a:pPr>
            <a:r>
              <a:rPr sz="1300" b="0">
                <a:solidFill>
                  <a:srgbClr val="262626"/>
                </a:solidFill>
                <a:latin typeface="맑은 고딕"/>
                <a:ea typeface="맑은 고딕"/>
              </a:rPr>
              <a:t>모션 · 힘/순응 제어</a:t>
            </a:r>
          </a:p>
          <a:p>
            <a:pPr algn="ctr">
              <a:spcAft>
                <a:spcPts val="100"/>
              </a:spcAft>
            </a:pPr>
            <a:r>
              <a:rPr sz="1300" b="0">
                <a:solidFill>
                  <a:srgbClr val="262626"/>
                </a:solidFill>
                <a:latin typeface="맑은 고딕"/>
                <a:ea typeface="맑은 고딕"/>
              </a:rPr>
              <a:t>샘플 발행</a:t>
            </a:r>
          </a:p>
          <a:p>
            <a:pPr algn="ctr">
              <a:spcAft>
                <a:spcPts val="100"/>
              </a:spcAft>
            </a:pPr>
            <a:r>
              <a:rPr sz="1300" b="0">
                <a:solidFill>
                  <a:srgbClr val="262626"/>
                </a:solidFill>
                <a:latin typeface="맑은 고딕"/>
                <a:ea typeface="맑은 고딕"/>
              </a:rPr>
              <a:t>TCP · 홈 · 작업대 원점</a:t>
            </a:r>
          </a:p>
        </p:txBody>
      </p:sp>
      <p:sp>
        <p:nvSpPr>
          <p:cNvPr id="199" name="TextBox 198"/>
          <p:cNvSpPr txBox="1"/>
          <p:nvPr/>
        </p:nvSpPr>
        <p:spPr>
          <a:xfrm>
            <a:off x="3319272" y="5440680"/>
            <a:ext cx="2688336" cy="320040"/>
          </a:xfrm>
          <a:prstGeom prst="rect">
            <a:avLst/>
          </a:prstGeom>
          <a:noFill/>
        </p:spPr>
        <p:txBody>
          <a:bodyPr wrap="square" anchor="t" tIns="54864" bIns="54864">
            <a:spAutoFit/>
          </a:bodyPr>
          <a:lstStyle/>
          <a:p>
            <a:pPr algn="ctr">
              <a:spcAft>
                <a:spcPts val="400"/>
              </a:spcAft>
            </a:pPr>
            <a:r>
              <a:rPr sz="1300" b="0">
                <a:solidFill>
                  <a:srgbClr val="7F7F7F"/>
                </a:solidFill>
                <a:latin typeface="맑은 고딕"/>
                <a:ea typeface="맑은 고딕"/>
              </a:rPr>
              <a:t>산출물 04 · 08 · 09</a:t>
            </a:r>
          </a:p>
        </p:txBody>
      </p:sp>
      <p:sp>
        <p:nvSpPr>
          <p:cNvPr id="200" name="Rounded Rectangle 199"/>
          <p:cNvSpPr/>
          <p:nvPr/>
        </p:nvSpPr>
        <p:spPr>
          <a:xfrm>
            <a:off x="6181344" y="2240280"/>
            <a:ext cx="2688336" cy="868680"/>
          </a:xfrm>
          <a:prstGeom prst="roundRect">
            <a:avLst>
              <a:gd name="adj" fmla="val 12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FFFFFF"/>
                </a:solidFill>
                <a:latin typeface="맑은 고딕"/>
                <a:ea typeface="맑은 고딕"/>
              </a:rPr>
              <a:t>남현지</a:t>
            </a:r>
          </a:p>
          <a:p>
            <a:pPr algn="ctr">
              <a:spcAft>
                <a:spcPts val="200"/>
              </a:spcAft>
            </a:pPr>
            <a:r>
              <a:rPr sz="1300" b="0">
                <a:solidFill>
                  <a:srgbClr val="FFFFFF"/>
                </a:solidFill>
                <a:latin typeface="맑은 고딕"/>
                <a:ea typeface="맑은 고딕"/>
              </a:rPr>
              <a:t>판정 · 안전 · 통합</a:t>
            </a:r>
          </a:p>
        </p:txBody>
      </p:sp>
      <p:sp>
        <p:nvSpPr>
          <p:cNvPr id="201" name="TextBox 200"/>
          <p:cNvSpPr txBox="1"/>
          <p:nvPr/>
        </p:nvSpPr>
        <p:spPr>
          <a:xfrm>
            <a:off x="6181344" y="3182112"/>
            <a:ext cx="2688336" cy="1143000"/>
          </a:xfrm>
          <a:prstGeom prst="rect">
            <a:avLst/>
          </a:prstGeom>
          <a:solidFill>
            <a:srgbClr val="F2F5FA"/>
          </a:solidFill>
        </p:spPr>
        <p:txBody>
          <a:bodyPr wrap="square" anchor="t" tIns="54864" bIns="54864">
            <a:spAutoFit/>
          </a:bodyPr>
          <a:lstStyle/>
          <a:p>
            <a:pPr algn="ctr">
              <a:spcAft>
                <a:spcPts val="100"/>
              </a:spcAft>
            </a:pPr>
            <a:r>
              <a:rPr sz="1400" b="1">
                <a:solidFill>
                  <a:srgbClr val="B8860B"/>
                </a:solidFill>
                <a:latin typeface="맑은 고딕"/>
                <a:ea typeface="맑은 고딕"/>
              </a:rPr>
              <a:t>contact_detector</a:t>
            </a:r>
          </a:p>
          <a:p>
            <a:pPr algn="ctr">
              <a:spcAft>
                <a:spcPts val="100"/>
              </a:spcAft>
            </a:pPr>
            <a:r>
              <a:rPr sz="1400" b="1">
                <a:solidFill>
                  <a:srgbClr val="B8860B"/>
                </a:solidFill>
                <a:latin typeface="맑은 고딕"/>
                <a:ea typeface="맑은 고딕"/>
              </a:rPr>
              <a:t>safety_monitor</a:t>
            </a:r>
          </a:p>
          <a:p>
            <a:pPr algn="ctr">
              <a:spcAft>
                <a:spcPts val="100"/>
              </a:spcAft>
            </a:pPr>
            <a:r>
              <a:rPr sz="1400" b="1">
                <a:solidFill>
                  <a:srgbClr val="B8860B"/>
                </a:solidFill>
                <a:latin typeface="맑은 고딕"/>
                <a:ea typeface="맑은 고딕"/>
              </a:rPr>
              <a:t>geometry_estimator</a:t>
            </a:r>
          </a:p>
          <a:p>
            <a:pPr algn="ctr">
              <a:spcAft>
                <a:spcPts val="100"/>
              </a:spcAft>
            </a:pPr>
            <a:r>
              <a:rPr sz="1400" b="1">
                <a:solidFill>
                  <a:srgbClr val="B8860B"/>
                </a:solidFill>
                <a:latin typeface="맑은 고딕"/>
                <a:ea typeface="맑은 고딕"/>
              </a:rPr>
              <a:t>bringup</a:t>
            </a:r>
          </a:p>
        </p:txBody>
      </p:sp>
      <p:sp>
        <p:nvSpPr>
          <p:cNvPr id="202" name="TextBox 201"/>
          <p:cNvSpPr txBox="1"/>
          <p:nvPr/>
        </p:nvSpPr>
        <p:spPr>
          <a:xfrm>
            <a:off x="6181344" y="4389120"/>
            <a:ext cx="2688336" cy="1097280"/>
          </a:xfrm>
          <a:prstGeom prst="rect">
            <a:avLst/>
          </a:prstGeom>
          <a:noFill/>
        </p:spPr>
        <p:txBody>
          <a:bodyPr wrap="square" anchor="t" tIns="54864" bIns="54864">
            <a:spAutoFit/>
          </a:bodyPr>
          <a:lstStyle/>
          <a:p>
            <a:pPr algn="ctr">
              <a:spcAft>
                <a:spcPts val="100"/>
              </a:spcAft>
            </a:pPr>
            <a:r>
              <a:rPr sz="1300" b="0">
                <a:solidFill>
                  <a:srgbClr val="262626"/>
                </a:solidFill>
                <a:latin typeface="맑은 고딕"/>
                <a:ea typeface="맑은 고딕"/>
              </a:rPr>
              <a:t>접촉 · 모서리 판정</a:t>
            </a:r>
          </a:p>
          <a:p>
            <a:pPr algn="ctr">
              <a:spcAft>
                <a:spcPts val="100"/>
              </a:spcAft>
            </a:pPr>
            <a:r>
              <a:rPr sz="1300" b="0">
                <a:solidFill>
                  <a:srgbClr val="262626"/>
                </a:solidFill>
                <a:latin typeface="맑은 고딕"/>
                <a:ea typeface="맑은 고딕"/>
              </a:rPr>
              <a:t>두 겹 안전 감시</a:t>
            </a:r>
          </a:p>
          <a:p>
            <a:pPr algn="ctr">
              <a:spcAft>
                <a:spcPts val="100"/>
              </a:spcAft>
            </a:pPr>
            <a:r>
              <a:rPr sz="1300" b="0">
                <a:solidFill>
                  <a:srgbClr val="262626"/>
                </a:solidFill>
                <a:latin typeface="맑은 고딕"/>
                <a:ea typeface="맑은 고딕"/>
              </a:rPr>
              <a:t>형상 계산 · 통합 빌드</a:t>
            </a:r>
          </a:p>
        </p:txBody>
      </p:sp>
      <p:sp>
        <p:nvSpPr>
          <p:cNvPr id="203" name="TextBox 202"/>
          <p:cNvSpPr txBox="1"/>
          <p:nvPr/>
        </p:nvSpPr>
        <p:spPr>
          <a:xfrm>
            <a:off x="6181344" y="5440680"/>
            <a:ext cx="2688336" cy="320040"/>
          </a:xfrm>
          <a:prstGeom prst="rect">
            <a:avLst/>
          </a:prstGeom>
          <a:noFill/>
        </p:spPr>
        <p:txBody>
          <a:bodyPr wrap="square" anchor="t" tIns="54864" bIns="54864">
            <a:spAutoFit/>
          </a:bodyPr>
          <a:lstStyle/>
          <a:p>
            <a:pPr algn="ctr">
              <a:spcAft>
                <a:spcPts val="400"/>
              </a:spcAft>
            </a:pPr>
            <a:r>
              <a:rPr sz="1300" b="0">
                <a:solidFill>
                  <a:srgbClr val="7F7F7F"/>
                </a:solidFill>
                <a:latin typeface="맑은 고딕"/>
                <a:ea typeface="맑은 고딕"/>
              </a:rPr>
              <a:t>산출물 02 (메인 PC) · 03</a:t>
            </a:r>
          </a:p>
        </p:txBody>
      </p:sp>
      <p:sp>
        <p:nvSpPr>
          <p:cNvPr id="204" name="Rounded Rectangle 203"/>
          <p:cNvSpPr/>
          <p:nvPr/>
        </p:nvSpPr>
        <p:spPr>
          <a:xfrm>
            <a:off x="9043416" y="2240280"/>
            <a:ext cx="2688336" cy="868680"/>
          </a:xfrm>
          <a:prstGeom prst="roundRect">
            <a:avLst>
              <a:gd name="adj" fmla="val 12000"/>
            </a:avLst>
          </a:prstGeom>
          <a:solidFill>
            <a:srgbClr val="A051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FFFFFF"/>
                </a:solidFill>
                <a:latin typeface="맑은 고딕"/>
                <a:ea typeface="맑은 고딕"/>
              </a:rPr>
              <a:t>정의석</a:t>
            </a:r>
          </a:p>
          <a:p>
            <a:pPr algn="ctr">
              <a:spcAft>
                <a:spcPts val="200"/>
              </a:spcAft>
            </a:pPr>
            <a:r>
              <a:rPr sz="1300" b="0">
                <a:solidFill>
                  <a:srgbClr val="FFFFFF"/>
                </a:solidFill>
                <a:latin typeface="맑은 고딕"/>
                <a:ea typeface="맑은 고딕"/>
              </a:rPr>
              <a:t>관제 화면 · 연동</a:t>
            </a:r>
          </a:p>
        </p:txBody>
      </p:sp>
      <p:sp>
        <p:nvSpPr>
          <p:cNvPr id="205" name="TextBox 204"/>
          <p:cNvSpPr txBox="1"/>
          <p:nvPr/>
        </p:nvSpPr>
        <p:spPr>
          <a:xfrm>
            <a:off x="9043416" y="3182112"/>
            <a:ext cx="2688336" cy="1143000"/>
          </a:xfrm>
          <a:prstGeom prst="rect">
            <a:avLst/>
          </a:prstGeom>
          <a:solidFill>
            <a:srgbClr val="F2F5FA"/>
          </a:solidFill>
        </p:spPr>
        <p:txBody>
          <a:bodyPr wrap="square" anchor="t" tIns="54864" bIns="54864">
            <a:spAutoFit/>
          </a:bodyPr>
          <a:lstStyle/>
          <a:p>
            <a:pPr algn="ctr">
              <a:spcAft>
                <a:spcPts val="100"/>
              </a:spcAft>
            </a:pPr>
            <a:r>
              <a:rPr sz="1400" b="1">
                <a:solidFill>
                  <a:srgbClr val="A05195"/>
                </a:solidFill>
                <a:latin typeface="맑은 고딕"/>
                <a:ea typeface="맑은 고딕"/>
              </a:rPr>
              <a:t>mqtt_bridge</a:t>
            </a:r>
          </a:p>
          <a:p>
            <a:pPr algn="ctr">
              <a:spcAft>
                <a:spcPts val="100"/>
              </a:spcAft>
            </a:pPr>
            <a:r>
              <a:rPr sz="1400" b="1">
                <a:solidFill>
                  <a:srgbClr val="A05195"/>
                </a:solidFill>
                <a:latin typeface="맑은 고딕"/>
                <a:ea typeface="맑은 고딕"/>
              </a:rPr>
              <a:t>FastAPI · Spring</a:t>
            </a:r>
          </a:p>
          <a:p>
            <a:pPr algn="ctr">
              <a:spcAft>
                <a:spcPts val="100"/>
              </a:spcAft>
            </a:pPr>
            <a:r>
              <a:rPr sz="1400" b="1">
                <a:solidFill>
                  <a:srgbClr val="A05195"/>
                </a:solidFill>
                <a:latin typeface="맑은 고딕"/>
                <a:ea typeface="맑은 고딕"/>
              </a:rPr>
              <a:t>React 3D</a:t>
            </a:r>
          </a:p>
        </p:txBody>
      </p:sp>
      <p:sp>
        <p:nvSpPr>
          <p:cNvPr id="206" name="TextBox 205"/>
          <p:cNvSpPr txBox="1"/>
          <p:nvPr/>
        </p:nvSpPr>
        <p:spPr>
          <a:xfrm>
            <a:off x="9043416" y="4389120"/>
            <a:ext cx="2688336" cy="1097280"/>
          </a:xfrm>
          <a:prstGeom prst="rect">
            <a:avLst/>
          </a:prstGeom>
          <a:noFill/>
        </p:spPr>
        <p:txBody>
          <a:bodyPr wrap="square" anchor="t" tIns="54864" bIns="54864">
            <a:spAutoFit/>
          </a:bodyPr>
          <a:lstStyle/>
          <a:p>
            <a:pPr algn="ctr">
              <a:spcAft>
                <a:spcPts val="100"/>
              </a:spcAft>
            </a:pPr>
            <a:r>
              <a:rPr sz="1300" b="0">
                <a:solidFill>
                  <a:srgbClr val="262626"/>
                </a:solidFill>
                <a:latin typeface="맑은 고딕"/>
                <a:ea typeface="맑은 고딕"/>
              </a:rPr>
              <a:t>ROS ↔ MQTT</a:t>
            </a:r>
          </a:p>
          <a:p>
            <a:pPr algn="ctr">
              <a:spcAft>
                <a:spcPts val="100"/>
              </a:spcAft>
            </a:pPr>
            <a:r>
              <a:rPr sz="1300" b="0">
                <a:solidFill>
                  <a:srgbClr val="262626"/>
                </a:solidFill>
                <a:latin typeface="맑은 고딕"/>
                <a:ea typeface="맑은 고딕"/>
              </a:rPr>
              <a:t>3D 관제 · 명령</a:t>
            </a:r>
          </a:p>
          <a:p>
            <a:pPr algn="ctr">
              <a:spcAft>
                <a:spcPts val="100"/>
              </a:spcAft>
            </a:pPr>
            <a:r>
              <a:rPr sz="1300" b="0">
                <a:solidFill>
                  <a:srgbClr val="262626"/>
                </a:solidFill>
                <a:latin typeface="맑은 고딕"/>
                <a:ea typeface="맑은 고딕"/>
              </a:rPr>
              <a:t>저장 · 조회</a:t>
            </a:r>
          </a:p>
        </p:txBody>
      </p:sp>
      <p:sp>
        <p:nvSpPr>
          <p:cNvPr id="207" name="TextBox 206"/>
          <p:cNvSpPr txBox="1"/>
          <p:nvPr/>
        </p:nvSpPr>
        <p:spPr>
          <a:xfrm>
            <a:off x="9043416" y="5440680"/>
            <a:ext cx="2688336" cy="320040"/>
          </a:xfrm>
          <a:prstGeom prst="rect">
            <a:avLst/>
          </a:prstGeom>
          <a:noFill/>
        </p:spPr>
        <p:txBody>
          <a:bodyPr wrap="square" anchor="t" tIns="54864" bIns="54864">
            <a:spAutoFit/>
          </a:bodyPr>
          <a:lstStyle/>
          <a:p>
            <a:pPr algn="ctr">
              <a:spcAft>
                <a:spcPts val="400"/>
              </a:spcAft>
            </a:pPr>
            <a:r>
              <a:rPr sz="1300" b="0">
                <a:solidFill>
                  <a:srgbClr val="7F7F7F"/>
                </a:solidFill>
                <a:latin typeface="맑은 고딕"/>
                <a:ea typeface="맑은 고딕"/>
              </a:rPr>
              <a:t>산출물 02 (웹 PC) · 07</a:t>
            </a:r>
          </a:p>
        </p:txBody>
      </p:sp>
      <p:sp>
        <p:nvSpPr>
          <p:cNvPr id="208" name="Rounded Rectangle 207"/>
          <p:cNvSpPr/>
          <p:nvPr/>
        </p:nvSpPr>
        <p:spPr>
          <a:xfrm>
            <a:off x="457200" y="5852160"/>
            <a:ext cx="11274552" cy="5029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500" b="1">
                <a:solidFill>
                  <a:srgbClr val="22357F"/>
                </a:solidFill>
                <a:latin typeface="맑은 고딕"/>
                <a:ea typeface="맑은 고딕"/>
              </a:rPr>
              <a:t>멘토 이일주 — 주제 선정 피드백 · 질의응답 · 중간 점검</a:t>
            </a:r>
          </a:p>
        </p:txBody>
      </p:sp>
      <p:sp>
        <p:nvSpPr>
          <p:cNvPr id="209"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ws_cobot1/src/README.md 담당 표 · docs/deliverables/README.md 2 · 3 절 · docs/presentation/outline-v1.md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19" name="그래픽 118">
            <a:extLst>
              <a:ext uri="{FF2B5EF4-FFF2-40B4-BE49-F238E27FC236}">
                <a16:creationId xmlns:a16="http://schemas.microsoft.com/office/drawing/2014/main" id="{3B28FD1B-8CAB-173B-64DC-E4F111CEEE03}"/>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47EEA120-670B-DBF5-A1A9-F8E6683304B4}"/>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절차 및 방법</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03</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8"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8" name="그룹 7">
            <a:extLst>
              <a:ext uri="{FF2B5EF4-FFF2-40B4-BE49-F238E27FC236}">
                <a16:creationId xmlns:a16="http://schemas.microsoft.com/office/drawing/2014/main" id="{985117FB-7436-83E8-CACF-9CC7B72D9274}"/>
              </a:ext>
            </a:extLst>
          </p:cNvPr>
          <p:cNvGrpSpPr/>
          <p:nvPr/>
        </p:nvGrpSpPr>
        <p:grpSpPr>
          <a:xfrm>
            <a:off x="541891" y="1430219"/>
            <a:ext cx="10526159" cy="369332"/>
            <a:chOff x="541891" y="1430219"/>
            <a:chExt cx="10526159" cy="369332"/>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369332"/>
            </a:xfrm>
            <a:prstGeom prst="rect">
              <a:avLst/>
            </a:prstGeom>
            <a:noFill/>
          </p:spPr>
          <p:txBody>
            <a:bodyPr wrap="square">
              <a:spAutoFit/>
            </a:bodyPr>
            <a:lstStyle/>
            <a:p>
              <a:pPr>
                <a:defRPr/>
              </a:pPr>
              <a:r>
                <a:rPr lang="ko-KR" altLang="en-US" b="1" dirty="0">
                  <a:ln>
                    <a:solidFill>
                      <a:schemeClr val="accent1">
                        <a:shade val="15000"/>
                        <a:alpha val="0"/>
                      </a:schemeClr>
                    </a:solidFill>
                  </a:ln>
                  <a:solidFill>
                    <a:schemeClr val="tx1">
                      <a:lumMod val="75000"/>
                      <a:lumOff val="25000"/>
                    </a:schemeClr>
                  </a:solidFill>
                  <a:latin typeface="+mj-ea"/>
                  <a:ea typeface="+mj-ea"/>
                </a:rPr>
                <a:t>계약을 먼저 동결하고, 모듈 → 통합 → 실기를 엿새 안에 끝냈다 (9/18 ~ 9/23)</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03 수행 절차 · 일정</a:t>
            </a:r>
            <a:endParaRPr lang="ko-KR" altLang="en-US" sz="1400" b="1" spc="-100" dirty="0">
              <a:solidFill>
                <a:schemeClr val="accent1"/>
              </a:solidFill>
              <a:latin typeface="+mn-ea"/>
            </a:endParaRPr>
          </a:p>
        </p:txBody>
      </p:sp>
      <p:graphicFrame>
        <p:nvGraphicFramePr>
          <p:cNvPr id="120" name="Table 119"/>
          <p:cNvGraphicFramePr>
            <a:graphicFrameLocks noGrp="1"/>
          </p:cNvGraphicFramePr>
          <p:nvPr/>
        </p:nvGraphicFramePr>
        <p:xfrm>
          <a:off x="457200" y="2286000"/>
          <a:ext cx="11274552" cy="3968496"/>
        </p:xfrm>
        <a:graphic>
          <a:graphicData uri="http://schemas.openxmlformats.org/drawingml/2006/table">
            <a:tbl>
              <a:tblPr firstRow="1" bandRow="1">
                <a:tableStyleId>{5C22544A-7EE6-4342-B048-85BDC9FD1C3A}</a:tableStyleId>
              </a:tblPr>
              <a:tblGrid>
                <a:gridCol w="2377440"/>
                <a:gridCol w="1737360"/>
                <a:gridCol w="4023360"/>
                <a:gridCol w="3136392"/>
              </a:tblGrid>
              <a:tr h="566928">
                <a:tc>
                  <a:txBody>
                    <a:bodyPr wrap="square"/>
                    <a:lstStyle/>
                    <a:p>
                      <a:r>
                        <a:rPr sz="1500" b="1">
                          <a:solidFill>
                            <a:srgbClr val="FFFFFF"/>
                          </a:solidFill>
                          <a:latin typeface="맑은 고딕"/>
                          <a:ea typeface="맑은 고딕"/>
                        </a:rPr>
                        <a:t>단계</a:t>
                      </a:r>
                    </a:p>
                  </a:txBody>
                  <a:tcPr marL="73152" marR="73152" marT="27432" marB="27432" anchor="ctr">
                    <a:solidFill>
                      <a:srgbClr val="3378C8"/>
                    </a:solidFill>
                  </a:tcPr>
                </a:tc>
                <a:tc>
                  <a:txBody>
                    <a:bodyPr wrap="square"/>
                    <a:lstStyle/>
                    <a:p>
                      <a:r>
                        <a:rPr sz="1500" b="1">
                          <a:solidFill>
                            <a:srgbClr val="FFFFFF"/>
                          </a:solidFill>
                          <a:latin typeface="맑은 고딕"/>
                          <a:ea typeface="맑은 고딕"/>
                        </a:rPr>
                        <a:t>기간</a:t>
                      </a:r>
                    </a:p>
                  </a:txBody>
                  <a:tcPr marL="73152" marR="73152" marT="27432" marB="27432" anchor="ctr">
                    <a:solidFill>
                      <a:srgbClr val="3378C8"/>
                    </a:solidFill>
                  </a:tcPr>
                </a:tc>
                <a:tc>
                  <a:txBody>
                    <a:bodyPr wrap="square"/>
                    <a:lstStyle/>
                    <a:p>
                      <a:r>
                        <a:rPr sz="1500" b="1">
                          <a:solidFill>
                            <a:srgbClr val="FFFFFF"/>
                          </a:solidFill>
                          <a:latin typeface="맑은 고딕"/>
                          <a:ea typeface="맑은 고딕"/>
                        </a:rPr>
                        <a:t>한 일</a:t>
                      </a:r>
                    </a:p>
                  </a:txBody>
                  <a:tcPr marL="73152" marR="73152" marT="27432" marB="27432" anchor="ctr">
                    <a:solidFill>
                      <a:srgbClr val="3378C8"/>
                    </a:solidFill>
                  </a:tcPr>
                </a:tc>
                <a:tc>
                  <a:txBody>
                    <a:bodyPr wrap="square"/>
                    <a:lstStyle/>
                    <a:p>
                      <a:r>
                        <a:rPr sz="1500" b="1">
                          <a:solidFill>
                            <a:srgbClr val="FFFFFF"/>
                          </a:solidFill>
                          <a:latin typeface="맑은 고딕"/>
                          <a:ea typeface="맑은 고딕"/>
                        </a:rPr>
                        <a:t>결과물</a:t>
                      </a:r>
                    </a:p>
                  </a:txBody>
                  <a:tcPr marL="73152" marR="73152" marT="27432" marB="27432" anchor="ctr">
                    <a:solidFill>
                      <a:srgbClr val="3378C8"/>
                    </a:solidFill>
                  </a:tcPr>
                </a:tc>
              </a:tr>
              <a:tr h="566928">
                <a:tc>
                  <a:txBody>
                    <a:bodyPr wrap="square"/>
                    <a:lstStyle/>
                    <a:p>
                      <a:r>
                        <a:rPr sz="1500" b="1">
                          <a:solidFill>
                            <a:srgbClr val="262626"/>
                          </a:solidFill>
                          <a:latin typeface="맑은 고딕"/>
                          <a:ea typeface="맑은 고딕"/>
                        </a:rPr>
                        <a:t>기획</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9/14 ~ 9/17</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주제 · 요구사항 · 설계 초안</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BRD · 설계 문서</a:t>
                      </a:r>
                    </a:p>
                  </a:txBody>
                  <a:tcPr marL="73152" marR="73152" marT="27432" marB="27432" anchor="ctr">
                    <a:solidFill>
                      <a:srgbClr val="FFFFFF"/>
                    </a:solidFill>
                  </a:tcPr>
                </a:tc>
              </a:tr>
              <a:tr h="566928">
                <a:tc>
                  <a:txBody>
                    <a:bodyPr wrap="square"/>
                    <a:lstStyle/>
                    <a:p>
                      <a:r>
                        <a:rPr sz="1500" b="1">
                          <a:solidFill>
                            <a:srgbClr val="262626"/>
                          </a:solidFill>
                          <a:latin typeface="맑은 고딕"/>
                          <a:ea typeface="맑은 고딕"/>
                        </a:rPr>
                        <a:t>계약 동결</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9/18</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토픽 · 서비스 · MQTT · 좌표 규칙</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계약 v0.1</a:t>
                      </a:r>
                    </a:p>
                  </a:txBody>
                  <a:tcPr marL="73152" marR="73152" marT="27432" marB="27432" anchor="ctr">
                    <a:solidFill>
                      <a:srgbClr val="F2F5FA"/>
                    </a:solidFill>
                  </a:tcPr>
                </a:tc>
              </a:tr>
              <a:tr h="566928">
                <a:tc>
                  <a:txBody>
                    <a:bodyPr wrap="square"/>
                    <a:lstStyle/>
                    <a:p>
                      <a:r>
                        <a:rPr sz="1500" b="1">
                          <a:solidFill>
                            <a:srgbClr val="262626"/>
                          </a:solidFill>
                          <a:latin typeface="맑은 고딕"/>
                          <a:ea typeface="맑은 고딕"/>
                        </a:rPr>
                        <a:t>모듈 개발</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9/19 ~ 9/20</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노드별 병렬 구현 · sim</a:t>
                      </a:r>
                    </a:p>
                  </a:txBody>
                  <a:tcPr marL="73152" marR="73152" marT="27432" marB="27432" anchor="ctr">
                    <a:solidFill>
                      <a:srgbClr val="FFFFFF"/>
                    </a:solidFill>
                  </a:tcPr>
                </a:tc>
                <a:tc>
                  <a:txBody>
                    <a:bodyPr wrap="square"/>
                    <a:lstStyle/>
                    <a:p>
                      <a:r>
                        <a:rPr sz="1500" b="0">
                          <a:solidFill>
                            <a:srgbClr val="262626"/>
                          </a:solidFill>
                          <a:latin typeface="맑은 고딕"/>
                          <a:ea typeface="맑은 고딕"/>
                        </a:rPr>
                        <a:t>노드 5 + 웹</a:t>
                      </a:r>
                    </a:p>
                  </a:txBody>
                  <a:tcPr marL="73152" marR="73152" marT="27432" marB="27432" anchor="ctr">
                    <a:solidFill>
                      <a:srgbClr val="FFFFFF"/>
                    </a:solidFill>
                  </a:tcPr>
                </a:tc>
              </a:tr>
              <a:tr h="566928">
                <a:tc>
                  <a:txBody>
                    <a:bodyPr wrap="square"/>
                    <a:lstStyle/>
                    <a:p>
                      <a:r>
                        <a:rPr sz="1500" b="1">
                          <a:solidFill>
                            <a:srgbClr val="262626"/>
                          </a:solidFill>
                          <a:latin typeface="맑은 고딕"/>
                          <a:ea typeface="맑은 고딕"/>
                        </a:rPr>
                        <a:t>통합 · 실기</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9/21 ~ 9/23</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sim → 에뮬레이터 → 실기</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실기 종단 3 회 연속</a:t>
                      </a:r>
                    </a:p>
                  </a:txBody>
                  <a:tcPr marL="73152" marR="73152" marT="27432" marB="27432" anchor="ctr">
                    <a:solidFill>
                      <a:srgbClr val="F2F5FA"/>
                    </a:solidFill>
                  </a:tcPr>
                </a:tc>
              </a:tr>
              <a:tr h="566928">
                <a:tc>
                  <a:txBody>
                    <a:bodyPr wrap="square"/>
                    <a:lstStyle/>
                    <a:p>
                      <a:r>
                        <a:rPr sz="1500" b="1">
                          <a:solidFill>
                            <a:srgbClr val="D2691E"/>
                          </a:solidFill>
                          <a:latin typeface="맑은 고딕"/>
                          <a:ea typeface="맑은 고딕"/>
                        </a:rPr>
                        <a:t>[뺄 수 있음] phase 2</a:t>
                      </a:r>
                    </a:p>
                  </a:txBody>
                  <a:tcPr marL="73152" marR="73152" marT="27432" marB="27432" anchor="ctr">
                    <a:solidFill>
                      <a:srgbClr val="FFF1E0"/>
                    </a:solidFill>
                  </a:tcPr>
                </a:tc>
                <a:tc>
                  <a:txBody>
                    <a:bodyPr wrap="square"/>
                    <a:lstStyle/>
                    <a:p>
                      <a:r>
                        <a:rPr sz="1500" b="0">
                          <a:solidFill>
                            <a:srgbClr val="D2691E"/>
                          </a:solidFill>
                          <a:latin typeface="맑은 고딕"/>
                          <a:ea typeface="맑은 고딕"/>
                        </a:rPr>
                        <a:t>9/24 ~ 9/29</a:t>
                      </a:r>
                    </a:p>
                  </a:txBody>
                  <a:tcPr marL="73152" marR="73152" marT="27432" marB="27432" anchor="ctr">
                    <a:solidFill>
                      <a:srgbClr val="FFF1E0"/>
                    </a:solidFill>
                  </a:tcPr>
                </a:tc>
                <a:tc>
                  <a:txBody>
                    <a:bodyPr wrap="square"/>
                    <a:lstStyle/>
                    <a:p>
                      <a:r>
                        <a:rPr sz="1500" b="0">
                          <a:solidFill>
                            <a:srgbClr val="D2691E"/>
                          </a:solidFill>
                          <a:latin typeface="맑은 고딕"/>
                          <a:ea typeface="맑은 고딕"/>
                        </a:rPr>
                        <a:t>스캔 결과로 용접 모션</a:t>
                      </a:r>
                    </a:p>
                  </a:txBody>
                  <a:tcPr marL="73152" marR="73152" marT="27432" marB="27432" anchor="ctr">
                    <a:solidFill>
                      <a:srgbClr val="FFF1E0"/>
                    </a:solidFill>
                  </a:tcPr>
                </a:tc>
                <a:tc>
                  <a:txBody>
                    <a:bodyPr wrap="square"/>
                    <a:lstStyle/>
                    <a:p>
                      <a:r>
                        <a:rPr sz="1500" b="0">
                          <a:solidFill>
                            <a:srgbClr val="D2691E"/>
                          </a:solidFill>
                          <a:latin typeface="맑은 고딕"/>
                          <a:ea typeface="맑은 고딕"/>
                        </a:rPr>
                        <a:t>docs/phase2</a:t>
                      </a:r>
                    </a:p>
                  </a:txBody>
                  <a:tcPr marL="73152" marR="73152" marT="27432" marB="27432" anchor="ctr">
                    <a:solidFill>
                      <a:srgbClr val="FFF1E0"/>
                    </a:solidFill>
                  </a:tcPr>
                </a:tc>
              </a:tr>
              <a:tr h="566928">
                <a:tc>
                  <a:txBody>
                    <a:bodyPr wrap="square"/>
                    <a:lstStyle/>
                    <a:p>
                      <a:r>
                        <a:rPr sz="1500" b="1">
                          <a:solidFill>
                            <a:srgbClr val="262626"/>
                          </a:solidFill>
                          <a:latin typeface="맑은 고딕"/>
                          <a:ea typeface="맑은 고딕"/>
                        </a:rPr>
                        <a:t>발표</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9/30</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결과 보고 · 평가</a:t>
                      </a:r>
                    </a:p>
                  </a:txBody>
                  <a:tcPr marL="73152" marR="73152" marT="27432" marB="27432" anchor="ctr">
                    <a:solidFill>
                      <a:srgbClr val="F2F5FA"/>
                    </a:solidFill>
                  </a:tcPr>
                </a:tc>
                <a:tc>
                  <a:txBody>
                    <a:bodyPr wrap="square"/>
                    <a:lstStyle/>
                    <a:p>
                      <a:r>
                        <a:rPr sz="1500" b="0">
                          <a:solidFill>
                            <a:srgbClr val="262626"/>
                          </a:solidFill>
                          <a:latin typeface="맑은 고딕"/>
                          <a:ea typeface="맑은 고딕"/>
                        </a:rPr>
                        <a:t>발표 · 영상 · 소스</a:t>
                      </a:r>
                    </a:p>
                  </a:txBody>
                  <a:tcPr marL="73152" marR="73152" marT="27432" marB="27432" anchor="ctr">
                    <a:solidFill>
                      <a:srgbClr val="F2F5FA"/>
                    </a:solidFill>
                  </a:tcPr>
                </a:tc>
              </a:tr>
            </a:tbl>
          </a:graphicData>
        </a:graphic>
      </p:graphicFrame>
      <p:sp>
        <p:nvSpPr>
          <p:cNvPr id="121"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outline-v1.md · conventions.md(9/21 기능 동결) · PR #179(튜닝) · 9/23 시연 영상(팀원 4 명 입회). 주황 행은 [뺄 수 있음] — 행만 지운다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19" name="그래픽 118">
            <a:extLst>
              <a:ext uri="{FF2B5EF4-FFF2-40B4-BE49-F238E27FC236}">
                <a16:creationId xmlns:a16="http://schemas.microsoft.com/office/drawing/2014/main" id="{3B28FD1B-8CAB-173B-64DC-E4F111CEEE03}"/>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47EEA120-670B-DBF5-A1A9-F8E6683304B4}"/>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절차 및 방법</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03</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8"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8" name="그룹 7">
            <a:extLst>
              <a:ext uri="{FF2B5EF4-FFF2-40B4-BE49-F238E27FC236}">
                <a16:creationId xmlns:a16="http://schemas.microsoft.com/office/drawing/2014/main" id="{985117FB-7436-83E8-CACF-9CC7B72D9274}"/>
              </a:ext>
            </a:extLst>
          </p:cNvPr>
          <p:cNvGrpSpPr/>
          <p:nvPr/>
        </p:nvGrpSpPr>
        <p:grpSpPr>
          <a:xfrm>
            <a:off x="541891" y="1430219"/>
            <a:ext cx="10526159" cy="369332"/>
            <a:chOff x="541891" y="1430219"/>
            <a:chExt cx="10526159" cy="369332"/>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369332"/>
            </a:xfrm>
            <a:prstGeom prst="rect">
              <a:avLst/>
            </a:prstGeom>
            <a:noFill/>
          </p:spPr>
          <p:txBody>
            <a:bodyPr wrap="square">
              <a:spAutoFit/>
            </a:bodyPr>
            <a:lstStyle/>
            <a:p>
              <a:pPr>
                <a:defRPr/>
              </a:pPr>
              <a:r>
                <a:rPr lang="ko-KR" altLang="en-US" b="1" dirty="0">
                  <a:ln>
                    <a:solidFill>
                      <a:schemeClr val="accent1">
                        <a:shade val="15000"/>
                        <a:alpha val="0"/>
                      </a:schemeClr>
                    </a:solidFill>
                  </a:ln>
                  <a:solidFill>
                    <a:schemeClr val="tx1">
                      <a:lumMod val="75000"/>
                      <a:lumOff val="25000"/>
                    </a:schemeClr>
                  </a:solidFill>
                  <a:latin typeface="+mj-ea"/>
                  <a:ea typeface="+mj-ea"/>
                </a:rPr>
                <a:t>요구 → 계약 → 병렬 개발 → sim → 에뮬레이터 → 실기 → 시험 보고 순서로 검증했다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03 수행 절차 · 도식</a:t>
            </a:r>
            <a:endParaRPr lang="ko-KR" altLang="en-US" sz="1400" b="1" spc="-100" dirty="0">
              <a:solidFill>
                <a:schemeClr val="accent1"/>
              </a:solidFill>
              <a:latin typeface="+mn-ea"/>
            </a:endParaRPr>
          </a:p>
        </p:txBody>
      </p:sp>
      <p:pic>
        <p:nvPicPr>
          <p:cNvPr id="120" name="Picture 119" descr="method-procedure.png"/>
          <p:cNvPicPr>
            <a:picLocks noChangeAspect="1"/>
          </p:cNvPicPr>
          <p:nvPr/>
        </p:nvPicPr>
        <p:blipFill>
          <a:blip r:embed="rId12"/>
          <a:stretch>
            <a:fillRect/>
          </a:stretch>
        </p:blipFill>
        <p:spPr>
          <a:xfrm>
            <a:off x="457200" y="2286000"/>
            <a:ext cx="11274552" cy="2337407"/>
          </a:xfrm>
          <a:prstGeom prst="rect">
            <a:avLst/>
          </a:prstGeom>
        </p:spPr>
      </p:pic>
      <p:sp>
        <p:nvSpPr>
          <p:cNvPr id="121" name="Rounded Rectangle 120"/>
          <p:cNvSpPr/>
          <p:nvPr/>
        </p:nvSpPr>
        <p:spPr>
          <a:xfrm>
            <a:off x="457200" y="4892040"/>
            <a:ext cx="3630168" cy="1188720"/>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900" b="1">
                <a:solidFill>
                  <a:srgbClr val="22357F"/>
                </a:solidFill>
                <a:latin typeface="맑은 고딕"/>
                <a:ea typeface="맑은 고딕"/>
              </a:rPr>
              <a:t>계약 = 코드보다 우선</a:t>
            </a:r>
          </a:p>
          <a:p>
            <a:pPr algn="ctr">
              <a:spcAft>
                <a:spcPts val="200"/>
              </a:spcAft>
            </a:pPr>
            <a:r>
              <a:rPr sz="1400" b="0">
                <a:solidFill>
                  <a:srgbClr val="262626"/>
                </a:solidFill>
                <a:latin typeface="맑은 고딕"/>
                <a:ea typeface="맑은 고딕"/>
              </a:rPr>
              <a:t>바뀌면 문서 · 패키지를 함께</a:t>
            </a:r>
          </a:p>
        </p:txBody>
      </p:sp>
      <p:sp>
        <p:nvSpPr>
          <p:cNvPr id="122" name="Rounded Rectangle 121"/>
          <p:cNvSpPr/>
          <p:nvPr/>
        </p:nvSpPr>
        <p:spPr>
          <a:xfrm>
            <a:off x="4279392" y="4892040"/>
            <a:ext cx="3630168" cy="1188720"/>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900" b="1">
                <a:solidFill>
                  <a:srgbClr val="22357F"/>
                </a:solidFill>
                <a:latin typeface="맑은 고딕"/>
                <a:ea typeface="맑은 고딕"/>
              </a:rPr>
              <a:t>source:=sim</a:t>
            </a:r>
          </a:p>
          <a:p>
            <a:pPr algn="ctr">
              <a:spcAft>
                <a:spcPts val="200"/>
              </a:spcAft>
            </a:pPr>
            <a:r>
              <a:rPr sz="1400" b="0">
                <a:solidFill>
                  <a:srgbClr val="262626"/>
                </a:solidFill>
                <a:latin typeface="맑은 고딕"/>
                <a:ea typeface="맑은 고딕"/>
              </a:rPr>
              <a:t>인자 하나로 로봇 없이</a:t>
            </a:r>
          </a:p>
        </p:txBody>
      </p:sp>
      <p:sp>
        <p:nvSpPr>
          <p:cNvPr id="123" name="Rounded Rectangle 122"/>
          <p:cNvSpPr/>
          <p:nvPr/>
        </p:nvSpPr>
        <p:spPr>
          <a:xfrm>
            <a:off x="8101583" y="4892040"/>
            <a:ext cx="3630168" cy="1188720"/>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900" b="1">
                <a:solidFill>
                  <a:srgbClr val="22357F"/>
                </a:solidFill>
                <a:latin typeface="맑은 고딕"/>
                <a:ea typeface="맑은 고딕"/>
              </a:rPr>
              <a:t>실측 → yaml</a:t>
            </a:r>
          </a:p>
          <a:p>
            <a:pPr algn="ctr">
              <a:spcAft>
                <a:spcPts val="200"/>
              </a:spcAft>
            </a:pPr>
            <a:r>
              <a:rPr sz="1400" b="0">
                <a:solidFill>
                  <a:srgbClr val="262626"/>
                </a:solidFill>
                <a:latin typeface="맑은 고딕"/>
                <a:ea typeface="맑은 고딕"/>
              </a:rPr>
              <a:t>실기 PC 에만 남은 값은 없는 값</a:t>
            </a:r>
          </a:p>
        </p:txBody>
      </p:sp>
      <p:sp>
        <p:nvSpPr>
          <p:cNvPr id="124"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docs/conventions.md · docs/contracts/CHANGELOG.md(v0.1.1 ~ v0.1.20, 9/18~9/23 의 19 항목) · contact_scan_interfaces test_contract_sync. 9/23 main 머지 기준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19" name="그래픽 118">
            <a:extLst>
              <a:ext uri="{FF2B5EF4-FFF2-40B4-BE49-F238E27FC236}">
                <a16:creationId xmlns:a16="http://schemas.microsoft.com/office/drawing/2014/main" id="{3B28FD1B-8CAB-173B-64DC-E4F111CEEE03}"/>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47EEA120-670B-DBF5-A1A9-F8E6683304B4}"/>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절차 및 방법</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03</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8"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pSp>
        <p:nvGrpSpPr>
          <p:cNvPr id="8" name="그룹 7">
            <a:extLst>
              <a:ext uri="{FF2B5EF4-FFF2-40B4-BE49-F238E27FC236}">
                <a16:creationId xmlns:a16="http://schemas.microsoft.com/office/drawing/2014/main" id="{985117FB-7436-83E8-CACF-9CC7B72D9274}"/>
              </a:ext>
            </a:extLst>
          </p:cNvPr>
          <p:cNvGrpSpPr/>
          <p:nvPr/>
        </p:nvGrpSpPr>
        <p:grpSpPr>
          <a:xfrm>
            <a:off x="541891" y="1430219"/>
            <a:ext cx="10526159" cy="369332"/>
            <a:chOff x="541891" y="1430219"/>
            <a:chExt cx="10526159" cy="369332"/>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369332"/>
            </a:xfrm>
            <a:prstGeom prst="rect">
              <a:avLst/>
            </a:prstGeom>
            <a:noFill/>
          </p:spPr>
          <p:txBody>
            <a:bodyPr wrap="square">
              <a:spAutoFit/>
            </a:bodyPr>
            <a:lstStyle/>
            <a:p>
              <a:pPr>
                <a:defRPr/>
              </a:pPr>
              <a:r>
                <a:rPr lang="ko-KR" altLang="en-US" b="1" dirty="0">
                  <a:ln>
                    <a:solidFill>
                      <a:schemeClr val="accent1">
                        <a:shade val="15000"/>
                        <a:alpha val="0"/>
                      </a:schemeClr>
                    </a:solidFill>
                  </a:ln>
                  <a:solidFill>
                    <a:schemeClr val="tx1">
                      <a:lumMod val="75000"/>
                      <a:lumOff val="25000"/>
                    </a:schemeClr>
                  </a:solidFill>
                  <a:latin typeface="+mj-ea"/>
                  <a:ea typeface="+mj-ea"/>
                </a:rPr>
                <a:t>작게 나눠 리뷰받고, 수치는 파라미터로 두고, 결과는 보고서로 남겼다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03 수행 방법  [뺄 수 있음]</a:t>
            </a:r>
            <a:endParaRPr lang="ko-KR" altLang="en-US" sz="1400" b="1" spc="-100" dirty="0">
              <a:solidFill>
                <a:schemeClr val="accent1"/>
              </a:solidFill>
              <a:latin typeface="+mn-ea"/>
            </a:endParaRPr>
          </a:p>
        </p:txBody>
      </p:sp>
      <p:sp>
        <p:nvSpPr>
          <p:cNvPr id="120" name="[뺄 수 있음] 03 방법 배너"/>
          <p:cNvSpPr/>
          <p:nvPr/>
        </p:nvSpPr>
        <p:spPr>
          <a:xfrm>
            <a:off x="457200" y="2240280"/>
            <a:ext cx="11274552" cy="658368"/>
          </a:xfrm>
          <a:prstGeom prst="roundRect">
            <a:avLst>
              <a:gd name="adj" fmla="val 12000"/>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200" b="1">
                <a:solidFill>
                  <a:srgbClr val="FFFFFF"/>
                </a:solidFill>
                <a:latin typeface="맑은 고딕"/>
                <a:ea typeface="맑은 고딕"/>
              </a:rPr>
              <a:t>[뺄 수 있음]  발표 시간이 모자라면 이 장을 통째로 뺀다</a:t>
            </a:r>
          </a:p>
        </p:txBody>
      </p:sp>
      <p:sp>
        <p:nvSpPr>
          <p:cNvPr id="121" name="Rounded Rectangle 120"/>
          <p:cNvSpPr/>
          <p:nvPr/>
        </p:nvSpPr>
        <p:spPr>
          <a:xfrm>
            <a:off x="457200" y="3063240"/>
            <a:ext cx="3630168" cy="14173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작업 1 = PR 1</a:t>
            </a:r>
          </a:p>
          <a:p>
            <a:pPr algn="ctr">
              <a:spcAft>
                <a:spcPts val="200"/>
              </a:spcAft>
            </a:pPr>
            <a:r>
              <a:rPr sz="1500" b="0">
                <a:solidFill>
                  <a:srgbClr val="262626"/>
                </a:solidFill>
                <a:latin typeface="맑은 고딕"/>
                <a:ea typeface="맑은 고딕"/>
              </a:rPr>
              <a:t>작게 나눠 리뷰</a:t>
            </a:r>
          </a:p>
        </p:txBody>
      </p:sp>
      <p:sp>
        <p:nvSpPr>
          <p:cNvPr id="122" name="Rounded Rectangle 121"/>
          <p:cNvSpPr/>
          <p:nvPr/>
        </p:nvSpPr>
        <p:spPr>
          <a:xfrm>
            <a:off x="4279392" y="3063240"/>
            <a:ext cx="3630168" cy="14173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코드 오너 승인</a:t>
            </a:r>
          </a:p>
          <a:p>
            <a:pPr algn="ctr">
              <a:spcAft>
                <a:spcPts val="200"/>
              </a:spcAft>
            </a:pPr>
            <a:r>
              <a:rPr sz="1500" b="0">
                <a:solidFill>
                  <a:srgbClr val="262626"/>
                </a:solidFill>
                <a:latin typeface="맑은 고딕"/>
                <a:ea typeface="맑은 고딕"/>
              </a:rPr>
              <a:t>계약 · 공용 파일</a:t>
            </a:r>
          </a:p>
        </p:txBody>
      </p:sp>
      <p:sp>
        <p:nvSpPr>
          <p:cNvPr id="123" name="Rounded Rectangle 122"/>
          <p:cNvSpPr/>
          <p:nvPr/>
        </p:nvSpPr>
        <p:spPr>
          <a:xfrm>
            <a:off x="8101584" y="3063240"/>
            <a:ext cx="3630168" cy="14173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3 단계 검증</a:t>
            </a:r>
          </a:p>
          <a:p>
            <a:pPr algn="ctr">
              <a:spcAft>
                <a:spcPts val="200"/>
              </a:spcAft>
            </a:pPr>
            <a:r>
              <a:rPr sz="1500" b="0">
                <a:solidFill>
                  <a:srgbClr val="262626"/>
                </a:solidFill>
                <a:latin typeface="맑은 고딕"/>
                <a:ea typeface="맑은 고딕"/>
              </a:rPr>
              <a:t>sim → Virtual → 실기</a:t>
            </a:r>
          </a:p>
        </p:txBody>
      </p:sp>
      <p:sp>
        <p:nvSpPr>
          <p:cNvPr id="124" name="Rounded Rectangle 123"/>
          <p:cNvSpPr/>
          <p:nvPr/>
        </p:nvSpPr>
        <p:spPr>
          <a:xfrm>
            <a:off x="457200" y="4617720"/>
            <a:ext cx="3630168" cy="14173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수치 = 파라미터</a:t>
            </a:r>
          </a:p>
          <a:p>
            <a:pPr algn="ctr">
              <a:spcAft>
                <a:spcPts val="200"/>
              </a:spcAft>
            </a:pPr>
            <a:r>
              <a:rPr sz="1500" b="0">
                <a:solidFill>
                  <a:srgbClr val="262626"/>
                </a:solidFill>
                <a:latin typeface="맑은 고딕"/>
                <a:ea typeface="맑은 고딕"/>
              </a:rPr>
              <a:t>코드에 박지 않는다</a:t>
            </a:r>
          </a:p>
        </p:txBody>
      </p:sp>
      <p:sp>
        <p:nvSpPr>
          <p:cNvPr id="125" name="Rounded Rectangle 124"/>
          <p:cNvSpPr/>
          <p:nvPr/>
        </p:nvSpPr>
        <p:spPr>
          <a:xfrm>
            <a:off x="4279392" y="4617720"/>
            <a:ext cx="3630168" cy="14173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실측 분리</a:t>
            </a:r>
          </a:p>
          <a:p>
            <a:pPr algn="ctr">
              <a:spcAft>
                <a:spcPts val="200"/>
              </a:spcAft>
            </a:pPr>
            <a:r>
              <a:rPr sz="1500" b="0">
                <a:solidFill>
                  <a:srgbClr val="262626"/>
                </a:solidFill>
                <a:latin typeface="맑은 고딕"/>
                <a:ea typeface="맑은 고딕"/>
              </a:rPr>
              <a:t>출발값 · 실측 · 계산</a:t>
            </a:r>
          </a:p>
        </p:txBody>
      </p:sp>
      <p:sp>
        <p:nvSpPr>
          <p:cNvPr id="126" name="Rounded Rectangle 125"/>
          <p:cNvSpPr/>
          <p:nvPr/>
        </p:nvSpPr>
        <p:spPr>
          <a:xfrm>
            <a:off x="8101584" y="4617720"/>
            <a:ext cx="3630168" cy="141732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2100" b="1">
                <a:solidFill>
                  <a:srgbClr val="22357F"/>
                </a:solidFill>
                <a:latin typeface="맑은 고딕"/>
                <a:ea typeface="맑은 고딕"/>
              </a:rPr>
              <a:t>시험 보고</a:t>
            </a:r>
          </a:p>
          <a:p>
            <a:pPr algn="ctr">
              <a:spcAft>
                <a:spcPts val="200"/>
              </a:spcAft>
            </a:pPr>
            <a:r>
              <a:rPr sz="1500" b="0">
                <a:solidFill>
                  <a:srgbClr val="262626"/>
                </a:solidFill>
                <a:latin typeface="맑은 고딕"/>
                <a:ea typeface="맑은 고딕"/>
              </a:rPr>
              <a:t>실패 · 미달도 기록</a:t>
            </a:r>
          </a:p>
        </p:txBody>
      </p:sp>
      <p:sp>
        <p:nvSpPr>
          <p:cNvPr id="127"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docs/conventions.md · docs/test-reports/README.md · docs/contracts/units-frames.md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두 PC 와 로봇 — 접촉 판정과 정지는 메인 PC 안에서 끝난다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04-① 시스템 아키텍처</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pic>
        <p:nvPicPr>
          <p:cNvPr id="100" name="[뺄 수 있음] 04-① 그림(용접 포함) — 빼면 arch-simple-no-phase2.png" descr="arch-simple.png"/>
          <p:cNvPicPr>
            <a:picLocks noChangeAspect="1"/>
          </p:cNvPicPr>
          <p:nvPr/>
        </p:nvPicPr>
        <p:blipFill>
          <a:blip r:embed="rId10"/>
          <a:stretch>
            <a:fillRect/>
          </a:stretch>
        </p:blipFill>
        <p:spPr>
          <a:xfrm>
            <a:off x="457200" y="2240280"/>
            <a:ext cx="11274552" cy="4124836"/>
          </a:xfrm>
          <a:prstGeom prst="rect">
            <a:avLst/>
          </a:prstGeom>
        </p:spPr>
      </p:pic>
      <p:sp>
        <p:nvSpPr>
          <p:cNvPr id="101"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산출물 01 시스템 아키텍처 v1.7(상세 그림) · 06 ROS2 노드 구조도 v1.2(선 하나하나) · docs/contracts/ros-interfaces.md 2 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스캔 순서는 상태기계 하나가 쥐고, 중지 · 재시작 · 안전복귀는 서로 부르지 않는다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04-④ 탐색 시퀀스 · 형상 (1/2)</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pic>
        <p:nvPicPr>
          <p:cNvPr id="100" name="Picture 99" descr="scan-flow.png"/>
          <p:cNvPicPr>
            <a:picLocks noChangeAspect="1"/>
          </p:cNvPicPr>
          <p:nvPr/>
        </p:nvPicPr>
        <p:blipFill>
          <a:blip r:embed="rId10"/>
          <a:stretch>
            <a:fillRect/>
          </a:stretch>
        </p:blipFill>
        <p:spPr>
          <a:xfrm>
            <a:off x="457200" y="2240280"/>
            <a:ext cx="11274552" cy="4079005"/>
          </a:xfrm>
          <a:prstGeom prst="rect">
            <a:avLst/>
          </a:prstGeom>
        </p:spPr>
      </p:pic>
      <p:sp>
        <p:nvSpPr>
          <p:cNvPr id="101"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ws_cobot1/src/scan_manager/README.md(시퀀스 · 전이표 · 재시작 · 안전복귀) · docs/contracts/ros-interfaces.md 7.1 · 7.3 · 7.5 · 9 장(v0.1.21)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판정 좌표는 모서리를 지난 뒤에 찍힌다 — 팁 기하만큼 되돌려 직육면체를 만든다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04-④ 탐색 시퀀스 · 형상 (2/2)</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pic>
        <p:nvPicPr>
          <p:cNvPr id="100" name="Picture 99" descr="scan-geometry-bias.png"/>
          <p:cNvPicPr>
            <a:picLocks noChangeAspect="1"/>
          </p:cNvPicPr>
          <p:nvPr/>
        </p:nvPicPr>
        <p:blipFill>
          <a:blip r:embed="rId10"/>
          <a:stretch>
            <a:fillRect/>
          </a:stretch>
        </p:blipFill>
        <p:spPr>
          <a:xfrm>
            <a:off x="457200" y="2240280"/>
            <a:ext cx="7498079" cy="4067250"/>
          </a:xfrm>
          <a:prstGeom prst="rect">
            <a:avLst/>
          </a:prstGeom>
        </p:spPr>
      </p:pic>
      <p:graphicFrame>
        <p:nvGraphicFramePr>
          <p:cNvPr id="101" name="Table 100"/>
          <p:cNvGraphicFramePr>
            <a:graphicFrameLocks noGrp="1"/>
          </p:cNvGraphicFramePr>
          <p:nvPr/>
        </p:nvGraphicFramePr>
        <p:xfrm>
          <a:off x="8138160" y="2286000"/>
          <a:ext cx="3593592" cy="3950208"/>
        </p:xfrm>
        <a:graphic>
          <a:graphicData uri="http://schemas.openxmlformats.org/drawingml/2006/table">
            <a:tbl>
              <a:tblPr firstRow="1" bandRow="1">
                <a:tableStyleId>{5C22544A-7EE6-4342-B048-85BDC9FD1C3A}</a:tableStyleId>
              </a:tblPr>
              <a:tblGrid>
                <a:gridCol w="1280160"/>
                <a:gridCol w="1490472"/>
                <a:gridCol w="822960"/>
              </a:tblGrid>
              <a:tr h="658368">
                <a:tc>
                  <a:txBody>
                    <a:bodyPr wrap="square"/>
                    <a:lstStyle/>
                    <a:p>
                      <a:r>
                        <a:rPr sz="1300" b="1">
                          <a:solidFill>
                            <a:srgbClr val="FFFFFF"/>
                          </a:solidFill>
                          <a:latin typeface="맑은 고딕"/>
                          <a:ea typeface="맑은 고딕"/>
                        </a:rPr>
                        <a:t>9/23 실기</a:t>
                      </a:r>
                    </a:p>
                  </a:txBody>
                  <a:tcPr marL="73152" marR="73152" marT="27432" marB="27432" anchor="ctr">
                    <a:solidFill>
                      <a:srgbClr val="3378C8"/>
                    </a:solidFill>
                  </a:tcPr>
                </a:tc>
                <a:tc>
                  <a:txBody>
                    <a:bodyPr wrap="square"/>
                    <a:lstStyle/>
                    <a:p>
                      <a:r>
                        <a:rPr sz="1300" b="1">
                          <a:solidFill>
                            <a:srgbClr val="FFFFFF"/>
                          </a:solidFill>
                          <a:latin typeface="맑은 고딕"/>
                          <a:ea typeface="맑은 고딕"/>
                        </a:rPr>
                        <a:t>값</a:t>
                      </a:r>
                    </a:p>
                  </a:txBody>
                  <a:tcPr marL="73152" marR="73152" marT="27432" marB="27432" anchor="ctr">
                    <a:solidFill>
                      <a:srgbClr val="3378C8"/>
                    </a:solidFill>
                  </a:tcPr>
                </a:tc>
                <a:tc>
                  <a:txBody>
                    <a:bodyPr wrap="square"/>
                    <a:lstStyle/>
                    <a:p>
                      <a:r>
                        <a:rPr sz="1300" b="1">
                          <a:solidFill>
                            <a:srgbClr val="FFFFFF"/>
                          </a:solidFill>
                          <a:latin typeface="맑은 고딕"/>
                          <a:ea typeface="맑은 고딕"/>
                        </a:rPr>
                        <a:t>구분</a:t>
                      </a:r>
                    </a:p>
                  </a:txBody>
                  <a:tcPr marL="73152" marR="73152" marT="27432" marB="27432" anchor="ctr">
                    <a:solidFill>
                      <a:srgbClr val="3378C8"/>
                    </a:solidFill>
                  </a:tcPr>
                </a:tc>
              </a:tr>
              <a:tr h="658368">
                <a:tc>
                  <a:txBody>
                    <a:bodyPr wrap="square"/>
                    <a:lstStyle/>
                    <a:p>
                      <a:r>
                        <a:rPr sz="1300" b="1">
                          <a:solidFill>
                            <a:srgbClr val="262626"/>
                          </a:solidFill>
                          <a:latin typeface="맑은 고딕"/>
                          <a:ea typeface="맑은 고딕"/>
                        </a:rPr>
                        <a:t>하강량 δ</a:t>
                      </a:r>
                    </a:p>
                  </a:txBody>
                  <a:tcPr marL="73152" marR="73152" marT="27432" marB="27432" anchor="ctr">
                    <a:solidFill>
                      <a:srgbClr val="FFFFFF"/>
                    </a:solidFill>
                  </a:tcPr>
                </a:tc>
                <a:tc>
                  <a:txBody>
                    <a:bodyPr wrap="square"/>
                    <a:lstStyle/>
                    <a:p>
                      <a:r>
                        <a:rPr sz="1300" b="0">
                          <a:solidFill>
                            <a:srgbClr val="262626"/>
                          </a:solidFill>
                          <a:latin typeface="맑은 고딕"/>
                          <a:ea typeface="맑은 고딕"/>
                        </a:rPr>
                        <a:t>0.46~0.52 mm</a:t>
                      </a:r>
                    </a:p>
                  </a:txBody>
                  <a:tcPr marL="73152" marR="73152" marT="27432" marB="27432" anchor="ctr">
                    <a:solidFill>
                      <a:srgbClr val="FFFFFF"/>
                    </a:solidFill>
                  </a:tcPr>
                </a:tc>
                <a:tc>
                  <a:txBody>
                    <a:bodyPr wrap="square"/>
                    <a:lstStyle/>
                    <a:p>
                      <a:r>
                        <a:rPr sz="1300" b="0">
                          <a:solidFill>
                            <a:srgbClr val="262626"/>
                          </a:solidFill>
                          <a:latin typeface="맑은 고딕"/>
                          <a:ea typeface="맑은 고딕"/>
                        </a:rPr>
                        <a:t>실측</a:t>
                      </a:r>
                    </a:p>
                  </a:txBody>
                  <a:tcPr marL="73152" marR="73152" marT="27432" marB="27432" anchor="ctr">
                    <a:solidFill>
                      <a:srgbClr val="FFFFFF"/>
                    </a:solidFill>
                  </a:tcPr>
                </a:tc>
              </a:tr>
              <a:tr h="658368">
                <a:tc>
                  <a:txBody>
                    <a:bodyPr wrap="square"/>
                    <a:lstStyle/>
                    <a:p>
                      <a:r>
                        <a:rPr sz="1300" b="1">
                          <a:solidFill>
                            <a:srgbClr val="262626"/>
                          </a:solidFill>
                          <a:latin typeface="맑은 고딕"/>
                          <a:ea typeface="맑은 고딕"/>
                        </a:rPr>
                        <a:t>보정량 d</a:t>
                      </a:r>
                    </a:p>
                  </a:txBody>
                  <a:tcPr marL="73152" marR="73152" marT="27432" marB="27432" anchor="ctr">
                    <a:solidFill>
                      <a:srgbClr val="F2F5FA"/>
                    </a:solidFill>
                  </a:tcPr>
                </a:tc>
                <a:tc>
                  <a:txBody>
                    <a:bodyPr wrap="square"/>
                    <a:lstStyle/>
                    <a:p>
                      <a:r>
                        <a:rPr sz="1300" b="0">
                          <a:solidFill>
                            <a:srgbClr val="262626"/>
                          </a:solidFill>
                          <a:latin typeface="맑은 고딕"/>
                          <a:ea typeface="맑은 고딕"/>
                        </a:rPr>
                        <a:t>1.27~1.34 mm</a:t>
                      </a:r>
                    </a:p>
                  </a:txBody>
                  <a:tcPr marL="73152" marR="73152" marT="27432" marB="27432" anchor="ctr">
                    <a:solidFill>
                      <a:srgbClr val="F2F5FA"/>
                    </a:solidFill>
                  </a:tcPr>
                </a:tc>
                <a:tc>
                  <a:txBody>
                    <a:bodyPr wrap="square"/>
                    <a:lstStyle/>
                    <a:p>
                      <a:r>
                        <a:rPr sz="1300" b="0">
                          <a:solidFill>
                            <a:srgbClr val="262626"/>
                          </a:solidFill>
                          <a:latin typeface="맑은 고딕"/>
                          <a:ea typeface="맑은 고딕"/>
                        </a:rPr>
                        <a:t>계산</a:t>
                      </a:r>
                    </a:p>
                  </a:txBody>
                  <a:tcPr marL="73152" marR="73152" marT="27432" marB="27432" anchor="ctr">
                    <a:solidFill>
                      <a:srgbClr val="F2F5FA"/>
                    </a:solidFill>
                  </a:tcPr>
                </a:tc>
              </a:tr>
              <a:tr h="658368">
                <a:tc>
                  <a:txBody>
                    <a:bodyPr wrap="square"/>
                    <a:lstStyle/>
                    <a:p>
                      <a:r>
                        <a:rPr sz="1300" b="1">
                          <a:solidFill>
                            <a:srgbClr val="262626"/>
                          </a:solidFill>
                          <a:latin typeface="맑은 고딕"/>
                          <a:ea typeface="맑은 고딕"/>
                        </a:rPr>
                        <a:t>크기</a:t>
                      </a:r>
                    </a:p>
                  </a:txBody>
                  <a:tcPr marL="73152" marR="73152" marT="27432" marB="27432" anchor="ctr">
                    <a:solidFill>
                      <a:srgbClr val="FFFFFF"/>
                    </a:solidFill>
                  </a:tcPr>
                </a:tc>
                <a:tc>
                  <a:txBody>
                    <a:bodyPr wrap="square"/>
                    <a:lstStyle/>
                    <a:p>
                      <a:r>
                        <a:rPr sz="1300" b="0">
                          <a:solidFill>
                            <a:srgbClr val="262626"/>
                          </a:solidFill>
                          <a:latin typeface="맑은 고딕"/>
                          <a:ea typeface="맑은 고딕"/>
                        </a:rPr>
                        <a:t>83.0 × 80.6</a:t>
                      </a:r>
                    </a:p>
                    <a:p>
                      <a:r>
                        <a:rPr sz="1300" b="0">
                          <a:solidFill>
                            <a:srgbClr val="262626"/>
                          </a:solidFill>
                          <a:latin typeface="맑은 고딕"/>
                          <a:ea typeface="맑은 고딕"/>
                        </a:rPr>
                        <a:t>× 80.8 mm</a:t>
                      </a:r>
                    </a:p>
                  </a:txBody>
                  <a:tcPr marL="73152" marR="73152" marT="27432" marB="27432" anchor="ctr">
                    <a:solidFill>
                      <a:srgbClr val="FFFFFF"/>
                    </a:solidFill>
                  </a:tcPr>
                </a:tc>
                <a:tc>
                  <a:txBody>
                    <a:bodyPr wrap="square"/>
                    <a:lstStyle/>
                    <a:p>
                      <a:r>
                        <a:rPr sz="1300" b="0">
                          <a:solidFill>
                            <a:srgbClr val="262626"/>
                          </a:solidFill>
                          <a:latin typeface="맑은 고딕"/>
                          <a:ea typeface="맑은 고딕"/>
                        </a:rPr>
                        <a:t>실측</a:t>
                      </a:r>
                    </a:p>
                  </a:txBody>
                  <a:tcPr marL="73152" marR="73152" marT="27432" marB="27432" anchor="ctr">
                    <a:solidFill>
                      <a:srgbClr val="FFFFFF"/>
                    </a:solidFill>
                  </a:tcPr>
                </a:tc>
              </a:tr>
              <a:tr h="658368">
                <a:tc>
                  <a:txBody>
                    <a:bodyPr wrap="square"/>
                    <a:lstStyle/>
                    <a:p>
                      <a:r>
                        <a:rPr sz="1300" b="1">
                          <a:solidFill>
                            <a:srgbClr val="262626"/>
                          </a:solidFill>
                          <a:latin typeface="맑은 고딕"/>
                          <a:ea typeface="맑은 고딕"/>
                        </a:rPr>
                        <a:t>캘리퍼 대비</a:t>
                      </a:r>
                    </a:p>
                  </a:txBody>
                  <a:tcPr marL="73152" marR="73152" marT="27432" marB="27432" anchor="ctr">
                    <a:solidFill>
                      <a:srgbClr val="F2F5FA"/>
                    </a:solidFill>
                  </a:tcPr>
                </a:tc>
                <a:tc>
                  <a:txBody>
                    <a:bodyPr wrap="square"/>
                    <a:lstStyle/>
                    <a:p>
                      <a:r>
                        <a:rPr sz="1300" b="0">
                          <a:solidFill>
                            <a:srgbClr val="262626"/>
                          </a:solidFill>
                          <a:latin typeface="맑은 고딕"/>
                          <a:ea typeface="맑은 고딕"/>
                        </a:rPr>
                        <a:t>+1.50 / −0.36</a:t>
                      </a:r>
                    </a:p>
                    <a:p>
                      <a:r>
                        <a:rPr sz="1300" b="0">
                          <a:solidFill>
                            <a:srgbClr val="262626"/>
                          </a:solidFill>
                          <a:latin typeface="맑은 고딕"/>
                          <a:ea typeface="맑은 고딕"/>
                        </a:rPr>
                        <a:t>/ +0.26 mm</a:t>
                      </a:r>
                    </a:p>
                  </a:txBody>
                  <a:tcPr marL="73152" marR="73152" marT="27432" marB="27432" anchor="ctr">
                    <a:solidFill>
                      <a:srgbClr val="F2F5FA"/>
                    </a:solidFill>
                  </a:tcPr>
                </a:tc>
                <a:tc>
                  <a:txBody>
                    <a:bodyPr wrap="square"/>
                    <a:lstStyle/>
                    <a:p>
                      <a:r>
                        <a:rPr sz="1300" b="0">
                          <a:solidFill>
                            <a:srgbClr val="3378C8"/>
                          </a:solidFill>
                          <a:latin typeface="맑은 고딕"/>
                          <a:ea typeface="맑은 고딕"/>
                        </a:rPr>
                        <a:t>±3 mm 안</a:t>
                      </a:r>
                    </a:p>
                  </a:txBody>
                  <a:tcPr marL="73152" marR="73152" marT="27432" marB="27432" anchor="ctr">
                    <a:solidFill>
                      <a:srgbClr val="F2F5FA"/>
                    </a:solidFill>
                  </a:tcPr>
                </a:tc>
              </a:tr>
              <a:tr h="658368">
                <a:tc>
                  <a:txBody>
                    <a:bodyPr wrap="square"/>
                    <a:lstStyle/>
                    <a:p>
                      <a:r>
                        <a:rPr sz="1300" b="1">
                          <a:solidFill>
                            <a:srgbClr val="262626"/>
                          </a:solidFill>
                          <a:latin typeface="맑은 고딕"/>
                          <a:ea typeface="맑은 고딕"/>
                        </a:rPr>
                        <a:t>10 회 반복</a:t>
                      </a:r>
                    </a:p>
                  </a:txBody>
                  <a:tcPr marL="73152" marR="73152" marT="27432" marB="27432" anchor="ctr">
                    <a:solidFill>
                      <a:srgbClr val="FFFFFF"/>
                    </a:solidFill>
                  </a:tcPr>
                </a:tc>
                <a:tc>
                  <a:txBody>
                    <a:bodyPr wrap="square"/>
                    <a:lstStyle/>
                    <a:p>
                      <a:r>
                        <a:rPr sz="1300" b="0">
                          <a:solidFill>
                            <a:srgbClr val="C0392B"/>
                          </a:solidFill>
                          <a:latin typeface="맑은 고딕"/>
                          <a:ea typeface="맑은 고딕"/>
                        </a:rPr>
                        <a:t>미실시</a:t>
                      </a:r>
                    </a:p>
                  </a:txBody>
                  <a:tcPr marL="73152" marR="73152" marT="27432" marB="27432" anchor="ctr">
                    <a:solidFill>
                      <a:srgbClr val="FFFFFF"/>
                    </a:solidFill>
                  </a:tcPr>
                </a:tc>
                <a:tc>
                  <a:txBody>
                    <a:bodyPr wrap="square"/>
                    <a:lstStyle/>
                    <a:p>
                      <a:r>
                        <a:rPr sz="1300" b="0">
                          <a:solidFill>
                            <a:srgbClr val="C0392B"/>
                          </a:solidFill>
                          <a:latin typeface="맑은 고딕"/>
                          <a:ea typeface="맑은 고딕"/>
                        </a:rPr>
                        <a:t>KPI</a:t>
                      </a:r>
                    </a:p>
                  </a:txBody>
                  <a:tcPr marL="73152" marR="73152" marT="27432" marB="27432" anchor="ctr">
                    <a:solidFill>
                      <a:srgbClr val="FFFFFF"/>
                    </a:solidFill>
                  </a:tcPr>
                </a:tc>
              </a:tr>
            </a:tbl>
          </a:graphicData>
        </a:graphic>
      </p:graphicFrame>
      <p:sp>
        <p:nvSpPr>
          <p:cNvPr id="102"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9/23 실기 scan 20260923-183211-3702 result.json(docs/phase2/fixtures) · 캘리퍼 대비는 #180 학민 코멘트(9/23) · 식은 geometry_estimator README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평가 다섯 항목마다 증거를 붙였다 — 미달 · 미실시도 같은 표에 둔다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04-⑦ 평가 항목 대응표</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aphicFrame>
        <p:nvGraphicFramePr>
          <p:cNvPr id="100" name="Table 99"/>
          <p:cNvGraphicFramePr>
            <a:graphicFrameLocks noGrp="1"/>
          </p:cNvGraphicFramePr>
          <p:nvPr/>
        </p:nvGraphicFramePr>
        <p:xfrm>
          <a:off x="457200" y="2212848"/>
          <a:ext cx="11274552" cy="3785616"/>
        </p:xfrm>
        <a:graphic>
          <a:graphicData uri="http://schemas.openxmlformats.org/drawingml/2006/table">
            <a:tbl>
              <a:tblPr firstRow="1" bandRow="1">
                <a:tableStyleId>{5C22544A-7EE6-4342-B048-85BDC9FD1C3A}</a:tableStyleId>
              </a:tblPr>
              <a:tblGrid>
                <a:gridCol w="1600200"/>
                <a:gridCol w="7132320"/>
                <a:gridCol w="2542032"/>
              </a:tblGrid>
              <a:tr h="630936">
                <a:tc>
                  <a:txBody>
                    <a:bodyPr wrap="square"/>
                    <a:lstStyle/>
                    <a:p>
                      <a:r>
                        <a:rPr sz="1400" b="1">
                          <a:solidFill>
                            <a:srgbClr val="FFFFFF"/>
                          </a:solidFill>
                          <a:latin typeface="맑은 고딕"/>
                          <a:ea typeface="맑은 고딕"/>
                        </a:rPr>
                        <a:t>평가 항목</a:t>
                      </a:r>
                    </a:p>
                  </a:txBody>
                  <a:tcPr marL="73152" marR="73152" marT="27432" marB="27432" anchor="ctr">
                    <a:solidFill>
                      <a:srgbClr val="3378C8"/>
                    </a:solidFill>
                  </a:tcPr>
                </a:tc>
                <a:tc>
                  <a:txBody>
                    <a:bodyPr wrap="square"/>
                    <a:lstStyle/>
                    <a:p>
                      <a:r>
                        <a:rPr sz="1400" b="1">
                          <a:solidFill>
                            <a:srgbClr val="FFFFFF"/>
                          </a:solidFill>
                          <a:latin typeface="맑은 고딕"/>
                          <a:ea typeface="맑은 고딕"/>
                        </a:rPr>
                        <a:t>우리가 한 것   (○ 됨 · △ 일부 · × 미달)</a:t>
                      </a:r>
                    </a:p>
                  </a:txBody>
                  <a:tcPr marL="73152" marR="73152" marT="27432" marB="27432" anchor="ctr">
                    <a:solidFill>
                      <a:srgbClr val="3378C8"/>
                    </a:solidFill>
                  </a:tcPr>
                </a:tc>
                <a:tc>
                  <a:txBody>
                    <a:bodyPr wrap="square"/>
                    <a:lstStyle/>
                    <a:p>
                      <a:r>
                        <a:rPr sz="1400" b="1">
                          <a:solidFill>
                            <a:srgbClr val="FFFFFF"/>
                          </a:solidFill>
                          <a:latin typeface="맑은 고딕"/>
                          <a:ea typeface="맑은 고딕"/>
                        </a:rPr>
                        <a:t>증거</a:t>
                      </a:r>
                    </a:p>
                  </a:txBody>
                  <a:tcPr marL="73152" marR="73152" marT="27432" marB="27432" anchor="ctr">
                    <a:solidFill>
                      <a:srgbClr val="3378C8"/>
                    </a:solidFill>
                  </a:tcPr>
                </a:tc>
              </a:tr>
              <a:tr h="630936">
                <a:tc>
                  <a:txBody>
                    <a:bodyPr wrap="square"/>
                    <a:lstStyle/>
                    <a:p>
                      <a:r>
                        <a:rPr sz="1400" b="1">
                          <a:solidFill>
                            <a:srgbClr val="262626"/>
                          </a:solidFill>
                          <a:latin typeface="맑은 고딕"/>
                          <a:ea typeface="맑은 고딕"/>
                        </a:rPr>
                        <a:t>완전성</a:t>
                      </a:r>
                    </a:p>
                  </a:txBody>
                  <a:tcPr marL="73152" marR="73152" marT="27432" marB="27432" anchor="ctr">
                    <a:solidFill>
                      <a:srgbClr val="FFFFFF"/>
                    </a:solidFill>
                  </a:tcPr>
                </a:tc>
                <a:tc>
                  <a:txBody>
                    <a:bodyPr wrap="square"/>
                    <a:lstStyle/>
                    <a:p>
                      <a:r>
                        <a:rPr sz="1400" b="0">
                          <a:solidFill>
                            <a:srgbClr val="2E8B57"/>
                          </a:solidFill>
                          <a:latin typeface="맑은 고딕"/>
                          <a:ea typeface="맑은 고딕"/>
                        </a:rPr>
                        <a:t>○ 교시 없이 5 점 → 형상 → 웹 3D, 실기 종단</a:t>
                      </a:r>
                    </a:p>
                    <a:p>
                      <a:r>
                        <a:rPr sz="1400" b="0">
                          <a:solidFill>
                            <a:srgbClr val="C0392B"/>
                          </a:solidFill>
                          <a:latin typeface="맑은 고딕"/>
                          <a:ea typeface="맑은 고딕"/>
                        </a:rPr>
                        <a:t>× 탐색 438 s(KPI 120 s) · 설정 버튼 없음</a:t>
                      </a:r>
                    </a:p>
                  </a:txBody>
                  <a:tcPr marL="73152" marR="73152" marT="27432" marB="27432" anchor="ctr">
                    <a:solidFill>
                      <a:srgbClr val="FFFFFF"/>
                    </a:solidFill>
                  </a:tcPr>
                </a:tc>
                <a:tc>
                  <a:txBody>
                    <a:bodyPr wrap="square"/>
                    <a:lstStyle/>
                    <a:p>
                      <a:r>
                        <a:rPr sz="1400" b="0">
                          <a:solidFill>
                            <a:srgbClr val="262626"/>
                          </a:solidFill>
                          <a:latin typeface="맑은 고딕"/>
                          <a:ea typeface="맑은 고딕"/>
                        </a:rPr>
                        <a:t>04-⑥ · PR #179</a:t>
                      </a:r>
                    </a:p>
                  </a:txBody>
                  <a:tcPr marL="73152" marR="73152" marT="27432" marB="27432" anchor="ctr">
                    <a:solidFill>
                      <a:srgbClr val="FFFFFF"/>
                    </a:solidFill>
                  </a:tcPr>
                </a:tc>
              </a:tr>
              <a:tr h="630936">
                <a:tc>
                  <a:txBody>
                    <a:bodyPr wrap="square"/>
                    <a:lstStyle/>
                    <a:p>
                      <a:r>
                        <a:rPr sz="1400" b="1">
                          <a:solidFill>
                            <a:srgbClr val="262626"/>
                          </a:solidFill>
                          <a:latin typeface="맑은 고딕"/>
                          <a:ea typeface="맑은 고딕"/>
                        </a:rPr>
                        <a:t>정확성</a:t>
                      </a:r>
                    </a:p>
                  </a:txBody>
                  <a:tcPr marL="73152" marR="73152" marT="27432" marB="27432" anchor="ctr">
                    <a:solidFill>
                      <a:srgbClr val="F2F5FA"/>
                    </a:solidFill>
                  </a:tcPr>
                </a:tc>
                <a:tc>
                  <a:txBody>
                    <a:bodyPr wrap="square"/>
                    <a:lstStyle/>
                    <a:p>
                      <a:r>
                        <a:rPr sz="1400" b="0">
                          <a:solidFill>
                            <a:srgbClr val="2E8B57"/>
                          </a:solidFill>
                          <a:latin typeface="맑은 고딕"/>
                          <a:ea typeface="맑은 고딕"/>
                        </a:rPr>
                        <a:t>○ 치수 ±3 mm 안 (1 회)</a:t>
                      </a:r>
                    </a:p>
                    <a:p>
                      <a:r>
                        <a:rPr sz="1400" b="0">
                          <a:solidFill>
                            <a:srgbClr val="C0392B"/>
                          </a:solidFill>
                          <a:latin typeface="맑은 고딕"/>
                          <a:ea typeface="맑은 고딕"/>
                        </a:rPr>
                        <a:t>× 검출 하중 2/10 이 5 N 초과</a:t>
                      </a:r>
                    </a:p>
                  </a:txBody>
                  <a:tcPr marL="73152" marR="73152" marT="27432" marB="27432" anchor="ctr">
                    <a:solidFill>
                      <a:srgbClr val="F2F5FA"/>
                    </a:solidFill>
                  </a:tcPr>
                </a:tc>
                <a:tc>
                  <a:txBody>
                    <a:bodyPr wrap="square"/>
                    <a:lstStyle/>
                    <a:p>
                      <a:r>
                        <a:rPr sz="1400" b="0">
                          <a:solidFill>
                            <a:srgbClr val="262626"/>
                          </a:solidFill>
                          <a:latin typeface="맑은 고딕"/>
                          <a:ea typeface="맑은 고딕"/>
                        </a:rPr>
                        <a:t>04-⑥ · TR-01</a:t>
                      </a:r>
                    </a:p>
                  </a:txBody>
                  <a:tcPr marL="73152" marR="73152" marT="27432" marB="27432" anchor="ctr">
                    <a:solidFill>
                      <a:srgbClr val="F2F5FA"/>
                    </a:solidFill>
                  </a:tcPr>
                </a:tc>
              </a:tr>
              <a:tr h="630936">
                <a:tc>
                  <a:txBody>
                    <a:bodyPr wrap="square"/>
                    <a:lstStyle/>
                    <a:p>
                      <a:r>
                        <a:rPr sz="1400" b="1">
                          <a:solidFill>
                            <a:srgbClr val="262626"/>
                          </a:solidFill>
                          <a:latin typeface="맑은 고딕"/>
                          <a:ea typeface="맑은 고딕"/>
                        </a:rPr>
                        <a:t>안정성</a:t>
                      </a:r>
                    </a:p>
                  </a:txBody>
                  <a:tcPr marL="73152" marR="73152" marT="27432" marB="27432" anchor="ctr">
                    <a:solidFill>
                      <a:srgbClr val="FFFFFF"/>
                    </a:solidFill>
                  </a:tcPr>
                </a:tc>
                <a:tc>
                  <a:txBody>
                    <a:bodyPr wrap="square"/>
                    <a:lstStyle/>
                    <a:p>
                      <a:r>
                        <a:rPr sz="1400" b="0">
                          <a:solidFill>
                            <a:srgbClr val="2E8B57"/>
                          </a:solidFill>
                          <a:latin typeface="맑은 고딕"/>
                          <a:ea typeface="맑은 고딕"/>
                        </a:rPr>
                        <a:t>○ 실기 종단 3 회 연속 · 두 겹 감시 · 래치</a:t>
                      </a:r>
                    </a:p>
                    <a:p>
                      <a:r>
                        <a:rPr sz="1400" b="0">
                          <a:solidFill>
                            <a:srgbClr val="C0392B"/>
                          </a:solidFill>
                          <a:latin typeface="맑은 고딕"/>
                          <a:ea typeface="맑은 고딕"/>
                        </a:rPr>
                        <a:t>× 관제 반영 지연 최대 312 ms</a:t>
                      </a:r>
                    </a:p>
                  </a:txBody>
                  <a:tcPr marL="73152" marR="73152" marT="27432" marB="27432" anchor="ctr">
                    <a:solidFill>
                      <a:srgbClr val="FFFFFF"/>
                    </a:solidFill>
                  </a:tcPr>
                </a:tc>
                <a:tc>
                  <a:txBody>
                    <a:bodyPr wrap="square"/>
                    <a:lstStyle/>
                    <a:p>
                      <a:r>
                        <a:rPr sz="1400" b="0">
                          <a:solidFill>
                            <a:srgbClr val="262626"/>
                          </a:solidFill>
                          <a:latin typeface="맑은 고딕"/>
                          <a:ea typeface="맑은 고딕"/>
                        </a:rPr>
                        <a:t>영상 · 04-③ · TR-05</a:t>
                      </a:r>
                    </a:p>
                  </a:txBody>
                  <a:tcPr marL="73152" marR="73152" marT="27432" marB="27432" anchor="ctr">
                    <a:solidFill>
                      <a:srgbClr val="FFFFFF"/>
                    </a:solidFill>
                  </a:tcPr>
                </a:tc>
              </a:tr>
              <a:tr h="630936">
                <a:tc>
                  <a:txBody>
                    <a:bodyPr wrap="square"/>
                    <a:lstStyle/>
                    <a:p>
                      <a:r>
                        <a:rPr sz="1400" b="1">
                          <a:solidFill>
                            <a:srgbClr val="262626"/>
                          </a:solidFill>
                          <a:latin typeface="맑은 고딕"/>
                          <a:ea typeface="맑은 고딕"/>
                        </a:rPr>
                        <a:t>입출력</a:t>
                      </a:r>
                    </a:p>
                  </a:txBody>
                  <a:tcPr marL="73152" marR="73152" marT="27432" marB="27432" anchor="ctr">
                    <a:solidFill>
                      <a:srgbClr val="F2F5FA"/>
                    </a:solidFill>
                  </a:tcPr>
                </a:tc>
                <a:tc>
                  <a:txBody>
                    <a:bodyPr wrap="square"/>
                    <a:lstStyle/>
                    <a:p>
                      <a:r>
                        <a:rPr sz="1400" b="0">
                          <a:solidFill>
                            <a:srgbClr val="2E8B57"/>
                          </a:solidFill>
                          <a:latin typeface="맑은 고딕"/>
                          <a:ea typeface="맑은 고딕"/>
                        </a:rPr>
                        <a:t>○ 계약 한 벌 · 미측정 = NaN / null</a:t>
                      </a:r>
                    </a:p>
                    <a:p>
                      <a:r>
                        <a:rPr sz="1400" b="0">
                          <a:solidFill>
                            <a:srgbClr val="2E8B57"/>
                          </a:solidFill>
                          <a:latin typeface="맑은 고딕"/>
                          <a:ea typeface="맑은 고딕"/>
                        </a:rPr>
                        <a:t>○ 저장 → 조회 일치 (sim)</a:t>
                      </a:r>
                    </a:p>
                  </a:txBody>
                  <a:tcPr marL="73152" marR="73152" marT="27432" marB="27432" anchor="ctr">
                    <a:solidFill>
                      <a:srgbClr val="F2F5FA"/>
                    </a:solidFill>
                  </a:tcPr>
                </a:tc>
                <a:tc>
                  <a:txBody>
                    <a:bodyPr wrap="square"/>
                    <a:lstStyle/>
                    <a:p>
                      <a:r>
                        <a:rPr sz="1400" b="0">
                          <a:solidFill>
                            <a:srgbClr val="262626"/>
                          </a:solidFill>
                          <a:latin typeface="맑은 고딕"/>
                          <a:ea typeface="맑은 고딕"/>
                        </a:rPr>
                        <a:t>산출물 05 · TR-10</a:t>
                      </a:r>
                    </a:p>
                  </a:txBody>
                  <a:tcPr marL="73152" marR="73152" marT="27432" marB="27432" anchor="ctr">
                    <a:solidFill>
                      <a:srgbClr val="F2F5FA"/>
                    </a:solidFill>
                  </a:tcPr>
                </a:tc>
              </a:tr>
              <a:tr h="630936">
                <a:tc>
                  <a:txBody>
                    <a:bodyPr wrap="square"/>
                    <a:lstStyle/>
                    <a:p>
                      <a:r>
                        <a:rPr sz="1400" b="1">
                          <a:solidFill>
                            <a:srgbClr val="262626"/>
                          </a:solidFill>
                          <a:latin typeface="맑은 고딕"/>
                          <a:ea typeface="맑은 고딕"/>
                        </a:rPr>
                        <a:t>지속성</a:t>
                      </a:r>
                    </a:p>
                  </a:txBody>
                  <a:tcPr marL="73152" marR="73152" marT="27432" marB="27432" anchor="ctr">
                    <a:solidFill>
                      <a:srgbClr val="FFFFFF"/>
                    </a:solidFill>
                  </a:tcPr>
                </a:tc>
                <a:tc>
                  <a:txBody>
                    <a:bodyPr wrap="square"/>
                    <a:lstStyle/>
                    <a:p>
                      <a:r>
                        <a:rPr sz="1400" b="0">
                          <a:solidFill>
                            <a:srgbClr val="2E8B57"/>
                          </a:solidFill>
                          <a:latin typeface="맑은 고딕"/>
                          <a:ea typeface="맑은 고딕"/>
                        </a:rPr>
                        <a:t>○ 중지 · 복귀 · 재시작 독립</a:t>
                      </a:r>
                    </a:p>
                    <a:p>
                      <a:r>
                        <a:rPr sz="1400" b="0">
                          <a:solidFill>
                            <a:srgbClr val="B8860B"/>
                          </a:solidFill>
                          <a:latin typeface="맑은 고딕"/>
                          <a:ea typeface="맑은 고딕"/>
                        </a:rPr>
                        <a:t>△ 재시작은 sim · 시험만, 실기 미실시</a:t>
                      </a:r>
                    </a:p>
                  </a:txBody>
                  <a:tcPr marL="73152" marR="73152" marT="27432" marB="27432" anchor="ctr">
                    <a:solidFill>
                      <a:srgbClr val="FFFFFF"/>
                    </a:solidFill>
                  </a:tcPr>
                </a:tc>
                <a:tc>
                  <a:txBody>
                    <a:bodyPr wrap="square"/>
                    <a:lstStyle/>
                    <a:p>
                      <a:r>
                        <a:rPr sz="1400" b="0">
                          <a:solidFill>
                            <a:srgbClr val="262626"/>
                          </a:solidFill>
                          <a:latin typeface="맑은 고딕"/>
                          <a:ea typeface="맑은 고딕"/>
                        </a:rPr>
                        <a:t>04-④ · 04-⑧</a:t>
                      </a:r>
                    </a:p>
                  </a:txBody>
                  <a:tcPr marL="73152" marR="73152" marT="27432" marB="27432" anchor="ctr">
                    <a:solidFill>
                      <a:srgbClr val="FFFFFF"/>
                    </a:solidFill>
                  </a:tcPr>
                </a:tc>
              </a:tr>
            </a:tbl>
          </a:graphicData>
        </a:graphic>
      </p:graphicFrame>
      <p:graphicFrame>
        <p:nvGraphicFramePr>
          <p:cNvPr id="101" name="[뺄 수 있음] 04-⑦ 용접 행"/>
          <p:cNvGraphicFramePr>
            <a:graphicFrameLocks noGrp="1"/>
          </p:cNvGraphicFramePr>
          <p:nvPr/>
        </p:nvGraphicFramePr>
        <p:xfrm>
          <a:off x="457200" y="6035040"/>
          <a:ext cx="11274552" cy="365760"/>
        </p:xfrm>
        <a:graphic>
          <a:graphicData uri="http://schemas.openxmlformats.org/drawingml/2006/table">
            <a:tbl>
              <a:tblPr firstRow="1" bandRow="1">
                <a:tableStyleId>{5C22544A-7EE6-4342-B048-85BDC9FD1C3A}</a:tableStyleId>
              </a:tblPr>
              <a:tblGrid>
                <a:gridCol w="1600200"/>
                <a:gridCol w="7132320"/>
                <a:gridCol w="2542032"/>
              </a:tblGrid>
              <a:tr h="365760">
                <a:tc>
                  <a:txBody>
                    <a:bodyPr wrap="square"/>
                    <a:lstStyle/>
                    <a:p>
                      <a:r>
                        <a:rPr sz="1300" b="1">
                          <a:solidFill>
                            <a:srgbClr val="D2691E"/>
                          </a:solidFill>
                          <a:latin typeface="맑은 고딕"/>
                          <a:ea typeface="맑은 고딕"/>
                        </a:rPr>
                        <a:t>[뺄 수 있음] 용접</a:t>
                      </a:r>
                    </a:p>
                  </a:txBody>
                  <a:tcPr marL="73152" marR="73152" marT="27432" marB="27432" anchor="ctr">
                    <a:solidFill>
                      <a:srgbClr val="FFF1E0"/>
                    </a:solidFill>
                  </a:tcPr>
                </a:tc>
                <a:tc>
                  <a:txBody>
                    <a:bodyPr wrap="square"/>
                    <a:lstStyle/>
                    <a:p>
                      <a:r>
                        <a:rPr sz="1300" b="1">
                          <a:solidFill>
                            <a:srgbClr val="D2691E"/>
                          </a:solidFill>
                          <a:latin typeface="맑은 고딕"/>
                          <a:ea typeface="맑은 고딕"/>
                        </a:rPr>
                        <a:t>8 선 용접 모션 — Virtual 8 / 8 완주, 실기는 9/29</a:t>
                      </a:r>
                    </a:p>
                  </a:txBody>
                  <a:tcPr marL="73152" marR="73152" marT="27432" marB="27432" anchor="ctr">
                    <a:solidFill>
                      <a:srgbClr val="FFF1E0"/>
                    </a:solidFill>
                  </a:tcPr>
                </a:tc>
                <a:tc>
                  <a:txBody>
                    <a:bodyPr wrap="square"/>
                    <a:lstStyle/>
                    <a:p>
                      <a:r>
                        <a:rPr sz="1300" b="1">
                          <a:solidFill>
                            <a:srgbClr val="D2691E"/>
                          </a:solidFill>
                          <a:latin typeface="맑은 고딕"/>
                          <a:ea typeface="맑은 고딕"/>
                        </a:rPr>
                        <a:t>PR #197 (머지 전)</a:t>
                      </a:r>
                    </a:p>
                  </a:txBody>
                  <a:tcPr marL="73152" marR="73152" marT="27432" marB="27432" anchor="ctr">
                    <a:solidFill>
                      <a:srgbClr val="FFF1E0"/>
                    </a:solidFill>
                  </a:tcPr>
                </a:tc>
              </a:tr>
            </a:tbl>
          </a:graphicData>
        </a:graphic>
      </p:graphicFrame>
      <p:sp>
        <p:nvSpPr>
          <p:cNvPr id="102"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TR-01(9/23) · TR-05 · TR-10(9/22 sim) · #180 · 9/23 시연 영상(3 회 연속 · 팀원 입회). 438 s = #180 학민 실측(본문 합계 435 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감시자가 죽은 걸 아무도 몰랐다 → 상태의 "나이"로 스캔 시작을 막았다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04-⑧ 문제와 해결 (병후)</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pic>
        <p:nvPicPr>
          <p:cNvPr id="100" name="Picture 99" descr="problem-before-after.png"/>
          <p:cNvPicPr>
            <a:picLocks noChangeAspect="1"/>
          </p:cNvPicPr>
          <p:nvPr/>
        </p:nvPicPr>
        <p:blipFill>
          <a:blip r:embed="rId10"/>
          <a:stretch>
            <a:fillRect/>
          </a:stretch>
        </p:blipFill>
        <p:spPr>
          <a:xfrm>
            <a:off x="457200" y="2240280"/>
            <a:ext cx="11274552" cy="3254037"/>
          </a:xfrm>
          <a:prstGeom prst="rect">
            <a:avLst/>
          </a:prstGeom>
        </p:spPr>
      </p:pic>
      <p:sp>
        <p:nvSpPr>
          <p:cNvPr id="101" name="Rounded Rectangle 100"/>
          <p:cNvSpPr/>
          <p:nvPr/>
        </p:nvSpPr>
        <p:spPr>
          <a:xfrm>
            <a:off x="457200" y="5577840"/>
            <a:ext cx="5532120" cy="749808"/>
          </a:xfrm>
          <a:prstGeom prst="roundRect">
            <a:avLst>
              <a:gd name="adj" fmla="val 12000"/>
            </a:avLst>
          </a:prstGeom>
          <a:solidFill>
            <a:srgbClr val="DCE6F5"/>
          </a:solidFill>
          <a:ln w="22225">
            <a:solidFill>
              <a:srgbClr val="3378C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900" b="1">
                <a:solidFill>
                  <a:srgbClr val="22357F"/>
                </a:solidFill>
                <a:latin typeface="맑은 고딕"/>
                <a:ea typeface="맑은 고딕"/>
              </a:rPr>
              <a:t>교훈: 값과 함께 나이를 본다</a:t>
            </a:r>
          </a:p>
        </p:txBody>
      </p:sp>
      <p:sp>
        <p:nvSpPr>
          <p:cNvPr id="102" name="Rounded Rectangle 101"/>
          <p:cNvSpPr/>
          <p:nvPr/>
        </p:nvSpPr>
        <p:spPr>
          <a:xfrm>
            <a:off x="6199632" y="5577840"/>
            <a:ext cx="5532120" cy="749808"/>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600" b="1">
                <a:solidFill>
                  <a:srgbClr val="C0392B"/>
                </a:solidFill>
                <a:latin typeface="맑은 고딕"/>
                <a:ea typeface="맑은 고딕"/>
              </a:rPr>
              <a:t>남은 것: 실기 미확인 · 진행 중 스캔은 계속</a:t>
            </a:r>
          </a:p>
        </p:txBody>
      </p:sp>
      <p:sp>
        <p:nvSpPr>
          <p:cNvPr id="103"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PR #136 · #103 · #120 · realrobot-session_20260921 · safety-audit-review_20260922 D-1 · docs/phase1/scan_manager.md 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스캔 결과만으로 모서리 8 선을 용접 자세로 따라간다 — 닿지 않고 띄워서</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04-⑨ phase 2 용접 (1/2)  [뺄 수 있음]</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pic>
        <p:nvPicPr>
          <p:cNvPr id="100" name="Picture 99" descr="weld-pose-weave.png"/>
          <p:cNvPicPr>
            <a:picLocks noChangeAspect="1"/>
          </p:cNvPicPr>
          <p:nvPr/>
        </p:nvPicPr>
        <p:blipFill>
          <a:blip r:embed="rId10"/>
          <a:stretch>
            <a:fillRect/>
          </a:stretch>
        </p:blipFill>
        <p:spPr>
          <a:xfrm>
            <a:off x="457200" y="2286000"/>
            <a:ext cx="6949440" cy="3931920"/>
          </a:xfrm>
          <a:prstGeom prst="rect">
            <a:avLst/>
          </a:prstGeom>
        </p:spPr>
      </p:pic>
      <p:sp>
        <p:nvSpPr>
          <p:cNvPr id="101" name="Rounded Rectangle 100"/>
          <p:cNvSpPr/>
          <p:nvPr/>
        </p:nvSpPr>
        <p:spPr>
          <a:xfrm>
            <a:off x="7589520" y="2286000"/>
            <a:ext cx="4142232" cy="859536"/>
          </a:xfrm>
          <a:prstGeom prst="roundRect">
            <a:avLst>
              <a:gd name="adj" fmla="val 12000"/>
            </a:avLst>
          </a:prstGeom>
          <a:solidFill>
            <a:srgbClr val="FFF1E0"/>
          </a:solidFill>
          <a:ln w="22225">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D2691E"/>
                </a:solidFill>
                <a:latin typeface="맑은 고딕"/>
                <a:ea typeface="맑은 고딕"/>
              </a:rPr>
              <a:t>계약 먼저</a:t>
            </a:r>
          </a:p>
          <a:p>
            <a:pPr algn="ctr">
              <a:spcAft>
                <a:spcPts val="200"/>
              </a:spcAft>
            </a:pPr>
            <a:r>
              <a:rPr sz="1300" b="0">
                <a:solidFill>
                  <a:srgbClr val="262626"/>
                </a:solidFill>
                <a:latin typeface="맑은 고딕"/>
                <a:ea typeface="맑은 고딕"/>
              </a:rPr>
              <a:t>v0.2.0 · 1차 계약은 그대로</a:t>
            </a:r>
          </a:p>
        </p:txBody>
      </p:sp>
      <p:sp>
        <p:nvSpPr>
          <p:cNvPr id="102" name="Rounded Rectangle 101"/>
          <p:cNvSpPr/>
          <p:nvPr/>
        </p:nvSpPr>
        <p:spPr>
          <a:xfrm>
            <a:off x="7589520" y="3255264"/>
            <a:ext cx="4142232" cy="859536"/>
          </a:xfrm>
          <a:prstGeom prst="roundRect">
            <a:avLst>
              <a:gd name="adj" fmla="val 12000"/>
            </a:avLst>
          </a:prstGeom>
          <a:solidFill>
            <a:srgbClr val="FFF1E0"/>
          </a:solidFill>
          <a:ln w="22225">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D2691E"/>
                </a:solidFill>
                <a:latin typeface="맑은 고딕"/>
                <a:ea typeface="맑은 고딕"/>
              </a:rPr>
              <a:t>45° · 3 mm 띄움</a:t>
            </a:r>
          </a:p>
          <a:p>
            <a:pPr algn="ctr">
              <a:spcAft>
                <a:spcPts val="200"/>
              </a:spcAft>
            </a:pPr>
            <a:r>
              <a:rPr sz="1300" b="0">
                <a:solidFill>
                  <a:srgbClr val="262626"/>
                </a:solidFill>
                <a:latin typeface="맑은 고딕"/>
                <a:ea typeface="맑은 고딕"/>
              </a:rPr>
              <a:t>힘 · 순응 제어 없음</a:t>
            </a:r>
          </a:p>
        </p:txBody>
      </p:sp>
      <p:sp>
        <p:nvSpPr>
          <p:cNvPr id="103" name="Rounded Rectangle 102"/>
          <p:cNvSpPr/>
          <p:nvPr/>
        </p:nvSpPr>
        <p:spPr>
          <a:xfrm>
            <a:off x="7589520" y="4224528"/>
            <a:ext cx="4142232" cy="859536"/>
          </a:xfrm>
          <a:prstGeom prst="roundRect">
            <a:avLst>
              <a:gd name="adj" fmla="val 12000"/>
            </a:avLst>
          </a:prstGeom>
          <a:solidFill>
            <a:srgbClr val="FFF1E0"/>
          </a:solidFill>
          <a:ln w="22225">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D2691E"/>
                </a:solidFill>
                <a:latin typeface="맑은 고딕"/>
                <a:ea typeface="맑은 고딕"/>
              </a:rPr>
              <a:t>지그재그 경유점</a:t>
            </a:r>
          </a:p>
          <a:p>
            <a:pPr algn="ctr">
              <a:spcAft>
                <a:spcPts val="200"/>
              </a:spcAft>
            </a:pPr>
            <a:r>
              <a:rPr sz="1300" b="0">
                <a:solidFill>
                  <a:srgbClr val="262626"/>
                </a:solidFill>
                <a:latin typeface="맑은 고딕"/>
                <a:ea typeface="맑은 고딕"/>
              </a:rPr>
              <a:t>위빙 = 점마다 멈추며</a:t>
            </a:r>
          </a:p>
        </p:txBody>
      </p:sp>
      <p:sp>
        <p:nvSpPr>
          <p:cNvPr id="104" name="Rounded Rectangle 103"/>
          <p:cNvSpPr/>
          <p:nvPr/>
        </p:nvSpPr>
        <p:spPr>
          <a:xfrm>
            <a:off x="7589520" y="5193792"/>
            <a:ext cx="4142232" cy="859536"/>
          </a:xfrm>
          <a:prstGeom prst="roundRect">
            <a:avLst>
              <a:gd name="adj" fmla="val 12000"/>
            </a:avLst>
          </a:prstGeom>
          <a:solidFill>
            <a:srgbClr val="FFF1E0"/>
          </a:solidFill>
          <a:ln w="22225">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200"/>
              </a:spcAft>
            </a:pPr>
            <a:r>
              <a:rPr sz="1800" b="1">
                <a:solidFill>
                  <a:srgbClr val="D2691E"/>
                </a:solidFill>
                <a:latin typeface="맑은 고딕"/>
                <a:ea typeface="맑은 고딕"/>
              </a:rPr>
              <a:t>실패 선만 FAILED</a:t>
            </a:r>
          </a:p>
          <a:p>
            <a:pPr algn="ctr">
              <a:spcAft>
                <a:spcPts val="200"/>
              </a:spcAft>
            </a:pPr>
            <a:r>
              <a:rPr sz="1300" b="0">
                <a:solidFill>
                  <a:srgbClr val="262626"/>
                </a:solidFill>
                <a:latin typeface="맑은 고딕"/>
                <a:ea typeface="맑은 고딕"/>
              </a:rPr>
              <a:t>나머지는 계속</a:t>
            </a:r>
          </a:p>
        </p:txBody>
      </p:sp>
      <p:sp>
        <p:nvSpPr>
          <p:cNvPr id="105"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docs/phase2/README.md(D1 · D2 · D19 · D22 · D33) · weld-motion.md 1~4 · 6 절 · weld-ros-interfaces.md. 3 mm · 45° · 진폭 2 mm · 반주기 4 mm 는 설계 출발값</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9" name="그래픽 98">
            <a:extLst>
              <a:ext uri="{FF2B5EF4-FFF2-40B4-BE49-F238E27FC236}">
                <a16:creationId xmlns:a16="http://schemas.microsoft.com/office/drawing/2014/main" id="{F903AA09-02EA-76CC-8175-834ABC7B3E7D}"/>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6FDEB448-9EE3-E350-4F7B-B8FDAF319438}"/>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프로젝트 수행 경과</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04</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nvGrpSpPr>
          <p:cNvPr id="14" name="그룹 13">
            <a:extLst>
              <a:ext uri="{FF2B5EF4-FFF2-40B4-BE49-F238E27FC236}">
                <a16:creationId xmlns:a16="http://schemas.microsoft.com/office/drawing/2014/main" id="{AF4B2E62-632E-762D-16F9-2015B268C1F4}"/>
              </a:ext>
            </a:extLst>
          </p:cNvPr>
          <p:cNvGrpSpPr/>
          <p:nvPr/>
        </p:nvGrpSpPr>
        <p:grpSpPr>
          <a:xfrm>
            <a:off x="541891" y="1430219"/>
            <a:ext cx="10526159" cy="646331"/>
            <a:chOff x="541891" y="1430219"/>
            <a:chExt cx="10526159"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324435" cy="646331"/>
            </a:xfrm>
            <a:prstGeom prst="rect">
              <a:avLst/>
            </a:prstGeom>
            <a:noFill/>
          </p:spPr>
          <p:txBody>
            <a:bodyPr wrap="square">
              <a:spAutoFit/>
            </a:bodyPr>
            <a:lstStyle/>
            <a:p>
              <a:pPr>
                <a:defRPr/>
              </a:pPr>
              <a:r>
                <a:rPr lang="ko-KR" altLang="en-US" b="1" spc="-100" dirty="0">
                  <a:solidFill>
                    <a:schemeClr val="bg2">
                      <a:lumMod val="25000"/>
                    </a:schemeClr>
                  </a:solidFill>
                  <a:latin typeface="+mn-ea"/>
                </a:rPr>
                <a:t>지금까지는 Virtual 과 자세 도달성까지 — 실기 결과는 9/29 에 채운다</a:t>
              </a: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04-⑨ phase 2 용접 (2/2)  [뺄 수 있음]</a:t>
            </a:r>
            <a:endParaRPr lang="ko-KR" altLang="en-US" sz="1400" b="1" spc="-100" dirty="0">
              <a:solidFill>
                <a:schemeClr val="accent1"/>
              </a:solidFill>
              <a:latin typeface="+mn-ea"/>
            </a:endParaRPr>
          </a:p>
        </p:txBody>
      </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4"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1916849"/>
            <a:ext cx="12192000" cy="233580"/>
          </a:xfrm>
          <a:prstGeom prst="rect">
            <a:avLst/>
          </a:prstGeom>
        </p:spPr>
      </p:pic>
      <p:graphicFrame>
        <p:nvGraphicFramePr>
          <p:cNvPr id="100" name="Table 99"/>
          <p:cNvGraphicFramePr>
            <a:graphicFrameLocks noGrp="1"/>
          </p:cNvGraphicFramePr>
          <p:nvPr/>
        </p:nvGraphicFramePr>
        <p:xfrm>
          <a:off x="457200" y="2286000"/>
          <a:ext cx="11274552" cy="3968496"/>
        </p:xfrm>
        <a:graphic>
          <a:graphicData uri="http://schemas.openxmlformats.org/drawingml/2006/table">
            <a:tbl>
              <a:tblPr firstRow="1" bandRow="1">
                <a:tableStyleId>{5C22544A-7EE6-4342-B048-85BDC9FD1C3A}</a:tableStyleId>
              </a:tblPr>
              <a:tblGrid>
                <a:gridCol w="3383280"/>
                <a:gridCol w="2560320"/>
                <a:gridCol w="5330952"/>
              </a:tblGrid>
              <a:tr h="566928">
                <a:tc>
                  <a:txBody>
                    <a:bodyPr wrap="square"/>
                    <a:lstStyle/>
                    <a:p>
                      <a:r>
                        <a:rPr sz="1600" b="1">
                          <a:solidFill>
                            <a:srgbClr val="FFFFFF"/>
                          </a:solidFill>
                          <a:latin typeface="맑은 고딕"/>
                          <a:ea typeface="맑은 고딕"/>
                        </a:rPr>
                        <a:t>확인</a:t>
                      </a:r>
                    </a:p>
                  </a:txBody>
                  <a:tcPr marL="73152" marR="73152" marT="27432" marB="27432" anchor="ctr">
                    <a:solidFill>
                      <a:srgbClr val="3378C8"/>
                    </a:solidFill>
                  </a:tcPr>
                </a:tc>
                <a:tc>
                  <a:txBody>
                    <a:bodyPr wrap="square"/>
                    <a:lstStyle/>
                    <a:p>
                      <a:r>
                        <a:rPr sz="1600" b="1">
                          <a:solidFill>
                            <a:srgbClr val="FFFFFF"/>
                          </a:solidFill>
                          <a:latin typeface="맑은 고딕"/>
                          <a:ea typeface="맑은 고딕"/>
                        </a:rPr>
                        <a:t>환경 · 날짜</a:t>
                      </a:r>
                    </a:p>
                  </a:txBody>
                  <a:tcPr marL="73152" marR="73152" marT="27432" marB="27432" anchor="ctr">
                    <a:solidFill>
                      <a:srgbClr val="3378C8"/>
                    </a:solidFill>
                  </a:tcPr>
                </a:tc>
                <a:tc>
                  <a:txBody>
                    <a:bodyPr wrap="square"/>
                    <a:lstStyle/>
                    <a:p>
                      <a:r>
                        <a:rPr sz="1600" b="1">
                          <a:solidFill>
                            <a:srgbClr val="FFFFFF"/>
                          </a:solidFill>
                          <a:latin typeface="맑은 고딕"/>
                          <a:ea typeface="맑은 고딕"/>
                        </a:rPr>
                        <a:t>결과</a:t>
                      </a:r>
                    </a:p>
                  </a:txBody>
                  <a:tcPr marL="73152" marR="73152" marT="27432" marB="27432" anchor="ctr">
                    <a:solidFill>
                      <a:srgbClr val="3378C8"/>
                    </a:solidFill>
                  </a:tcPr>
                </a:tc>
              </a:tr>
              <a:tr h="566928">
                <a:tc>
                  <a:txBody>
                    <a:bodyPr wrap="square"/>
                    <a:lstStyle/>
                    <a:p>
                      <a:r>
                        <a:rPr sz="1700" b="1">
                          <a:solidFill>
                            <a:srgbClr val="262626"/>
                          </a:solidFill>
                          <a:latin typeface="맑은 고딕"/>
                          <a:ea typeface="맑은 고딕"/>
                        </a:rPr>
                        <a:t>45° 자세 도달</a:t>
                      </a:r>
                    </a:p>
                  </a:txBody>
                  <a:tcPr marL="73152" marR="73152" marT="27432" marB="27432" anchor="ctr">
                    <a:solidFill>
                      <a:srgbClr val="FFFFFF"/>
                    </a:solidFill>
                  </a:tcPr>
                </a:tc>
                <a:tc>
                  <a:txBody>
                    <a:bodyPr wrap="square"/>
                    <a:lstStyle/>
                    <a:p>
                      <a:r>
                        <a:rPr sz="1700" b="0">
                          <a:solidFill>
                            <a:srgbClr val="262626"/>
                          </a:solidFill>
                          <a:latin typeface="맑은 고딕"/>
                          <a:ea typeface="맑은 고딕"/>
                        </a:rPr>
                        <a:t>실기 · 9/23</a:t>
                      </a:r>
                    </a:p>
                  </a:txBody>
                  <a:tcPr marL="73152" marR="73152" marT="27432" marB="27432" anchor="ctr">
                    <a:solidFill>
                      <a:srgbClr val="FFFFFF"/>
                    </a:solidFill>
                  </a:tcPr>
                </a:tc>
                <a:tc>
                  <a:txBody>
                    <a:bodyPr wrap="square"/>
                    <a:lstStyle/>
                    <a:p>
                      <a:r>
                        <a:rPr sz="1700" b="0">
                          <a:solidFill>
                            <a:srgbClr val="262626"/>
                          </a:solidFill>
                          <a:latin typeface="맑은 고딕"/>
                          <a:ea typeface="맑은 고딕"/>
                        </a:rPr>
                        <a:t>12 / 16   (L1 · L5 불가)</a:t>
                      </a:r>
                    </a:p>
                  </a:txBody>
                  <a:tcPr marL="73152" marR="73152" marT="27432" marB="27432" anchor="ctr">
                    <a:solidFill>
                      <a:srgbClr val="FFFFFF"/>
                    </a:solidFill>
                  </a:tcPr>
                </a:tc>
              </a:tr>
              <a:tr h="566928">
                <a:tc>
                  <a:txBody>
                    <a:bodyPr wrap="square"/>
                    <a:lstStyle/>
                    <a:p>
                      <a:r>
                        <a:rPr sz="1700" b="1">
                          <a:solidFill>
                            <a:srgbClr val="262626"/>
                          </a:solidFill>
                          <a:latin typeface="맑은 고딕"/>
                          <a:ea typeface="맑은 고딕"/>
                        </a:rPr>
                        <a:t>8 선 종단</a:t>
                      </a:r>
                    </a:p>
                  </a:txBody>
                  <a:tcPr marL="73152" marR="73152" marT="27432" marB="27432" anchor="ctr">
                    <a:solidFill>
                      <a:srgbClr val="F2F5FA"/>
                    </a:solidFill>
                  </a:tcPr>
                </a:tc>
                <a:tc>
                  <a:txBody>
                    <a:bodyPr wrap="square"/>
                    <a:lstStyle/>
                    <a:p>
                      <a:r>
                        <a:rPr sz="1700" b="0">
                          <a:solidFill>
                            <a:srgbClr val="262626"/>
                          </a:solidFill>
                          <a:latin typeface="맑은 고딕"/>
                          <a:ea typeface="맑은 고딕"/>
                        </a:rPr>
                        <a:t>Virtual · 9/25</a:t>
                      </a:r>
                    </a:p>
                  </a:txBody>
                  <a:tcPr marL="73152" marR="73152" marT="27432" marB="27432" anchor="ctr">
                    <a:solidFill>
                      <a:srgbClr val="F2F5FA"/>
                    </a:solidFill>
                  </a:tcPr>
                </a:tc>
                <a:tc>
                  <a:txBody>
                    <a:bodyPr wrap="square"/>
                    <a:lstStyle/>
                    <a:p>
                      <a:r>
                        <a:rPr sz="1700" b="0">
                          <a:solidFill>
                            <a:srgbClr val="262626"/>
                          </a:solidFill>
                          <a:latin typeface="맑은 고딕"/>
                          <a:ea typeface="맑은 고딕"/>
                        </a:rPr>
                        <a:t>8 / 8 완주 · 246 s</a:t>
                      </a:r>
                    </a:p>
                  </a:txBody>
                  <a:tcPr marL="73152" marR="73152" marT="27432" marB="27432" anchor="ctr">
                    <a:solidFill>
                      <a:srgbClr val="F2F5FA"/>
                    </a:solidFill>
                  </a:tcPr>
                </a:tc>
              </a:tr>
              <a:tr h="566928">
                <a:tc>
                  <a:txBody>
                    <a:bodyPr wrap="square"/>
                    <a:lstStyle/>
                    <a:p>
                      <a:r>
                        <a:rPr sz="1700" b="1">
                          <a:solidFill>
                            <a:srgbClr val="262626"/>
                          </a:solidFill>
                          <a:latin typeface="맑은 고딕"/>
                          <a:ea typeface="맑은 고딕"/>
                        </a:rPr>
                        <a:t>실패 선 처리</a:t>
                      </a:r>
                    </a:p>
                  </a:txBody>
                  <a:tcPr marL="73152" marR="73152" marT="27432" marB="27432" anchor="ctr">
                    <a:solidFill>
                      <a:srgbClr val="FFFFFF"/>
                    </a:solidFill>
                  </a:tcPr>
                </a:tc>
                <a:tc>
                  <a:txBody>
                    <a:bodyPr wrap="square"/>
                    <a:lstStyle/>
                    <a:p>
                      <a:r>
                        <a:rPr sz="1700" b="0">
                          <a:solidFill>
                            <a:srgbClr val="262626"/>
                          </a:solidFill>
                          <a:latin typeface="맑은 고딕"/>
                          <a:ea typeface="맑은 고딕"/>
                        </a:rPr>
                        <a:t>Virtual · 9/25</a:t>
                      </a:r>
                    </a:p>
                  </a:txBody>
                  <a:tcPr marL="73152" marR="73152" marT="27432" marB="27432" anchor="ctr">
                    <a:solidFill>
                      <a:srgbClr val="FFFFFF"/>
                    </a:solidFill>
                  </a:tcPr>
                </a:tc>
                <a:tc>
                  <a:txBody>
                    <a:bodyPr wrap="square"/>
                    <a:lstStyle/>
                    <a:p>
                      <a:r>
                        <a:rPr sz="1700" b="0">
                          <a:solidFill>
                            <a:srgbClr val="262626"/>
                          </a:solidFill>
                          <a:latin typeface="맑은 고딕"/>
                          <a:ea typeface="맑은 고딕"/>
                        </a:rPr>
                        <a:t>FAILED 기록 → 마무리 ○</a:t>
                      </a:r>
                    </a:p>
                  </a:txBody>
                  <a:tcPr marL="73152" marR="73152" marT="27432" marB="27432" anchor="ctr">
                    <a:solidFill>
                      <a:srgbClr val="FFFFFF"/>
                    </a:solidFill>
                  </a:tcPr>
                </a:tc>
              </a:tr>
              <a:tr h="566928">
                <a:tc>
                  <a:txBody>
                    <a:bodyPr wrap="square"/>
                    <a:lstStyle/>
                    <a:p>
                      <a:r>
                        <a:rPr sz="1700" b="1">
                          <a:solidFill>
                            <a:srgbClr val="262626"/>
                          </a:solidFill>
                          <a:latin typeface="맑은 고딕"/>
                          <a:ea typeface="맑은 고딕"/>
                        </a:rPr>
                        <a:t>윗면 L0 → L0~L3</a:t>
                      </a:r>
                    </a:p>
                  </a:txBody>
                  <a:tcPr marL="73152" marR="73152" marT="27432" marB="27432" anchor="ctr">
                    <a:solidFill>
                      <a:srgbClr val="FFF1E0"/>
                    </a:solidFill>
                  </a:tcPr>
                </a:tc>
                <a:tc>
                  <a:txBody>
                    <a:bodyPr wrap="square"/>
                    <a:lstStyle/>
                    <a:p>
                      <a:r>
                        <a:rPr sz="1700" b="0">
                          <a:solidFill>
                            <a:srgbClr val="262626"/>
                          </a:solidFill>
                          <a:latin typeface="맑은 고딕"/>
                          <a:ea typeface="맑은 고딕"/>
                        </a:rPr>
                        <a:t>실기 · 9/29</a:t>
                      </a:r>
                    </a:p>
                  </a:txBody>
                  <a:tcPr marL="73152" marR="73152" marT="27432" marB="27432" anchor="ctr">
                    <a:solidFill>
                      <a:srgbClr val="FFF1E0"/>
                    </a:solidFill>
                  </a:tcPr>
                </a:tc>
                <a:tc>
                  <a:txBody>
                    <a:bodyPr wrap="square"/>
                    <a:lstStyle/>
                    <a:p>
                      <a:r>
                        <a:rPr sz="1700" b="0">
                          <a:solidFill>
                            <a:srgbClr val="D2691E"/>
                          </a:solidFill>
                          <a:latin typeface="맑은 고딕"/>
                          <a:ea typeface="맑은 고딕"/>
                        </a:rPr>
                        <a:t>[9/29 채움]</a:t>
                      </a:r>
                    </a:p>
                  </a:txBody>
                  <a:tcPr marL="73152" marR="73152" marT="27432" marB="27432" anchor="ctr">
                    <a:solidFill>
                      <a:srgbClr val="FFF1E0"/>
                    </a:solidFill>
                  </a:tcPr>
                </a:tc>
              </a:tr>
              <a:tr h="566928">
                <a:tc>
                  <a:txBody>
                    <a:bodyPr wrap="square"/>
                    <a:lstStyle/>
                    <a:p>
                      <a:r>
                        <a:rPr sz="1700" b="1">
                          <a:solidFill>
                            <a:srgbClr val="262626"/>
                          </a:solidFill>
                          <a:latin typeface="맑은 고딕"/>
                          <a:ea typeface="맑은 고딕"/>
                        </a:rPr>
                        <a:t>8 선 중 완주</a:t>
                      </a:r>
                    </a:p>
                  </a:txBody>
                  <a:tcPr marL="73152" marR="73152" marT="27432" marB="27432" anchor="ctr">
                    <a:solidFill>
                      <a:srgbClr val="FFF1E0"/>
                    </a:solidFill>
                  </a:tcPr>
                </a:tc>
                <a:tc>
                  <a:txBody>
                    <a:bodyPr wrap="square"/>
                    <a:lstStyle/>
                    <a:p>
                      <a:r>
                        <a:rPr sz="1700" b="0">
                          <a:solidFill>
                            <a:srgbClr val="262626"/>
                          </a:solidFill>
                          <a:latin typeface="맑은 고딕"/>
                          <a:ea typeface="맑은 고딕"/>
                        </a:rPr>
                        <a:t>실기 · 9/29</a:t>
                      </a:r>
                    </a:p>
                  </a:txBody>
                  <a:tcPr marL="73152" marR="73152" marT="27432" marB="27432" anchor="ctr">
                    <a:solidFill>
                      <a:srgbClr val="FFF1E0"/>
                    </a:solidFill>
                  </a:tcPr>
                </a:tc>
                <a:tc>
                  <a:txBody>
                    <a:bodyPr wrap="square"/>
                    <a:lstStyle/>
                    <a:p>
                      <a:r>
                        <a:rPr sz="1700" b="0">
                          <a:solidFill>
                            <a:srgbClr val="D2691E"/>
                          </a:solidFill>
                          <a:latin typeface="맑은 고딕"/>
                          <a:ea typeface="맑은 고딕"/>
                        </a:rPr>
                        <a:t>[9/29 채움]   (기대 6 / 8)</a:t>
                      </a:r>
                    </a:p>
                  </a:txBody>
                  <a:tcPr marL="73152" marR="73152" marT="27432" marB="27432" anchor="ctr">
                    <a:solidFill>
                      <a:srgbClr val="FFF1E0"/>
                    </a:solidFill>
                  </a:tcPr>
                </a:tc>
              </a:tr>
              <a:tr h="566928">
                <a:tc>
                  <a:txBody>
                    <a:bodyPr wrap="square"/>
                    <a:lstStyle/>
                    <a:p>
                      <a:r>
                        <a:rPr sz="1700" b="1">
                          <a:solidFill>
                            <a:srgbClr val="262626"/>
                          </a:solidFill>
                          <a:latin typeface="맑은 고딕"/>
                          <a:ea typeface="맑은 고딕"/>
                        </a:rPr>
                        <a:t>도착 오차 · 무접촉</a:t>
                      </a:r>
                    </a:p>
                  </a:txBody>
                  <a:tcPr marL="73152" marR="73152" marT="27432" marB="27432" anchor="ctr">
                    <a:solidFill>
                      <a:srgbClr val="FFF1E0"/>
                    </a:solidFill>
                  </a:tcPr>
                </a:tc>
                <a:tc>
                  <a:txBody>
                    <a:bodyPr wrap="square"/>
                    <a:lstStyle/>
                    <a:p>
                      <a:r>
                        <a:rPr sz="1700" b="0">
                          <a:solidFill>
                            <a:srgbClr val="262626"/>
                          </a:solidFill>
                          <a:latin typeface="맑은 고딕"/>
                          <a:ea typeface="맑은 고딕"/>
                        </a:rPr>
                        <a:t>실기 · 9/29</a:t>
                      </a:r>
                    </a:p>
                  </a:txBody>
                  <a:tcPr marL="73152" marR="73152" marT="27432" marB="27432" anchor="ctr">
                    <a:solidFill>
                      <a:srgbClr val="FFF1E0"/>
                    </a:solidFill>
                  </a:tcPr>
                </a:tc>
                <a:tc>
                  <a:txBody>
                    <a:bodyPr wrap="square"/>
                    <a:lstStyle/>
                    <a:p>
                      <a:r>
                        <a:rPr sz="1700" b="0">
                          <a:solidFill>
                            <a:srgbClr val="D2691E"/>
                          </a:solidFill>
                          <a:latin typeface="맑은 고딕"/>
                          <a:ea typeface="맑은 고딕"/>
                        </a:rPr>
                        <a:t>[9/29 채움]</a:t>
                      </a:r>
                    </a:p>
                  </a:txBody>
                  <a:tcPr marL="73152" marR="73152" marT="27432" marB="27432" anchor="ctr">
                    <a:solidFill>
                      <a:srgbClr val="FFF1E0"/>
                    </a:solidFill>
                  </a:tcPr>
                </a:tc>
              </a:tr>
            </a:tbl>
          </a:graphicData>
        </a:graphic>
      </p:graphicFrame>
      <p:sp>
        <p:nvSpPr>
          <p:cNvPr id="101"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phase2/measurements-20260923.md(M1, 세로 아래 4 자세는 계약 z + 17 mm) · p2-weld-virtual_20260925.md(가상 박스 100×60×40 mm, PR #197 머지 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1" name="그래픽 60">
            <a:extLst>
              <a:ext uri="{FF2B5EF4-FFF2-40B4-BE49-F238E27FC236}">
                <a16:creationId xmlns:a16="http://schemas.microsoft.com/office/drawing/2014/main" id="{625593F1-7D9F-57DB-9FA7-6FB470616989}"/>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8B7C90AA-2C31-5C36-C37E-E6E813231056}"/>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자체 평가 의견</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05</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8"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2130850"/>
            <a:ext cx="12192000" cy="233580"/>
          </a:xfrm>
          <a:prstGeom prst="rect">
            <a:avLst/>
          </a:prstGeom>
        </p:spPr>
      </p:pic>
      <p:grpSp>
        <p:nvGrpSpPr>
          <p:cNvPr id="5" name="그룹 4">
            <a:extLst>
              <a:ext uri="{FF2B5EF4-FFF2-40B4-BE49-F238E27FC236}">
                <a16:creationId xmlns:a16="http://schemas.microsoft.com/office/drawing/2014/main" id="{7316AC48-FB9E-B12B-E3BC-DC5404211B32}"/>
              </a:ext>
            </a:extLst>
          </p:cNvPr>
          <p:cNvGrpSpPr/>
          <p:nvPr/>
        </p:nvGrpSpPr>
        <p:grpSpPr>
          <a:xfrm>
            <a:off x="541891" y="1430219"/>
            <a:ext cx="11108218" cy="646331"/>
            <a:chOff x="541891" y="1430219"/>
            <a:chExt cx="11108218"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906494" cy="646331"/>
            </a:xfrm>
            <a:prstGeom prst="rect">
              <a:avLst/>
            </a:prstGeom>
            <a:noFill/>
          </p:spPr>
          <p:txBody>
            <a:bodyPr wrap="square">
              <a:spAutoFit/>
            </a:bodyPr>
            <a:lstStyle/>
            <a:p>
              <a:pPr>
                <a:defRPr/>
              </a:pPr>
              <a:r>
                <a:rPr lang="ko-KR" altLang="en-US" dirty="0">
                  <a:ln>
                    <a:solidFill>
                      <a:schemeClr val="accent1">
                        <a:shade val="15000"/>
                        <a:alpha val="0"/>
                      </a:schemeClr>
                    </a:solidFill>
                  </a:ln>
                  <a:solidFill>
                    <a:schemeClr val="tx1">
                      <a:lumMod val="75000"/>
                      <a:lumOff val="25000"/>
                    </a:schemeClr>
                  </a:solidFill>
                  <a:latin typeface="+mj-ea"/>
                  <a:ea typeface="+mj-ea"/>
                </a:rPr>
                <a:t>형상 정확도는 목표 안, 탐색 시간과 반복 검증은 목표 밖 — 팀의 자체 평가</a:t>
              </a:r>
              <a:br>
                <a:rPr lang="en-US" altLang="ko-KR" dirty="0">
                  <a:ln>
                    <a:solidFill>
                      <a:schemeClr val="accent1">
                        <a:shade val="15000"/>
                        <a:alpha val="0"/>
                      </a:schemeClr>
                    </a:solidFill>
                  </a:ln>
                  <a:solidFill>
                    <a:schemeClr val="tx1">
                      <a:lumMod val="75000"/>
                      <a:lumOff val="25000"/>
                    </a:schemeClr>
                  </a:solidFill>
                  <a:latin typeface="+mj-ea"/>
                  <a:ea typeface="+mj-ea"/>
                </a:rPr>
              </a:b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05 자체 평가 — 팀</a:t>
            </a:r>
            <a:endParaRPr lang="ko-KR" altLang="en-US" sz="1400" b="1" spc="-100" dirty="0">
              <a:solidFill>
                <a:schemeClr val="accent1"/>
              </a:solidFill>
              <a:latin typeface="+mn-ea"/>
            </a:endParaRPr>
          </a:p>
        </p:txBody>
      </p:sp>
      <p:graphicFrame>
        <p:nvGraphicFramePr>
          <p:cNvPr id="62" name="Table 61"/>
          <p:cNvGraphicFramePr>
            <a:graphicFrameLocks noGrp="1"/>
          </p:cNvGraphicFramePr>
          <p:nvPr/>
        </p:nvGraphicFramePr>
        <p:xfrm>
          <a:off x="457200" y="2468880"/>
          <a:ext cx="5486400" cy="2834640"/>
        </p:xfrm>
        <a:graphic>
          <a:graphicData uri="http://schemas.openxmlformats.org/drawingml/2006/table">
            <a:tbl>
              <a:tblPr firstRow="1" bandRow="1">
                <a:tableStyleId>{5C22544A-7EE6-4342-B048-85BDC9FD1C3A}</a:tableStyleId>
              </a:tblPr>
              <a:tblGrid>
                <a:gridCol w="1234440"/>
                <a:gridCol w="1600200"/>
                <a:gridCol w="2651760"/>
              </a:tblGrid>
              <a:tr h="566928">
                <a:tc>
                  <a:txBody>
                    <a:bodyPr wrap="square"/>
                    <a:lstStyle/>
                    <a:p>
                      <a:r>
                        <a:rPr sz="1050" b="1">
                          <a:solidFill>
                            <a:srgbClr val="FFFFFF"/>
                          </a:solidFill>
                          <a:latin typeface="맑은 고딕"/>
                          <a:ea typeface="맑은 고딕"/>
                        </a:rPr>
                        <a:t>완성도 (10 점)</a:t>
                      </a:r>
                    </a:p>
                  </a:txBody>
                  <a:tcPr marL="73152" marR="73152" marT="27432" marB="27432" anchor="ctr">
                    <a:solidFill>
                      <a:srgbClr val="3378C8"/>
                    </a:solidFill>
                  </a:tcPr>
                </a:tc>
                <a:tc>
                  <a:txBody>
                    <a:bodyPr wrap="square"/>
                    <a:lstStyle/>
                    <a:p>
                      <a:r>
                        <a:rPr sz="1050" b="1">
                          <a:solidFill>
                            <a:srgbClr val="FFFFFF"/>
                          </a:solidFill>
                          <a:latin typeface="맑은 고딕"/>
                          <a:ea typeface="맑은 고딕"/>
                        </a:rPr>
                        <a:t>점수</a:t>
                      </a:r>
                    </a:p>
                  </a:txBody>
                  <a:tcPr marL="73152" marR="73152" marT="27432" marB="27432" anchor="ctr">
                    <a:solidFill>
                      <a:srgbClr val="3378C8"/>
                    </a:solidFill>
                  </a:tcPr>
                </a:tc>
                <a:tc>
                  <a:txBody>
                    <a:bodyPr wrap="square"/>
                    <a:lstStyle/>
                    <a:p>
                      <a:r>
                        <a:rPr sz="1050" b="1">
                          <a:solidFill>
                            <a:srgbClr val="FFFFFF"/>
                          </a:solidFill>
                          <a:latin typeface="맑은 고딕"/>
                          <a:ea typeface="맑은 고딕"/>
                        </a:rPr>
                        <a:t>이유</a:t>
                      </a:r>
                    </a:p>
                  </a:txBody>
                  <a:tcPr marL="73152" marR="73152" marT="27432" marB="27432" anchor="ctr">
                    <a:solidFill>
                      <a:srgbClr val="3378C8"/>
                    </a:solidFill>
                  </a:tcPr>
                </a:tc>
              </a:tr>
              <a:tr h="566928">
                <a:tc>
                  <a:txBody>
                    <a:bodyPr wrap="square"/>
                    <a:lstStyle/>
                    <a:p>
                      <a:r>
                        <a:rPr sz="1050" b="1">
                          <a:solidFill>
                            <a:srgbClr val="262626"/>
                          </a:solidFill>
                          <a:latin typeface="맑은 고딕"/>
                          <a:ea typeface="맑은 고딕"/>
                        </a:rPr>
                        <a:t>박병후</a:t>
                      </a:r>
                    </a:p>
                  </a:txBody>
                  <a:tcPr marL="73152" marR="73152" marT="27432" marB="27432" anchor="ctr">
                    <a:solidFill>
                      <a:srgbClr val="FFFFFF"/>
                    </a:solidFill>
                  </a:tcPr>
                </a:tc>
                <a:tc>
                  <a:txBody>
                    <a:bodyPr wrap="square"/>
                    <a:lstStyle/>
                    <a:p>
                      <a:r>
                        <a:rPr sz="1050" b="0">
                          <a:solidFill>
                            <a:srgbClr val="D2691E"/>
                          </a:solidFill>
                          <a:latin typeface="맑은 고딕"/>
                          <a:ea typeface="맑은 고딕"/>
                        </a:rPr>
                        <a:t>[받으면 채움: 병후]</a:t>
                      </a:r>
                    </a:p>
                  </a:txBody>
                  <a:tcPr marL="73152" marR="73152" marT="27432" marB="27432" anchor="ctr">
                    <a:solidFill>
                      <a:srgbClr val="FFFFFF"/>
                    </a:solidFill>
                  </a:tcPr>
                </a:tc>
                <a:tc>
                  <a:txBody>
                    <a:bodyPr wrap="square"/>
                    <a:lstStyle/>
                    <a:p>
                      <a:r>
                        <a:rPr sz="1050" b="0">
                          <a:solidFill>
                            <a:srgbClr val="D2691E"/>
                          </a:solidFill>
                          <a:latin typeface="맑은 고딕"/>
                          <a:ea typeface="맑은 고딕"/>
                        </a:rPr>
                        <a:t>[받으면 채움: 병후]</a:t>
                      </a:r>
                    </a:p>
                  </a:txBody>
                  <a:tcPr marL="73152" marR="73152" marT="27432" marB="27432" anchor="ctr">
                    <a:solidFill>
                      <a:srgbClr val="FFFFFF"/>
                    </a:solidFill>
                  </a:tcPr>
                </a:tc>
              </a:tr>
              <a:tr h="566928">
                <a:tc>
                  <a:txBody>
                    <a:bodyPr wrap="square"/>
                    <a:lstStyle/>
                    <a:p>
                      <a:r>
                        <a:rPr sz="1050" b="1">
                          <a:solidFill>
                            <a:srgbClr val="262626"/>
                          </a:solidFill>
                          <a:latin typeface="맑은 고딕"/>
                          <a:ea typeface="맑은 고딕"/>
                        </a:rPr>
                        <a:t>김학민</a:t>
                      </a:r>
                    </a:p>
                  </a:txBody>
                  <a:tcPr marL="73152" marR="73152" marT="27432" marB="27432" anchor="ctr">
                    <a:solidFill>
                      <a:srgbClr val="F2F5FA"/>
                    </a:solidFill>
                  </a:tcPr>
                </a:tc>
                <a:tc>
                  <a:txBody>
                    <a:bodyPr wrap="square"/>
                    <a:lstStyle/>
                    <a:p>
                      <a:r>
                        <a:rPr sz="1050" b="0">
                          <a:solidFill>
                            <a:srgbClr val="D2691E"/>
                          </a:solidFill>
                          <a:latin typeface="맑은 고딕"/>
                          <a:ea typeface="맑은 고딕"/>
                        </a:rPr>
                        <a:t>[받으면 채움: 학민]</a:t>
                      </a:r>
                    </a:p>
                  </a:txBody>
                  <a:tcPr marL="73152" marR="73152" marT="27432" marB="27432" anchor="ctr">
                    <a:solidFill>
                      <a:srgbClr val="F2F5FA"/>
                    </a:solidFill>
                  </a:tcPr>
                </a:tc>
                <a:tc>
                  <a:txBody>
                    <a:bodyPr wrap="square"/>
                    <a:lstStyle/>
                    <a:p>
                      <a:r>
                        <a:rPr sz="1050" b="0">
                          <a:solidFill>
                            <a:srgbClr val="D2691E"/>
                          </a:solidFill>
                          <a:latin typeface="맑은 고딕"/>
                          <a:ea typeface="맑은 고딕"/>
                        </a:rPr>
                        <a:t>[받으면 채움: 학민]</a:t>
                      </a:r>
                    </a:p>
                  </a:txBody>
                  <a:tcPr marL="73152" marR="73152" marT="27432" marB="27432" anchor="ctr">
                    <a:solidFill>
                      <a:srgbClr val="F2F5FA"/>
                    </a:solidFill>
                  </a:tcPr>
                </a:tc>
              </a:tr>
              <a:tr h="566928">
                <a:tc>
                  <a:txBody>
                    <a:bodyPr wrap="square"/>
                    <a:lstStyle/>
                    <a:p>
                      <a:r>
                        <a:rPr sz="1050" b="1">
                          <a:solidFill>
                            <a:srgbClr val="262626"/>
                          </a:solidFill>
                          <a:latin typeface="맑은 고딕"/>
                          <a:ea typeface="맑은 고딕"/>
                        </a:rPr>
                        <a:t>남현지</a:t>
                      </a:r>
                    </a:p>
                  </a:txBody>
                  <a:tcPr marL="73152" marR="73152" marT="27432" marB="27432" anchor="ctr">
                    <a:solidFill>
                      <a:srgbClr val="FFFFFF"/>
                    </a:solidFill>
                  </a:tcPr>
                </a:tc>
                <a:tc>
                  <a:txBody>
                    <a:bodyPr wrap="square"/>
                    <a:lstStyle/>
                    <a:p>
                      <a:r>
                        <a:rPr sz="1050" b="0">
                          <a:solidFill>
                            <a:srgbClr val="D2691E"/>
                          </a:solidFill>
                          <a:latin typeface="맑은 고딕"/>
                          <a:ea typeface="맑은 고딕"/>
                        </a:rPr>
                        <a:t>[받으면 채움: 현지]</a:t>
                      </a:r>
                    </a:p>
                  </a:txBody>
                  <a:tcPr marL="73152" marR="73152" marT="27432" marB="27432" anchor="ctr">
                    <a:solidFill>
                      <a:srgbClr val="FFFFFF"/>
                    </a:solidFill>
                  </a:tcPr>
                </a:tc>
                <a:tc>
                  <a:txBody>
                    <a:bodyPr wrap="square"/>
                    <a:lstStyle/>
                    <a:p>
                      <a:r>
                        <a:rPr sz="1050" b="0">
                          <a:solidFill>
                            <a:srgbClr val="D2691E"/>
                          </a:solidFill>
                          <a:latin typeface="맑은 고딕"/>
                          <a:ea typeface="맑은 고딕"/>
                        </a:rPr>
                        <a:t>[받으면 채움: 현지]</a:t>
                      </a:r>
                    </a:p>
                  </a:txBody>
                  <a:tcPr marL="73152" marR="73152" marT="27432" marB="27432" anchor="ctr">
                    <a:solidFill>
                      <a:srgbClr val="FFFFFF"/>
                    </a:solidFill>
                  </a:tcPr>
                </a:tc>
              </a:tr>
              <a:tr h="566928">
                <a:tc>
                  <a:txBody>
                    <a:bodyPr wrap="square"/>
                    <a:lstStyle/>
                    <a:p>
                      <a:r>
                        <a:rPr sz="1050" b="1">
                          <a:solidFill>
                            <a:srgbClr val="262626"/>
                          </a:solidFill>
                          <a:latin typeface="맑은 고딕"/>
                          <a:ea typeface="맑은 고딕"/>
                        </a:rPr>
                        <a:t>정의석</a:t>
                      </a:r>
                    </a:p>
                  </a:txBody>
                  <a:tcPr marL="73152" marR="73152" marT="27432" marB="27432" anchor="ctr">
                    <a:solidFill>
                      <a:srgbClr val="F2F5FA"/>
                    </a:solidFill>
                  </a:tcPr>
                </a:tc>
                <a:tc>
                  <a:txBody>
                    <a:bodyPr wrap="square"/>
                    <a:lstStyle/>
                    <a:p>
                      <a:r>
                        <a:rPr sz="1050" b="0">
                          <a:solidFill>
                            <a:srgbClr val="D2691E"/>
                          </a:solidFill>
                          <a:latin typeface="맑은 고딕"/>
                          <a:ea typeface="맑은 고딕"/>
                        </a:rPr>
                        <a:t>[받으면 채움: 의석]</a:t>
                      </a:r>
                    </a:p>
                  </a:txBody>
                  <a:tcPr marL="73152" marR="73152" marT="27432" marB="27432" anchor="ctr">
                    <a:solidFill>
                      <a:srgbClr val="F2F5FA"/>
                    </a:solidFill>
                  </a:tcPr>
                </a:tc>
                <a:tc>
                  <a:txBody>
                    <a:bodyPr wrap="square"/>
                    <a:lstStyle/>
                    <a:p>
                      <a:r>
                        <a:rPr sz="1050" b="0">
                          <a:solidFill>
                            <a:srgbClr val="D2691E"/>
                          </a:solidFill>
                          <a:latin typeface="맑은 고딕"/>
                          <a:ea typeface="맑은 고딕"/>
                        </a:rPr>
                        <a:t>[받으면 채움: 의석]</a:t>
                      </a:r>
                    </a:p>
                  </a:txBody>
                  <a:tcPr marL="73152" marR="73152" marT="27432" marB="27432" anchor="ctr">
                    <a:solidFill>
                      <a:srgbClr val="F2F5FA"/>
                    </a:solidFill>
                  </a:tcPr>
                </a:tc>
              </a:tr>
            </a:tbl>
          </a:graphicData>
        </a:graphic>
      </p:graphicFrame>
      <p:sp>
        <p:nvSpPr>
          <p:cNvPr id="63" name="TextBox 62"/>
          <p:cNvSpPr txBox="1"/>
          <p:nvPr/>
        </p:nvSpPr>
        <p:spPr>
          <a:xfrm>
            <a:off x="457200" y="5440680"/>
            <a:ext cx="5486400" cy="548640"/>
          </a:xfrm>
          <a:prstGeom prst="rect">
            <a:avLst/>
          </a:prstGeom>
          <a:noFill/>
        </p:spPr>
        <p:txBody>
          <a:bodyPr wrap="square" anchor="t" tIns="54864" bIns="54864">
            <a:spAutoFit/>
          </a:bodyPr>
          <a:lstStyle/>
          <a:p>
            <a:pPr algn="l">
              <a:spcAft>
                <a:spcPts val="400"/>
              </a:spcAft>
            </a:pPr>
            <a:r>
              <a:rPr sz="1300" b="1">
                <a:solidFill>
                  <a:srgbClr val="D2691E"/>
                </a:solidFill>
                <a:latin typeface="맑은 고딕"/>
                <a:ea typeface="맑은 고딕"/>
              </a:rPr>
              <a:t>평균 [받으면 채움] / 10</a:t>
            </a:r>
          </a:p>
        </p:txBody>
      </p:sp>
      <p:sp>
        <p:nvSpPr>
          <p:cNvPr id="64" name="TextBox 63"/>
          <p:cNvSpPr txBox="1"/>
          <p:nvPr/>
        </p:nvSpPr>
        <p:spPr>
          <a:xfrm>
            <a:off x="6126480" y="2468880"/>
            <a:ext cx="5605272" cy="3840480"/>
          </a:xfrm>
          <a:prstGeom prst="rect">
            <a:avLst/>
          </a:prstGeom>
          <a:solidFill>
            <a:srgbClr val="F2F5FA"/>
          </a:solidFill>
        </p:spPr>
        <p:txBody>
          <a:bodyPr wrap="square" anchor="t" tIns="54864" bIns="54864">
            <a:spAutoFit/>
          </a:bodyPr>
          <a:lstStyle/>
          <a:p>
            <a:pPr algn="l">
              <a:spcAft>
                <a:spcPts val="200"/>
              </a:spcAft>
            </a:pPr>
            <a:r>
              <a:rPr sz="1250" b="1">
                <a:solidFill>
                  <a:srgbClr val="3378C8"/>
                </a:solidFill>
                <a:latin typeface="맑은 고딕"/>
                <a:ea typeface="맑은 고딕"/>
              </a:rPr>
              <a:t>잘한 점</a:t>
            </a:r>
          </a:p>
          <a:p>
            <a:pPr algn="l">
              <a:spcAft>
                <a:spcPts val="400"/>
              </a:spcAft>
            </a:pPr>
            <a:r>
              <a:rPr sz="1100" b="0">
                <a:solidFill>
                  <a:srgbClr val="262626"/>
                </a:solidFill>
                <a:latin typeface="맑은 고딕"/>
                <a:ea typeface="맑은 고딕"/>
              </a:rPr>
              <a:t>· 계약을 먼저 얼려 네 명이 병렬로 만들었고, 9/23 실기에서 웹 → ROS → 웹이 이어졌다</a:t>
            </a:r>
          </a:p>
          <a:p>
            <a:pPr algn="l">
              <a:spcAft>
                <a:spcPts val="800"/>
              </a:spcAft>
            </a:pPr>
            <a:r>
              <a:rPr sz="1100" b="0">
                <a:solidFill>
                  <a:srgbClr val="262626"/>
                </a:solidFill>
                <a:latin typeface="맑은 고딕"/>
                <a:ea typeface="맑은 고딕"/>
              </a:rPr>
              <a:t>· 미달 · 미실시까지 수치와 보고서로 남겼다</a:t>
            </a:r>
          </a:p>
          <a:p>
            <a:pPr algn="l">
              <a:spcAft>
                <a:spcPts val="200"/>
              </a:spcAft>
            </a:pPr>
            <a:r>
              <a:rPr sz="1250" b="1">
                <a:solidFill>
                  <a:srgbClr val="C0392B"/>
                </a:solidFill>
                <a:latin typeface="맑은 고딕"/>
                <a:ea typeface="맑은 고딕"/>
              </a:rPr>
              <a:t>아쉬운 점</a:t>
            </a:r>
          </a:p>
          <a:p>
            <a:pPr algn="l">
              <a:spcAft>
                <a:spcPts val="400"/>
              </a:spcAft>
            </a:pPr>
            <a:r>
              <a:rPr sz="1100" b="0">
                <a:solidFill>
                  <a:srgbClr val="262626"/>
                </a:solidFill>
                <a:latin typeface="맑은 고딕"/>
                <a:ea typeface="맑은 고딕"/>
              </a:rPr>
              <a:t>· 탐색 438 s(KPI 120 s) · 검출 하중 2/10 초과 · 반영 지연 312 ms · 설정 등록 버튼 미구현</a:t>
            </a:r>
          </a:p>
          <a:p>
            <a:pPr algn="l">
              <a:spcAft>
                <a:spcPts val="800"/>
              </a:spcAft>
            </a:pPr>
            <a:r>
              <a:rPr sz="1100" b="0">
                <a:solidFill>
                  <a:srgbClr val="262626"/>
                </a:solidFill>
                <a:latin typeface="맑은 고딕"/>
                <a:ea typeface="맑은 고딕"/>
              </a:rPr>
              <a:t>· 반복성 · 오검출 · 셋업 시간 KPI 와 재시작 실기 시험은 미실시</a:t>
            </a:r>
          </a:p>
          <a:p>
            <a:pPr algn="l">
              <a:spcAft>
                <a:spcPts val="200"/>
              </a:spcAft>
            </a:pPr>
            <a:r>
              <a:rPr sz="1250" b="1">
                <a:solidFill>
                  <a:srgbClr val="3378C8"/>
                </a:solidFill>
                <a:latin typeface="맑은 고딕"/>
                <a:ea typeface="맑은 고딕"/>
              </a:rPr>
              <a:t>개선점</a:t>
            </a:r>
          </a:p>
          <a:p>
            <a:pPr algn="l">
              <a:spcAft>
                <a:spcPts val="400"/>
              </a:spcAft>
            </a:pPr>
            <a:r>
              <a:rPr sz="1100" b="0">
                <a:solidFill>
                  <a:srgbClr val="262626"/>
                </a:solidFill>
                <a:latin typeface="맑은 고딕"/>
                <a:ea typeface="맑은 고딕"/>
              </a:rPr>
              <a:t>· 재접근 2 단 · 거친 스텝 1.0 mm 로 약 230 s(계산값 · 미실시)</a:t>
            </a:r>
          </a:p>
          <a:p>
            <a:pPr algn="l">
              <a:spcAft>
                <a:spcPts val="600"/>
              </a:spcAft>
            </a:pPr>
            <a:r>
              <a:rPr sz="1100" b="0">
                <a:solidFill>
                  <a:srgbClr val="262626"/>
                </a:solidFill>
                <a:latin typeface="맑은 고딕"/>
                <a:ea typeface="맑은 고딕"/>
              </a:rPr>
              <a:t>· 10 회 반복 · 20 회 오검출 시험, 진행 중 스캔에도 감시자 끊김 적용</a:t>
            </a:r>
          </a:p>
          <a:p>
            <a:pPr algn="l">
              <a:spcAft>
                <a:spcPts val="400"/>
              </a:spcAft>
            </a:pPr>
            <a:r>
              <a:rPr sz="900" b="0">
                <a:solidFill>
                  <a:srgbClr val="7F7F7F"/>
                </a:solidFill>
                <a:latin typeface="맑은 고딕"/>
                <a:ea typeface="맑은 고딕"/>
              </a:rPr>
              <a:t>(잘한 점 · 아쉬운 점 · 개선점은 초안 — 팀 확인 전)</a:t>
            </a:r>
          </a:p>
        </p:txBody>
      </p:sp>
      <p:sp>
        <p:nvSpPr>
          <p:cNvPr id="65" name="출처 각주"/>
          <p:cNvSpPr txBox="1"/>
          <p:nvPr/>
        </p:nvSpPr>
        <p:spPr>
          <a:xfrm>
            <a:off x="457200" y="644652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#180(탐색 시간 · 개선안 계산값) · TR-01_20260923 · TR-05_20260922 · PR #179 · integration-audit_20260921(TR-08 미착수) · safety-audit D-1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1" name="그래픽 60">
            <a:extLst>
              <a:ext uri="{FF2B5EF4-FFF2-40B4-BE49-F238E27FC236}">
                <a16:creationId xmlns:a16="http://schemas.microsoft.com/office/drawing/2014/main" id="{625593F1-7D9F-57DB-9FA7-6FB470616989}"/>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39" name="사각형: 둥근 한쪽 모서리 38">
            <a:extLst>
              <a:ext uri="{FF2B5EF4-FFF2-40B4-BE49-F238E27FC236}">
                <a16:creationId xmlns:a16="http://schemas.microsoft.com/office/drawing/2014/main" id="{5EADE06A-9DBC-11A8-5DF5-38CF63ECD050}"/>
              </a:ext>
            </a:extLst>
          </p:cNvPr>
          <p:cNvSpPr/>
          <p:nvPr/>
        </p:nvSpPr>
        <p:spPr>
          <a:xfrm flipH="1" flipV="1">
            <a:off x="174170" y="70719"/>
            <a:ext cx="12017829" cy="1221051"/>
          </a:xfrm>
          <a:prstGeom prst="round1Rect">
            <a:avLst>
              <a:gd name="adj" fmla="val 23799"/>
            </a:avLst>
          </a:prstGeom>
          <a:solidFill>
            <a:schemeClr val="bg1">
              <a:lumMod val="95000"/>
              <a:alpha val="50000"/>
            </a:schemeClr>
          </a:solidFill>
          <a:ln w="10818"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 name="그룹 2">
            <a:extLst>
              <a:ext uri="{FF2B5EF4-FFF2-40B4-BE49-F238E27FC236}">
                <a16:creationId xmlns:a16="http://schemas.microsoft.com/office/drawing/2014/main" id="{8B7C90AA-2C31-5C36-C37E-E6E813231056}"/>
              </a:ext>
            </a:extLst>
          </p:cNvPr>
          <p:cNvGrpSpPr/>
          <p:nvPr/>
        </p:nvGrpSpPr>
        <p:grpSpPr>
          <a:xfrm>
            <a:off x="376102" y="333243"/>
            <a:ext cx="5948498" cy="830997"/>
            <a:chOff x="376102" y="333243"/>
            <a:chExt cx="5948498" cy="830997"/>
          </a:xfrm>
        </p:grpSpPr>
        <p:sp>
          <p:nvSpPr>
            <p:cNvPr id="27" name="TextBox 26">
              <a:extLst>
                <a:ext uri="{FF2B5EF4-FFF2-40B4-BE49-F238E27FC236}">
                  <a16:creationId xmlns:a16="http://schemas.microsoft.com/office/drawing/2014/main" id="{B3B4124F-4D0D-30C0-E721-EE580D127CC8}"/>
                </a:ext>
              </a:extLst>
            </p:cNvPr>
            <p:cNvSpPr txBox="1"/>
            <p:nvPr/>
          </p:nvSpPr>
          <p:spPr>
            <a:xfrm>
              <a:off x="1461721" y="366114"/>
              <a:ext cx="2252213" cy="276999"/>
            </a:xfrm>
            <a:prstGeom prst="rect">
              <a:avLst/>
            </a:prstGeom>
            <a:noFill/>
          </p:spPr>
          <p:txBody>
            <a:bodyPr wrap="square">
              <a:spAutoFit/>
            </a:bodyPr>
            <a:lstStyle/>
            <a:p>
              <a:r>
                <a:rPr lang="en-US" altLang="ko-KR"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rPr>
                <a:t>K-Digital Training</a:t>
              </a:r>
              <a:endParaRPr lang="ko-KR" altLang="en-US" sz="1200" b="1" dirty="0">
                <a:ln>
                  <a:solidFill>
                    <a:schemeClr val="accent1">
                      <a:shade val="15000"/>
                      <a:alpha val="0"/>
                    </a:schemeClr>
                  </a:solidFill>
                </a:ln>
                <a:solidFill>
                  <a:srgbClr val="3378C8">
                    <a:alpha val="50000"/>
                  </a:srgbClr>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6C8DE4B1-0C6D-133C-80D8-F6968CBF60AC}"/>
                </a:ext>
              </a:extLst>
            </p:cNvPr>
            <p:cNvSpPr txBox="1"/>
            <p:nvPr/>
          </p:nvSpPr>
          <p:spPr>
            <a:xfrm>
              <a:off x="1461721" y="585057"/>
              <a:ext cx="4862879" cy="523220"/>
            </a:xfrm>
            <a:prstGeom prst="rect">
              <a:avLst/>
            </a:prstGeom>
            <a:noFill/>
          </p:spPr>
          <p:txBody>
            <a:bodyPr wrap="square">
              <a:spAutoFit/>
            </a:bodyPr>
            <a:lstStyle/>
            <a:p>
              <a:pPr>
                <a:defRPr/>
              </a:pPr>
              <a:r>
                <a:rPr lang="ko-KR" altLang="en-US" sz="2800" b="1" dirty="0">
                  <a:ln>
                    <a:solidFill>
                      <a:schemeClr val="accent1">
                        <a:shade val="15000"/>
                        <a:alpha val="0"/>
                      </a:schemeClr>
                    </a:solidFill>
                  </a:ln>
                  <a:solidFill>
                    <a:schemeClr val="tx1">
                      <a:lumMod val="75000"/>
                      <a:lumOff val="25000"/>
                    </a:schemeClr>
                  </a:solidFill>
                  <a:latin typeface="맑은 고딕" panose="020B0503020000020004" pitchFamily="50" charset="-127"/>
                  <a:ea typeface="맑은 고딕" panose="020B0503020000020004" pitchFamily="50" charset="-127"/>
                </a:rPr>
                <a:t>자체 평가 의견</a:t>
              </a:r>
            </a:p>
          </p:txBody>
        </p:sp>
        <p:sp>
          <p:nvSpPr>
            <p:cNvPr id="13" name="TextBox 12">
              <a:extLst>
                <a:ext uri="{FF2B5EF4-FFF2-40B4-BE49-F238E27FC236}">
                  <a16:creationId xmlns:a16="http://schemas.microsoft.com/office/drawing/2014/main" id="{E0E94AA3-A994-6AB2-870F-88DA16811E4D}"/>
                </a:ext>
              </a:extLst>
            </p:cNvPr>
            <p:cNvSpPr txBox="1"/>
            <p:nvPr/>
          </p:nvSpPr>
          <p:spPr>
            <a:xfrm>
              <a:off x="376102" y="333243"/>
              <a:ext cx="1266679" cy="830997"/>
            </a:xfrm>
            <a:prstGeom prst="rect">
              <a:avLst/>
            </a:prstGeom>
            <a:noFill/>
          </p:spPr>
          <p:txBody>
            <a:bodyPr wrap="square" tIns="0" bIns="0">
              <a:spAutoFit/>
            </a:bodyPr>
            <a:lstStyle/>
            <a:p>
              <a:pPr eaLnBrk="1" fontAlgn="auto" latinLnBrk="1" hangingPunct="1">
                <a:spcBef>
                  <a:spcPts val="0"/>
                </a:spcBef>
                <a:spcAft>
                  <a:spcPts val="0"/>
                </a:spcAft>
                <a:defRPr/>
              </a:pPr>
              <a:r>
                <a:rPr lang="en-US" altLang="ko-KR" sz="5400" dirty="0">
                  <a:ln>
                    <a:solidFill>
                      <a:schemeClr val="accent1">
                        <a:shade val="15000"/>
                        <a:alpha val="0"/>
                      </a:schemeClr>
                    </a:solidFill>
                  </a:ln>
                  <a:solidFill>
                    <a:srgbClr val="3378C8"/>
                  </a:solidFill>
                  <a:latin typeface="세방고딕 Bold" panose="00000800000000000000" pitchFamily="2" charset="-127"/>
                  <a:ea typeface="세방고딕 Bold" panose="00000800000000000000" pitchFamily="2" charset="-127"/>
                </a:rPr>
                <a:t>05</a:t>
              </a:r>
              <a:endParaRPr lang="ko-KR" altLang="en-US" sz="4400" b="1"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grpSp>
      <p:pic>
        <p:nvPicPr>
          <p:cNvPr id="35" name="그림 34">
            <a:extLst>
              <a:ext uri="{FF2B5EF4-FFF2-40B4-BE49-F238E27FC236}">
                <a16:creationId xmlns:a16="http://schemas.microsoft.com/office/drawing/2014/main" id="{753AFFF3-DFFD-86BD-A0E4-365D0D959218}"/>
              </a:ext>
            </a:extLst>
          </p:cNvPr>
          <p:cNvPicPr>
            <a:picLocks noChangeAspect="1"/>
          </p:cNvPicPr>
          <p:nvPr/>
        </p:nvPicPr>
        <p:blipFill rotWithShape="1">
          <a:blip r:embed="rId8" cstate="print">
            <a:duotone>
              <a:schemeClr val="accent5">
                <a:shade val="45000"/>
                <a:satMod val="135000"/>
              </a:schemeClr>
              <a:prstClr val="white"/>
            </a:duotone>
            <a:alphaModFix amt="27000"/>
            <a:extLst>
              <a:ext uri="{28A0092B-C50C-407E-A947-70E740481C1C}">
                <a14:useLocalDpi xmlns:a14="http://schemas.microsoft.com/office/drawing/2010/main"/>
              </a:ext>
            </a:extLst>
          </a:blip>
          <a:srcRect/>
          <a:stretch/>
        </p:blipFill>
        <p:spPr>
          <a:xfrm rot="10800000" flipV="1">
            <a:off x="0" y="2130850"/>
            <a:ext cx="12192000" cy="233580"/>
          </a:xfrm>
          <a:prstGeom prst="rect">
            <a:avLst/>
          </a:prstGeom>
        </p:spPr>
      </p:pic>
      <p:grpSp>
        <p:nvGrpSpPr>
          <p:cNvPr id="5" name="그룹 4">
            <a:extLst>
              <a:ext uri="{FF2B5EF4-FFF2-40B4-BE49-F238E27FC236}">
                <a16:creationId xmlns:a16="http://schemas.microsoft.com/office/drawing/2014/main" id="{7316AC48-FB9E-B12B-E3BC-DC5404211B32}"/>
              </a:ext>
            </a:extLst>
          </p:cNvPr>
          <p:cNvGrpSpPr/>
          <p:nvPr/>
        </p:nvGrpSpPr>
        <p:grpSpPr>
          <a:xfrm>
            <a:off x="541891" y="1430219"/>
            <a:ext cx="11108218" cy="646331"/>
            <a:chOff x="541891" y="1430219"/>
            <a:chExt cx="11108218" cy="646331"/>
          </a:xfrm>
        </p:grpSpPr>
        <p:sp>
          <p:nvSpPr>
            <p:cNvPr id="24" name="TextBox 23">
              <a:extLst>
                <a:ext uri="{FF2B5EF4-FFF2-40B4-BE49-F238E27FC236}">
                  <a16:creationId xmlns:a16="http://schemas.microsoft.com/office/drawing/2014/main" id="{67F04AE5-D365-4B0E-9031-83310E282831}"/>
                </a:ext>
              </a:extLst>
            </p:cNvPr>
            <p:cNvSpPr txBox="1"/>
            <p:nvPr/>
          </p:nvSpPr>
          <p:spPr>
            <a:xfrm>
              <a:off x="743615" y="1430219"/>
              <a:ext cx="10906494" cy="646331"/>
            </a:xfrm>
            <a:prstGeom prst="rect">
              <a:avLst/>
            </a:prstGeom>
            <a:noFill/>
          </p:spPr>
          <p:txBody>
            <a:bodyPr wrap="square">
              <a:spAutoFit/>
            </a:bodyPr>
            <a:lstStyle/>
            <a:p>
              <a:pPr>
                <a:defRPr/>
              </a:pPr>
              <a:r>
                <a:rPr lang="ko-KR" altLang="en-US" dirty="0">
                  <a:ln>
                    <a:solidFill>
                      <a:schemeClr val="accent1">
                        <a:shade val="15000"/>
                        <a:alpha val="0"/>
                      </a:schemeClr>
                    </a:solidFill>
                  </a:ln>
                  <a:solidFill>
                    <a:schemeClr val="tx1">
                      <a:lumMod val="75000"/>
                      <a:lumOff val="25000"/>
                    </a:schemeClr>
                  </a:solidFill>
                  <a:latin typeface="+mj-ea"/>
                  <a:ea typeface="+mj-ea"/>
                </a:rPr>
                <a:t>각자 한 줄 소감과, 운영 · 협업 · 개선 사례 하나씩</a:t>
              </a:r>
              <a:br>
                <a:rPr lang="en-US" altLang="ko-KR" dirty="0">
                  <a:ln>
                    <a:solidFill>
                      <a:schemeClr val="accent1">
                        <a:shade val="15000"/>
                        <a:alpha val="0"/>
                      </a:schemeClr>
                    </a:solidFill>
                  </a:ln>
                  <a:solidFill>
                    <a:schemeClr val="tx1">
                      <a:lumMod val="75000"/>
                      <a:lumOff val="25000"/>
                    </a:schemeClr>
                  </a:solidFill>
                  <a:latin typeface="+mj-ea"/>
                  <a:ea typeface="+mj-ea"/>
                </a:rPr>
              </a:br>
            </a:p>
          </p:txBody>
        </p:sp>
        <p:sp>
          <p:nvSpPr>
            <p:cNvPr id="45" name="그래픽 43">
              <a:extLst>
                <a:ext uri="{FF2B5EF4-FFF2-40B4-BE49-F238E27FC236}">
                  <a16:creationId xmlns:a16="http://schemas.microsoft.com/office/drawing/2014/main" id="{512AEB8B-AA28-FDBA-00E7-D5D95C2F683D}"/>
                </a:ext>
              </a:extLst>
            </p:cNvPr>
            <p:cNvSpPr/>
            <p:nvPr/>
          </p:nvSpPr>
          <p:spPr>
            <a:xfrm>
              <a:off x="541891" y="1539006"/>
              <a:ext cx="101147" cy="113869"/>
            </a:xfrm>
            <a:custGeom>
              <a:avLst/>
              <a:gdLst>
                <a:gd name="connsiteX0" fmla="*/ 428021 w 450214"/>
                <a:gd name="connsiteY0" fmla="*/ 214932 h 506845"/>
                <a:gd name="connsiteX1" fmla="*/ 66705 w 450214"/>
                <a:gd name="connsiteY1" fmla="*/ 6045 h 506845"/>
                <a:gd name="connsiteX2" fmla="*/ 0 w 450214"/>
                <a:gd name="connsiteY2" fmla="*/ 44511 h 506845"/>
                <a:gd name="connsiteX3" fmla="*/ 0 w 450214"/>
                <a:gd name="connsiteY3" fmla="*/ 462326 h 506845"/>
                <a:gd name="connsiteX4" fmla="*/ 66705 w 450214"/>
                <a:gd name="connsiteY4" fmla="*/ 500812 h 506845"/>
                <a:gd name="connsiteX5" fmla="*/ 428021 w 450214"/>
                <a:gd name="connsiteY5" fmla="*/ 291905 h 506845"/>
                <a:gd name="connsiteX6" fmla="*/ 428021 w 450214"/>
                <a:gd name="connsiteY6" fmla="*/ 214932 h 50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4" h="506845">
                  <a:moveTo>
                    <a:pt x="428021" y="214932"/>
                  </a:moveTo>
                  <a:lnTo>
                    <a:pt x="66705" y="6045"/>
                  </a:lnTo>
                  <a:cubicBezTo>
                    <a:pt x="37072" y="-11108"/>
                    <a:pt x="0" y="10287"/>
                    <a:pt x="0" y="44511"/>
                  </a:cubicBezTo>
                  <a:lnTo>
                    <a:pt x="0" y="462326"/>
                  </a:lnTo>
                  <a:cubicBezTo>
                    <a:pt x="0" y="496550"/>
                    <a:pt x="37072" y="517945"/>
                    <a:pt x="66705" y="500812"/>
                  </a:cubicBezTo>
                  <a:lnTo>
                    <a:pt x="428021" y="291905"/>
                  </a:lnTo>
                  <a:cubicBezTo>
                    <a:pt x="457613" y="274793"/>
                    <a:pt x="457613" y="232064"/>
                    <a:pt x="428021" y="214932"/>
                  </a:cubicBezTo>
                  <a:close/>
                </a:path>
              </a:pathLst>
            </a:custGeom>
            <a:solidFill>
              <a:srgbClr val="3378C8"/>
            </a:solidFill>
            <a:ln w="2035" cap="flat">
              <a:noFill/>
              <a:prstDash val="solid"/>
              <a:miter/>
            </a:ln>
            <a:effectLst>
              <a:outerShdw blurRad="50800" dist="38100" dir="5400000" algn="t" rotWithShape="0">
                <a:srgbClr val="3378C8">
                  <a:alpha val="40000"/>
                </a:srgbClr>
              </a:outerShdw>
            </a:effectLst>
          </p:spPr>
          <p:txBody>
            <a:bodyPr rtlCol="0" anchor="ctr"/>
            <a:lstStyle/>
            <a:p>
              <a:endParaRPr lang="ko-KR" altLang="en-US"/>
            </a:p>
          </p:txBody>
        </p:sp>
      </p:grpSp>
      <p:sp>
        <p:nvSpPr>
          <p:cNvPr id="2" name="TextBox 1">
            <a:extLst>
              <a:ext uri="{FF2B5EF4-FFF2-40B4-BE49-F238E27FC236}">
                <a16:creationId xmlns:a16="http://schemas.microsoft.com/office/drawing/2014/main" id="{D2C2358E-3B03-27B5-CA0C-4BF0B1CDFADB}"/>
              </a:ext>
            </a:extLst>
          </p:cNvPr>
          <p:cNvSpPr txBox="1"/>
          <p:nvPr/>
        </p:nvSpPr>
        <p:spPr>
          <a:xfrm>
            <a:off x="0" y="0"/>
            <a:ext cx="12192000" cy="114300"/>
          </a:xfrm>
          <a:prstGeom prst="rect">
            <a:avLst/>
          </a:prstGeom>
          <a:solidFill>
            <a:srgbClr val="FFD85C"/>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4" name="TextBox 3">
            <a:extLst>
              <a:ext uri="{FF2B5EF4-FFF2-40B4-BE49-F238E27FC236}">
                <a16:creationId xmlns:a16="http://schemas.microsoft.com/office/drawing/2014/main" id="{487E27BB-6406-EC3A-3BF4-56C8615BDA14}"/>
              </a:ext>
            </a:extLst>
          </p:cNvPr>
          <p:cNvSpPr txBox="1"/>
          <p:nvPr/>
        </p:nvSpPr>
        <p:spPr>
          <a:xfrm>
            <a:off x="0" y="0"/>
            <a:ext cx="1336675" cy="114300"/>
          </a:xfrm>
          <a:prstGeom prst="rect">
            <a:avLst/>
          </a:prstGeom>
          <a:solidFill>
            <a:srgbClr val="3378C8"/>
          </a:solidFill>
          <a:effectLst/>
        </p:spPr>
        <p:txBody>
          <a:bodyPr wrap="square" rtlCol="0" anchor="ctr">
            <a:noAutofit/>
          </a:bodyPr>
          <a:lstStyle/>
          <a:p>
            <a:pPr algn="ctr"/>
            <a:endParaRPr lang="ko-KR" altLang="en-US" sz="1600" b="1" spc="600" dirty="0">
              <a:ln>
                <a:solidFill>
                  <a:schemeClr val="accent1">
                    <a:shade val="15000"/>
                    <a:alpha val="0"/>
                  </a:schemeClr>
                </a:solidFill>
              </a:ln>
              <a:solidFill>
                <a:srgbClr val="3378C8"/>
              </a:solidFill>
              <a:latin typeface="세방고딕 Regular" panose="00000500000000000000" pitchFamily="2" charset="-127"/>
              <a:ea typeface="세방고딕 Regular" panose="00000500000000000000" pitchFamily="2" charset="-127"/>
            </a:endParaRPr>
          </a:p>
        </p:txBody>
      </p:sp>
      <p:sp>
        <p:nvSpPr>
          <p:cNvPr id="16" name="TextBox 15">
            <a:extLst>
              <a:ext uri="{FF2B5EF4-FFF2-40B4-BE49-F238E27FC236}">
                <a16:creationId xmlns:a16="http://schemas.microsoft.com/office/drawing/2014/main" id="{8BD100E5-682D-13CE-B307-81D8B8E71B57}"/>
              </a:ext>
            </a:extLst>
          </p:cNvPr>
          <p:cNvSpPr txBox="1"/>
          <p:nvPr/>
        </p:nvSpPr>
        <p:spPr>
          <a:xfrm>
            <a:off x="8312385" y="854343"/>
            <a:ext cx="3503513" cy="523220"/>
          </a:xfrm>
          <a:prstGeom prst="rect">
            <a:avLst/>
          </a:prstGeom>
          <a:noFill/>
        </p:spPr>
        <p:txBody>
          <a:bodyPr wrap="square">
            <a:spAutoFit/>
          </a:bodyPr>
          <a:lstStyle/>
          <a:p>
            <a:pPr algn="r"/>
            <a:r>
              <a:rPr lang="en-US" altLang="ko-KR" sz="1400" b="1" dirty="0">
                <a:ln>
                  <a:solidFill>
                    <a:schemeClr val="accent1">
                      <a:shade val="15000"/>
                      <a:alpha val="0"/>
                    </a:schemeClr>
                  </a:solidFill>
                </a:ln>
                <a:solidFill>
                  <a:schemeClr val="accent1"/>
                </a:solidFill>
                <a:latin typeface="맑은 고딕" panose="020B0503020000020004" pitchFamily="50" charset="-127"/>
                <a:ea typeface="맑은 고딕" panose="020B0503020000020004" pitchFamily="50" charset="-127"/>
              </a:rPr>
              <a:t>* 05 자체 평가 — 개인</a:t>
            </a:r>
            <a:endParaRPr lang="ko-KR" altLang="en-US" sz="1400" b="1" spc="-100" dirty="0">
              <a:solidFill>
                <a:schemeClr val="accent1"/>
              </a:solidFill>
              <a:latin typeface="+mn-ea"/>
            </a:endParaRPr>
          </a:p>
        </p:txBody>
      </p:sp>
      <p:graphicFrame>
        <p:nvGraphicFramePr>
          <p:cNvPr id="62" name="Table 61"/>
          <p:cNvGraphicFramePr>
            <a:graphicFrameLocks noGrp="1"/>
          </p:cNvGraphicFramePr>
          <p:nvPr/>
        </p:nvGraphicFramePr>
        <p:xfrm>
          <a:off x="457200" y="2468880"/>
          <a:ext cx="11274551" cy="3657600"/>
        </p:xfrm>
        <a:graphic>
          <a:graphicData uri="http://schemas.openxmlformats.org/drawingml/2006/table">
            <a:tbl>
              <a:tblPr firstRow="1" bandRow="1">
                <a:tableStyleId>{5C22544A-7EE6-4342-B048-85BDC9FD1C3A}</a:tableStyleId>
              </a:tblPr>
              <a:tblGrid>
                <a:gridCol w="1005840"/>
                <a:gridCol w="3566160"/>
                <a:gridCol w="2240280"/>
                <a:gridCol w="2377440"/>
                <a:gridCol w="2084831"/>
              </a:tblGrid>
              <a:tr h="731520">
                <a:tc>
                  <a:txBody>
                    <a:bodyPr wrap="square"/>
                    <a:lstStyle/>
                    <a:p>
                      <a:r>
                        <a:rPr sz="1000" b="1">
                          <a:solidFill>
                            <a:srgbClr val="FFFFFF"/>
                          </a:solidFill>
                          <a:latin typeface="맑은 고딕"/>
                          <a:ea typeface="맑은 고딕"/>
                        </a:rPr>
                        <a:t>이름</a:t>
                      </a:r>
                    </a:p>
                  </a:txBody>
                  <a:tcPr marL="73152" marR="73152" marT="27432" marB="27432" anchor="ctr">
                    <a:solidFill>
                      <a:srgbClr val="3378C8"/>
                    </a:solidFill>
                  </a:tcPr>
                </a:tc>
                <a:tc>
                  <a:txBody>
                    <a:bodyPr wrap="square"/>
                    <a:lstStyle/>
                    <a:p>
                      <a:r>
                        <a:rPr sz="1000" b="1">
                          <a:solidFill>
                            <a:srgbClr val="FFFFFF"/>
                          </a:solidFill>
                          <a:latin typeface="맑은 고딕"/>
                          <a:ea typeface="맑은 고딕"/>
                        </a:rPr>
                        <a:t>한 줄 (느낀 점 · 성과)</a:t>
                      </a:r>
                    </a:p>
                  </a:txBody>
                  <a:tcPr marL="73152" marR="73152" marT="27432" marB="27432" anchor="ctr">
                    <a:solidFill>
                      <a:srgbClr val="3378C8"/>
                    </a:solidFill>
                  </a:tcPr>
                </a:tc>
                <a:tc>
                  <a:txBody>
                    <a:bodyPr wrap="square"/>
                    <a:lstStyle/>
                    <a:p>
                      <a:r>
                        <a:rPr sz="1000" b="1">
                          <a:solidFill>
                            <a:srgbClr val="FFFFFF"/>
                          </a:solidFill>
                          <a:latin typeface="맑은 고딕"/>
                          <a:ea typeface="맑은 고딕"/>
                        </a:rPr>
                        <a:t>운영</a:t>
                      </a:r>
                    </a:p>
                  </a:txBody>
                  <a:tcPr marL="73152" marR="73152" marT="27432" marB="27432" anchor="ctr">
                    <a:solidFill>
                      <a:srgbClr val="3378C8"/>
                    </a:solidFill>
                  </a:tcPr>
                </a:tc>
                <a:tc>
                  <a:txBody>
                    <a:bodyPr wrap="square"/>
                    <a:lstStyle/>
                    <a:p>
                      <a:r>
                        <a:rPr sz="1000" b="1">
                          <a:solidFill>
                            <a:srgbClr val="FFFFFF"/>
                          </a:solidFill>
                          <a:latin typeface="맑은 고딕"/>
                          <a:ea typeface="맑은 고딕"/>
                        </a:rPr>
                        <a:t>협업</a:t>
                      </a:r>
                    </a:p>
                  </a:txBody>
                  <a:tcPr marL="73152" marR="73152" marT="27432" marB="27432" anchor="ctr">
                    <a:solidFill>
                      <a:srgbClr val="3378C8"/>
                    </a:solidFill>
                  </a:tcPr>
                </a:tc>
                <a:tc>
                  <a:txBody>
                    <a:bodyPr wrap="square"/>
                    <a:lstStyle/>
                    <a:p>
                      <a:r>
                        <a:rPr sz="1000" b="1">
                          <a:solidFill>
                            <a:srgbClr val="FFFFFF"/>
                          </a:solidFill>
                          <a:latin typeface="맑은 고딕"/>
                          <a:ea typeface="맑은 고딕"/>
                        </a:rPr>
                        <a:t>개선</a:t>
                      </a:r>
                    </a:p>
                  </a:txBody>
                  <a:tcPr marL="73152" marR="73152" marT="27432" marB="27432" anchor="ctr">
                    <a:solidFill>
                      <a:srgbClr val="3378C8"/>
                    </a:solidFill>
                  </a:tcPr>
                </a:tc>
              </a:tr>
              <a:tr h="731520">
                <a:tc>
                  <a:txBody>
                    <a:bodyPr wrap="square"/>
                    <a:lstStyle/>
                    <a:p>
                      <a:r>
                        <a:rPr sz="1000" b="1">
                          <a:solidFill>
                            <a:srgbClr val="262626"/>
                          </a:solidFill>
                          <a:latin typeface="맑은 고딕"/>
                          <a:ea typeface="맑은 고딕"/>
                        </a:rPr>
                        <a:t>박병후</a:t>
                      </a:r>
                    </a:p>
                    <a:p>
                      <a:r>
                        <a:rPr sz="1000" b="1">
                          <a:solidFill>
                            <a:srgbClr val="262626"/>
                          </a:solidFill>
                          <a:latin typeface="맑은 고딕"/>
                          <a:ea typeface="맑은 고딕"/>
                        </a:rPr>
                        <a:t>(초안)</a:t>
                      </a:r>
                    </a:p>
                  </a:txBody>
                  <a:tcPr marL="73152" marR="73152" marT="27432" marB="27432" anchor="ctr">
                    <a:solidFill>
                      <a:srgbClr val="FFFFFF"/>
                    </a:solidFill>
                  </a:tcPr>
                </a:tc>
                <a:tc>
                  <a:txBody>
                    <a:bodyPr wrap="square"/>
                    <a:lstStyle/>
                    <a:p>
                      <a:r>
                        <a:rPr sz="1000" b="0">
                          <a:solidFill>
                            <a:srgbClr val="262626"/>
                          </a:solidFill>
                          <a:latin typeface="맑은 고딕"/>
                          <a:ea typeface="맑은 고딕"/>
                        </a:rPr>
                        <a:t>계약을 먼저 고정하니 넷이 따로 만들어도 한 흐름으로 이어졌다. 대신 실측이 바꾼 값을 계약에 되돌리는 일이 끝까지 남았다</a:t>
                      </a:r>
                    </a:p>
                  </a:txBody>
                  <a:tcPr marL="73152" marR="73152" marT="27432" marB="27432" anchor="ctr">
                    <a:solidFill>
                      <a:srgbClr val="FFFFFF"/>
                    </a:solidFill>
                  </a:tcPr>
                </a:tc>
                <a:tc>
                  <a:txBody>
                    <a:bodyPr wrap="square"/>
                    <a:lstStyle/>
                    <a:p>
                      <a:r>
                        <a:rPr sz="1000" b="0">
                          <a:solidFill>
                            <a:srgbClr val="262626"/>
                          </a:solidFill>
                          <a:latin typeface="맑은 고딕"/>
                          <a:ea typeface="맑은 고딕"/>
                        </a:rPr>
                        <a:t>계약 동결(9/18) 뒤 변경은 PR + 변경 이력으로만 — v0.1 → v0.1.20</a:t>
                      </a:r>
                    </a:p>
                  </a:txBody>
                  <a:tcPr marL="73152" marR="73152" marT="27432" marB="27432" anchor="ctr">
                    <a:solidFill>
                      <a:srgbClr val="FFFFFF"/>
                    </a:solidFill>
                  </a:tcPr>
                </a:tc>
                <a:tc>
                  <a:txBody>
                    <a:bodyPr wrap="square"/>
                    <a:lstStyle/>
                    <a:p>
                      <a:r>
                        <a:rPr sz="1000" b="0">
                          <a:solidFill>
                            <a:srgbClr val="262626"/>
                          </a:solidFill>
                          <a:latin typeface="맑은 고딕"/>
                          <a:ea typeface="맑은 고딕"/>
                        </a:rPr>
                        <a:t>MQTT 계약을 의석과 한 장으로 합의(9/18) — 목업 발행기와 브리지 시험이 같은 예시를 쓴다</a:t>
                      </a:r>
                    </a:p>
                  </a:txBody>
                  <a:tcPr marL="73152" marR="73152" marT="27432" marB="27432" anchor="ctr">
                    <a:solidFill>
                      <a:srgbClr val="FFFFFF"/>
                    </a:solidFill>
                  </a:tcPr>
                </a:tc>
                <a:tc>
                  <a:txBody>
                    <a:bodyPr wrap="square"/>
                    <a:lstStyle/>
                    <a:p>
                      <a:r>
                        <a:rPr sz="1000" b="0">
                          <a:solidFill>
                            <a:srgbClr val="262626"/>
                          </a:solidFill>
                          <a:latin typeface="맑은 고딕"/>
                          <a:ea typeface="맑은 고딕"/>
                        </a:rPr>
                        <a:t>감시자 끊김이면 시작 거절(04-⑧, PR #136)</a:t>
                      </a:r>
                    </a:p>
                  </a:txBody>
                  <a:tcPr marL="73152" marR="73152" marT="27432" marB="27432" anchor="ctr">
                    <a:solidFill>
                      <a:srgbClr val="FFFFFF"/>
                    </a:solidFill>
                  </a:tcPr>
                </a:tc>
              </a:tr>
              <a:tr h="731520">
                <a:tc>
                  <a:txBody>
                    <a:bodyPr wrap="square"/>
                    <a:lstStyle/>
                    <a:p>
                      <a:r>
                        <a:rPr sz="1000" b="1">
                          <a:solidFill>
                            <a:srgbClr val="262626"/>
                          </a:solidFill>
                          <a:latin typeface="맑은 고딕"/>
                          <a:ea typeface="맑은 고딕"/>
                        </a:rPr>
                        <a:t>김학민</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 학민]</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2F5FA"/>
                    </a:solidFill>
                  </a:tcPr>
                </a:tc>
              </a:tr>
              <a:tr h="731520">
                <a:tc>
                  <a:txBody>
                    <a:bodyPr wrap="square"/>
                    <a:lstStyle/>
                    <a:p>
                      <a:r>
                        <a:rPr sz="1000" b="1">
                          <a:solidFill>
                            <a:srgbClr val="262626"/>
                          </a:solidFill>
                          <a:latin typeface="맑은 고딕"/>
                          <a:ea typeface="맑은 고딕"/>
                        </a:rPr>
                        <a:t>남현지</a:t>
                      </a:r>
                    </a:p>
                  </a:txBody>
                  <a:tcPr marL="73152" marR="73152" marT="27432" marB="27432" anchor="ctr">
                    <a:solidFill>
                      <a:srgbClr val="FFFFFF"/>
                    </a:solidFill>
                  </a:tcPr>
                </a:tc>
                <a:tc>
                  <a:txBody>
                    <a:bodyPr wrap="square"/>
                    <a:lstStyle/>
                    <a:p>
                      <a:r>
                        <a:rPr sz="1000" b="0">
                          <a:solidFill>
                            <a:srgbClr val="D2691E"/>
                          </a:solidFill>
                          <a:latin typeface="맑은 고딕"/>
                          <a:ea typeface="맑은 고딕"/>
                        </a:rPr>
                        <a:t>[받으면 채움: 현지]</a:t>
                      </a:r>
                    </a:p>
                  </a:txBody>
                  <a:tcPr marL="73152" marR="73152" marT="27432" marB="27432" anchor="ctr">
                    <a:solidFill>
                      <a:srgbClr val="FFFFFF"/>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FFFFF"/>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FFFFF"/>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FFFFF"/>
                    </a:solidFill>
                  </a:tcPr>
                </a:tc>
              </a:tr>
              <a:tr h="731520">
                <a:tc>
                  <a:txBody>
                    <a:bodyPr wrap="square"/>
                    <a:lstStyle/>
                    <a:p>
                      <a:r>
                        <a:rPr sz="1000" b="1">
                          <a:solidFill>
                            <a:srgbClr val="262626"/>
                          </a:solidFill>
                          <a:latin typeface="맑은 고딕"/>
                          <a:ea typeface="맑은 고딕"/>
                        </a:rPr>
                        <a:t>정의석</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 의석]</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2F5FA"/>
                    </a:solidFill>
                  </a:tcPr>
                </a:tc>
                <a:tc>
                  <a:txBody>
                    <a:bodyPr wrap="square"/>
                    <a:lstStyle/>
                    <a:p>
                      <a:r>
                        <a:rPr sz="1000" b="0">
                          <a:solidFill>
                            <a:srgbClr val="D2691E"/>
                          </a:solidFill>
                          <a:latin typeface="맑은 고딕"/>
                          <a:ea typeface="맑은 고딕"/>
                        </a:rPr>
                        <a:t>[받으면 채움]</a:t>
                      </a:r>
                    </a:p>
                  </a:txBody>
                  <a:tcPr marL="73152" marR="73152" marT="27432" marB="27432" anchor="ctr">
                    <a:solidFill>
                      <a:srgbClr val="F2F5FA"/>
                    </a:solidFill>
                  </a:tcPr>
                </a:tc>
              </a:tr>
            </a:tbl>
          </a:graphicData>
        </a:graphic>
      </p:graphicFrame>
      <p:sp>
        <p:nvSpPr>
          <p:cNvPr id="63" name="출처 각주"/>
          <p:cNvSpPr txBox="1"/>
          <p:nvPr/>
        </p:nvSpPr>
        <p:spPr>
          <a:xfrm>
            <a:off x="457200" y="6492240"/>
            <a:ext cx="11274552" cy="274320"/>
          </a:xfrm>
          <a:prstGeom prst="rect">
            <a:avLst/>
          </a:prstGeom>
          <a:noFill/>
        </p:spPr>
        <p:txBody>
          <a:bodyPr wrap="square" anchor="t" tIns="54864" bIns="54864">
            <a:spAutoFit/>
          </a:bodyPr>
          <a:lstStyle/>
          <a:p>
            <a:pPr algn="l">
              <a:spcAft>
                <a:spcPts val="400"/>
              </a:spcAft>
            </a:pPr>
            <a:r>
              <a:rPr sz="950" b="0">
                <a:solidFill>
                  <a:srgbClr val="7F7F7F"/>
                </a:solidFill>
                <a:latin typeface="맑은 고딕"/>
                <a:ea typeface="맑은 고딕"/>
              </a:rPr>
              <a:t>출처: docs/contracts/CHANGELOG.md · docs/contracts/mqtt-schema.md 상태 줄(T01 1 차 회의 병후 · 의석) · PR #136. 병후 행은 초안(병후 확인), 나머지는 받으면 채움</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133</TotalTime>
  <Words>706</Words>
  <Application>Microsoft Office PowerPoint</Application>
  <PresentationFormat>와이드스크린</PresentationFormat>
  <Paragraphs>168</Paragraphs>
  <Slides>12</Slides>
  <Notes>0</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12</vt:i4>
      </vt:variant>
    </vt:vector>
  </HeadingPairs>
  <TitlesOfParts>
    <vt:vector size="22" baseType="lpstr">
      <vt:lpstr>Pretendard SemiBold</vt:lpstr>
      <vt:lpstr>굴림체</vt:lpstr>
      <vt:lpstr>맑은 고딕</vt:lpstr>
      <vt:lpstr>맑은 고딕 Semilight</vt:lpstr>
      <vt:lpstr>세방고딕 Bold</vt:lpstr>
      <vt:lpstr>세방고딕 Regular</vt:lpstr>
      <vt:lpstr>휴먼둥근헤드라인</vt:lpstr>
      <vt:lpstr>Arial</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김준영</dc:creator>
  <cp:lastModifiedBy>User</cp:lastModifiedBy>
  <cp:revision>24</cp:revision>
  <dcterms:created xsi:type="dcterms:W3CDTF">2023-12-20T03:00:25Z</dcterms:created>
  <dcterms:modified xsi:type="dcterms:W3CDTF">2025-05-13T06:58:10Z</dcterms:modified>
</cp:coreProperties>
</file>