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기록하는데, 품종이 바뀌면 이 일을 다시 해야 합니다. 왼쪽 표처럼 그 시간 동안 셀이 멈추고, 교육과 불량 · 납기에도 비용이 듭니다. 그런데 이 일을 맡을 사람이 부족합니다 — 뿌리산업 종사자의 68.2 % 가 40 대 이상이고, 10 인 미만 업체의 89.3 % 가 인력 부족을 호소합니다. 그래서 "부재를 놓고 시작만 누르면 로봇이 직접 만져서 좌표를 얻는다"를 목표로 잡았습니다.</a:t>
            </a:r>
          </a:p>
          <a:p>
            <a:r>
              <a:t>(세부: 가설은 "다품종 소량 중소 제조사에서 품종 교체 시 재티칭이 가장 큰 운영 비용"이다. 셋업을 15~30 분에 바꾼다는 업계 주장도 있어 1 회 티칭 시간은 사실로 단정하지 않고 가정값으로 둔다(E13). 업체당 평균 종사자 2.8 명(E3). 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방법을 나란히 놓았습니다. 지금의 재티칭은 매번 사람이 필요하고, 와이어 터치센싱은 감지 기능이 있는 용접 전원과 통전되는 깨끗한 모서리가 필요하며, 레이저나 3D 비전은 비싸고 반사나 아크광에 약합니다. 저희는 센서를 더하지 않고 로봇 관절 토크로 추정한 외력을 촉각으로, 그리퍼는 탐침을 쥐는 손가락으로 씁니다. 그리고 그 과정을 웹 3D 화면에 실시간으로 보여줍니다. [뺄 수 있음 카드] 같은 결과로 모서리를 용접 자세로 따라가는 것까지 이어 봤습니다.</a:t>
            </a:r>
          </a:p>
          <a:p>
            <a:r>
              <a:t>(세부: 우리 약점은 탐색 시간과 단순 형상 · 규칙 배치(MVP)다. 와이어 터치센싱의 가격은 "저가 SW 옵션, 금액 미확인"(E5), 비전은 1만~5만 달러 이상(E12). ○ △ × 는 BRD 3.2 표의 문장을 기호로 옮긴 것이다. [합치기 체크] 용접을 빼면 주황 카드 "[뺄 수 있음] 01-② 용접"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(세부: 노드 5 개 = scan_manager · robot_manager · contact_detector · safety_monitor · mqtt_bridge. 입력원 전환은 launch 인자 source:=sim | robot_force. 웹은 React + Three.js 3D · FastAPI · Spring Boot · PostgreSQL · Mosquitto. 경로 후보는 용접 이음 판정이 아니다. 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기대효과를 지금의 직접교시와 나란히 놓았습니다. 품종을 바꿀 때 사람이 쓰는 시간이 한 시간 안팎에서 배치와 시작 · 확인 0.1 시간으로 줄고, 하루 두 번 교체하는 현장이면 1 년에 500 시간이 50 시간이 됩니다. 정확도는 교시하는 사람의 숙련도가 아니라 목표 ±3 mm 로 관리되고, 9/23 실기에서 그 안에 들어왔습니다. 다만 이 숫자들은 BRD 의 가정이고, 지금 MVP 는 원리를 보여 주는 단계라 이 절감을 바로 만들지는 않습니다.</a:t>
            </a:r>
          </a:p>
          <a:p>
            <a:r>
              <a:t>(세부: 기본 시나리오 = 교체 일 2 회 · 250 일 · 1 회 티칭 1.0 h · 사람 개입 0.1 h · 인건비 35,000 원 → 연 절감 1,775 만원, 도입비 1,000 만원(가정) 회수 약 7.2 개월. 보수적 시나리오(일 1 회 · 0.5 h)는 회수 약 6.7 년이라 목표 고객이 아니다 → 목표 고객 = 교체 하루 2 회 이상 또는 1 회 티칭 1 시간 안팎인 임가공 · 제관 업체. 로봇 탐색 7.3 분은 스텝 모드 실측이며 KPI 2 분은 미달(현지 04-⑥). MVP 이후: 비스듬한 배치 · 곡면 · ±1 mm · 마커로 경로 따라 긋기. 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나눠 맡았습니다. 저는 스캔 전체 순서를 쥐는 scan_manager 를 맡아 윗면 · 모서리 탐색 순서와 중지 · 안전복귀 · 재시작, 결과 기록을 만들었고, 노드 사이의 약속인 인터페이스 패키지와 계약 문서를 맡았습니다. 학민은 로봇을 움직이는 robot_manager 와 좌표 기준을, 현지는 접촉 판정과 안전 감시와 통합을, 의석은 관제 화면과 브리지를 맡았습니다. 네 명이 동시에 개발하려고 노드 사이의 이름과 형식을 계약 문서로 먼저 정했습니다.</a:t>
            </a:r>
          </a:p>
          <a:p>
            <a:r>
              <a:t>(팀원 확인 전: 역할 · 하는 일 문구는 담당 표로 채웠다. 받으면 채움: 학민 · 현지 · 의석의 담당 한 줄. 산출물 번호: 01 아키텍처 · 02 네트워크 · 03 순서도 · 04 하드웨어 · 05 인터페이스 · 06 노드 구조도 · 07 HMI · 08 예외 · 09 안전, 그 밖에 소스 zip(현지) · Readme · 영상(의석 · 현지) · 발표자료(병후))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동결했습니다. 그 뒤 이틀 동안 각자 모듈을 만들고, 9/21 부터 사흘 동안 통합과 실기를 해서 9/23 에 실기에서 웹까지 이어지는 종단 실행을 세 번 연속 성공했습니다. [뺄 수 있음 행] 연휴에는 그 결과로 용접 모션을 이어 붙였습니다. 발표는 오늘입니다.</a:t>
            </a:r>
          </a:p>
          <a:p>
            <a:r>
              <a:t>(세부: 9/21 저녁 기능 동결 뒤에는 버그 수정만 머지했다. 3 회 연속 = 9/23 실기 시연에서 1 회 약 7 분 종단을 팀원 4 명 입회 하에 세 번 연속 성공, 동영상 촬영(슬랙 채널). 그 전 파라미터 튜닝은 PR #179. [합치기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동결한 계약을 9/23 실기까지 열아홉 번 고쳐 main 에 넣었습니다.</a:t>
            </a:r>
          </a:p>
          <a:p>
            <a:r>
              <a:t>(세부: 계약이 코드보다 우선이라 이름 · 필드 · 단위가 바뀌면 계약 문서 · 인터페이스 패키지 · 변경 이력을 한 PR 에서 같이 고치고, 둘이 어긋나면 동기화 시험이 CI 에서 실패한다. 입력원은 launch 인자 source:=sim | robot_force 하나로 바꾼다. CHANGELOG 는 v0.1.1 ~ v0.1.20 의 19 항목(v0.1.17 은 번호만 비어 있다). v0.1.21 도 9/23 날짜로 적혔지만 main 머지는 9/27 이라 세지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뺄 수 있음 — 15 분 발표면 ⑨ 다음으로 뺀다] 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(세부: 변경 파일 15 개를 넘으면 쪼갠다 · main 직접 푸시 금지 · 다른 사람 패키지는 소유자 리뷰 · yaml 은 sim · real 분리 · 미측정은 0 이 아니라 NaN · null · 시험 번호(TR)별 보고서 + 저녁 통합 기록(daily).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관제 화면과 웹 서버, MQTT 브로커가 있고, 가운데 메인 PC 에서 ROS 2 노드 다섯 개가 돕니다. 스캔 순서는 scan_manager 가, 접촉 판정은 contact_detector 가, 로봇 호출은 robot_manager 한 곳이 맡고, 로봇 컨트롤러와는 robot_manager 만 명령을 주고받습니다. 핵심은 빨간 화살표입니다 — 안전 감시와 정지는 웹을 거치지 않고 메인 PC 안에서 끝나서, 웹이 끊겨도 로봇은 멈출 수 있습니다. 주황 점선은 연휴에 더한 용접 부분으로, 구현은 아직 진행 중입니다.</a:t>
            </a:r>
          </a:p>
          <a:p>
            <a:r>
              <a:t>(세부: 웹 PC 는 Docker 4 서비스 — Mosquitto :1883 · PostgreSQL :5432 · FastAPI :8000 · Spring Boot :8080, React 는 Docker 밖. 토픽 · 서비스 · 액션 이름은 산출물 06. 화면 버튼은 5 개이고 설정 등록 버튼은 아직 없다. safety_monitor 의 웹 heartbeat 감시는 계약에만 있고 미구현이다. [합치기 체크] 용접을 빼면 그림을 assets/byeonghu/arch-simple-no-phase2.png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위 줄이 정상 흐름입니다 — 준비, 윗면에 내려서 닿기, 네 방향으로 밀어서 모서리 찾기, 형상 계산, 들어 올려 홈 복귀. 모서리를 바꿀 때는 들어 올리고 원점 위로 가서 다시 닿은 뒤 밉니다. 아래 줄은 관제자 명령입니다. 중지는 멈추고 기록만 남기고, 재시작은 확정된 값은 두고 멈춘 단계부터 잇고, 안전복귀는 위치를 확인하고 수직으로 올린 뒤 홈으로 갑니다. 셋은 서로를 부르지 않고, 실패하면 그 자리에서 멈출 뿐 자동으로 홈에 가지 않습니다.</a:t>
            </a:r>
          </a:p>
          <a:p>
            <a:r>
              <a:t>(세부: 상태 이름 = PREPARING → TOP_SEARCH → EDGE_SEARCH ×4 → GEOMETRY → HOMING → DONE, 중지 = STOPPING → STOPPED, 실패 = ERROR. 재시작은 기록(progress.json)만 보고 잇는다 — 중지한 뒤 프로세스를 다시 띄워도 같은 자리에서(sim 시험, 실기 미실시). 스캔 도중 프로세스가 죽으면 멈춘 자리를 몰라 잇지 않는다(NO_RESUMABLE_SCAN). 오류 뒤 재시작은 v0.1.21 부터 SAMPLE_STALE 403 · ROBOT_STATUS_LOST 404 · STOP_UNCONFIRMED 407 만, /safety/reset 뒤에 받는다. 안전복귀는 손상 의심(400 · 205 · 402)이나 위치 불명이면 멈추고 사람이 조그한다. 출처: README · 계약)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오른쪽 그림처럼 탐침이 모서리를 넘어가 팁이 살짝 내려앉는 순간을 "모서리"로 판정하기 때문에, 그때 팁 중심은 실제 모서리보다 d 만큼 바깥에 있습니다.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a:t>
            </a:r>
          </a:p>
          <a:p>
            <a:r>
              <a:t>(세부: 보정 입력 = 팁 반지름 r 2 mm · 판정 지연 t 0 · 모서리 둥글림 R 0(설정값). 정확한 크기 83.00 × 80.64 × 80.76 mm. 왼쪽 그림은 보정 전 · 뒤 간격을 4 배로 벌려 그렸다. 보정된 윗면 사각형의 네 변이 경로 후보이고 용접 이음을 판정한 것은 아니다. 출처: result.json 3702 의 bias_corrections · #180)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동그라미는 된 것, 가위표는 목표에 못 미친 것입니다. 기능은 교시 없이 형상까지 나오고, 9/23 실기에서는 약 7 분짜리 종단을 세 번 연속 성공했습니다. 치수도 목표 안이지만, 탐색 시간은 438 초로 목표의 3.6 배이고 설정 등록 버튼은 아직 화면에 없습니다. 검출 하중은 평균만 보면 통과지만 열 번 중 두 번이 5 N 을 넘어 미달로 적었고, 관제 반영 지연도 최대 312 ms 로 미달입니다. 재시작은 sim 과 시험으로만 확인했습니다. 9/29 같은 배치에서 스캔을 다시 했을 때는 세 번 모두 한 방향에서 실패해 원인을 찾고 있습니다.</a:t>
            </a:r>
          </a:p>
          <a:p>
            <a:r>
              <a:t>(세부: 검출 하중 평균 4.49 N · 2/10 초과(5.15 · 5.29 N), 중지 반응 706 · 600 ms 는 sim 측정(TR-05), 반영 지연 312 ms FAIL, 저장 · 조회 일치는 TR-10 sim. 3 회 연속 = 9/23 실기 시연, 팀원 4 명 입회 · 동영상 촬영(GitHub 에는 기록 없음, 튜닝은 PR #179). 438 s 는 #180 학민 코멘트의 실측(이슈 본문 구간 합계는 435 s).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죽기 직전에 받은 "래치 없음"이라는 마지막 값을 계속 믿은 것입니다. 그래서 상태 메시지의 시각으로 나이를 재서, 한도보다 오래됐으면 시작과 재시작을 거절하게 했습니다. sim 에서 감시자를 죽이면 5.5 초가 한도 5 초를 넘어 거절되고, 누르기 전에 경고가 먼저 뜹니다. 다만 실기에서 다시 확인하지 못했고, 이미 돌고 있는 스캔은 멈추지 않는다는 한계가 남아 있습니다.</a:t>
            </a:r>
          </a:p>
          <a:p>
            <a:r>
              <a:t>(세부: 종료 시각 10:34:33 · 11:51:45(#103). "한 번도 못 받음"만 거절하고 "받다가 끊김"은 통과시키던 것이 원인. 조치 PR #136 (9/21 머지): /safety/status 끊김 → SAFETY_LATCHED 103, /robot/status 끊김 → ROBOT_DISCONNECTED 104, 한도 safety_status_timeout_s 5.0 · robot_status_timeout_s 2.0(설계 출발값), 안전복귀는 막지 않음, 끊김 · 회복을 /scan/log 에 한 번씩. 결과: 거절 298.25 s 보다 WARN 297.87 s 가 먼저, 시험 1101 → 1124 · 실패 0(5 회 실행). 9/22 안전 감사는 "부분 해결". 현지 04-③ 2 장 "감시자도 죽는다"(#117, 죽은 원인)와 짝 — 현지는 "죽었다", 병후는 "몰랐다")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지그재그 경유점을 만들어 지나가게 했습니다. 여기서도 인터페이스 계약을 먼저 정하고 병렬로 구현했습니다.</a:t>
            </a:r>
          </a:p>
          <a:p>
            <a:r>
              <a:t>(세부: 계약 v0.2.0 = 9/23 초안 · 9/26 머지 — 노드 weld_manager · 타입 7 개 · 사유 코드 600~604. 두산 move_periodic 은 제자리 주기 운동이라 직선 이동과 겹치지 않아 쓰지 않았다(D19). 스탠드오프는 팁 구 표면 ↔ 이음선 최단거리(D22). 한 선이 z_safe 위에서 204 로 실패하면 그 선만 FAILED 로 두고 계속(D33). 점선 L1 · L5 = 45° 도달 불가(9/23 M1). [뺄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돌았습니다. 9/29 실기에서는 여덟 선 중 여섯 선을 끝까지 따라갔고, 닿지 않는 두 선은 계획대로 실패로 기록한 뒤 다음 선으로 넘어갔습니다. 한 바퀴에 2 분 24 초, 닿거나 멈춘 일은 없었습니다. 다만 3 mm 띄운 거리가 선마다 0 에서 8 mm 로 달라 보여, 한쪽으로 3~4 mm 치우친 것을 다음 과제로 남겼습니다.</a:t>
            </a:r>
          </a:p>
          <a:p>
            <a:r>
              <a:t>(세부: M1 도달 자세 위치 오차 최대 0.14 mm, 45° 도달 한계는 플랜지 거리 689~761 mm 사이, L1 · L5 는 761 · 762 mm. 세로 아래 4 자세는 계약 z 104.13 이 아니라 121.25 mm 에서 확인했다(계약 z 는 9/29). Virtual 은 sim 가상 박스 100 × 60 × 40 mm 입력이고 L7 강제 실패 시험에서 FAILED 기록 → 마무리 복귀 → DONE(success=false). 9/29 순서: 실기 스캔 1 회 → Virtual 종단 → 윗면 L0(기울임 0 → 45°) → L0~L3 → 조건부로 세로선 · 위빙. 9/29 실기(명령 현지 · 입회 학민): 기준점 점검 −0.016 mm 통과. 접근 · 후퇴점 도달성(D34)에서 L6 접근점이 도달 불가(알람 1206) → 윗면선 오프셋을 수직으로 · z_safe 32.5 mm · L6 · L7 툴 roll 180 으로 바꿔 L6 을 살렸다(#210). 툴 치수 M2 13 / 12 / 12 mm. 입력은 9/23 실기 스캔 — 9/29 실기 스캔은 3 회 모두 한 방향(NEG_Y)에서 실패했고, 잡힌 세 변이 9/23 과 1 mm 안이라 배치가 같음을 확인했다. 점마다 멈추는 비용 0.5 s. 위빙 L3 · L7 도 완주. 경유점 도착은 robot_manager 가 점마다 3 mm 안을 확인. 띄움 거리 0~8 mm 는 눈 관찰(현지 · 학민)이고 실측이 아니다. 한 번은 웹의 스캔 중지 버튼이 눌려 용접이 멈췄고(D25, 요청하지 않은 정지 = ERROR) 안전복귀로 정상 복귀. 구현 PR #191 · #195~#197 은 9/29 머지)</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(병후 8 / 10 — 이유: 먼저 계약을 확정하고 작업별로 꼼꼼하게 검증한 덕분에 최종 integration 때 시행착오가 적었다. 하지만 이해도가 뒷받침되지 못하고 꼼꼼한 검증 절차로 각 작업의 진행이 지연되었다. 받으면 채움: 학민 · 현지 · 의석의 점수와 이유, 평균.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병후 확인(9/28).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2.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3.png"/><Relationship Id="rId2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4.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4.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5.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400800" cy="3840480"/>
        </p:xfrm>
        <a:graphic>
          <a:graphicData uri="http://schemas.openxmlformats.org/drawingml/2006/table">
            <a:tbl>
              <a:tblPr firstRow="1" bandRow="1">
                <a:tableStyleId>{5C22544A-7EE6-4342-B048-85BDC9FD1C3A}</a:tableStyleId>
              </a:tblPr>
              <a:tblGrid>
                <a:gridCol w="1920240"/>
                <a:gridCol w="3383280"/>
                <a:gridCol w="1097280"/>
              </a:tblGrid>
              <a:tr h="768096">
                <a:tc>
                  <a:txBody>
                    <a:bodyPr wrap="square"/>
                    <a:lstStyle/>
                    <a:p>
                      <a:r>
                        <a:rPr sz="1500" b="1">
                          <a:solidFill>
                            <a:srgbClr val="FFFFFF"/>
                          </a:solidFill>
                          <a:latin typeface="맑은 고딕"/>
                          <a:ea typeface="맑은 고딕"/>
                        </a:rPr>
                        <a:t>비용이 드는 곳</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핵심</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근거</a:t>
                      </a:r>
                    </a:p>
                  </a:txBody>
                  <a:tcPr marL="73152" marR="73152" marT="27432" marB="27432" anchor="ctr">
                    <a:solidFill>
                      <a:srgbClr val="3378C8"/>
                    </a:solidFill>
                  </a:tcPr>
                </a:tc>
              </a:tr>
              <a:tr h="768096">
                <a:tc>
                  <a:txBody>
                    <a:bodyPr wrap="square"/>
                    <a:lstStyle/>
                    <a:p>
                      <a:r>
                        <a:rPr sz="1500" b="1">
                          <a:solidFill>
                            <a:srgbClr val="262626"/>
                          </a:solidFill>
                          <a:latin typeface="맑은 고딕"/>
                          <a:ea typeface="맑은 고딕"/>
                        </a:rPr>
                        <a:t>재티칭 · 비가동</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교체마다 교시 + 셀 정지</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교육</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조작 익히는 데 2~3 일</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E16</a:t>
                      </a:r>
                    </a:p>
                  </a:txBody>
                  <a:tcPr marL="73152" marR="73152" marT="27432" marB="27432" anchor="ctr">
                    <a:solidFill>
                      <a:srgbClr val="F2F5FA"/>
                    </a:solidFill>
                  </a:tcPr>
                </a:tc>
              </a:tr>
              <a:tr h="768096">
                <a:tc>
                  <a:txBody>
                    <a:bodyPr wrap="square"/>
                    <a:lstStyle/>
                    <a:p>
                      <a:r>
                        <a:rPr sz="1500" b="1">
                          <a:solidFill>
                            <a:srgbClr val="262626"/>
                          </a:solidFill>
                          <a:latin typeface="맑은 고딕"/>
                          <a:ea typeface="맑은 고딕"/>
                        </a:rPr>
                        <a:t>불량 · 재작업</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편차 → 경로 어긋남</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납기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담당자 없으면 교체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E3</a:t>
                      </a:r>
                    </a:p>
                  </a:txBody>
                  <a:tcPr marL="73152" marR="73152" marT="27432" marB="27432" anchor="ctr">
                    <a:solidFill>
                      <a:srgbClr val="F2F5FA"/>
                    </a:solidFill>
                  </a:tcPr>
                </a:tc>
              </a:tr>
            </a:tbl>
          </a:graphicData>
        </a:graphic>
      </p:graphicFrame>
      <p:sp>
        <p:nvSpPr>
          <p:cNvPr id="34" name="Rounded Rectangle 33"/>
          <p:cNvSpPr/>
          <p:nvPr/>
        </p:nvSpPr>
        <p:spPr>
          <a:xfrm>
            <a:off x="7178040"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68.2 %</a:t>
            </a:r>
          </a:p>
          <a:p>
            <a:pPr algn="ctr">
              <a:spcAft>
                <a:spcPts val="200"/>
              </a:spcAft>
            </a:pPr>
            <a:r>
              <a:rPr sz="1300" b="0">
                <a:solidFill>
                  <a:srgbClr val="262626"/>
                </a:solidFill>
                <a:latin typeface="맑은 고딕"/>
                <a:ea typeface="맑은 고딕"/>
              </a:rPr>
              <a:t>뿌리산업 종사자</a:t>
            </a:r>
          </a:p>
          <a:p>
            <a:pPr algn="ctr">
              <a:spcAft>
                <a:spcPts val="200"/>
              </a:spcAft>
            </a:pPr>
            <a:r>
              <a:rPr sz="1300" b="0">
                <a:solidFill>
                  <a:srgbClr val="262626"/>
                </a:solidFill>
                <a:latin typeface="맑은 고딕"/>
                <a:ea typeface="맑은 고딕"/>
              </a:rPr>
              <a:t>40 대 이상</a:t>
            </a:r>
          </a:p>
        </p:txBody>
      </p:sp>
      <p:sp>
        <p:nvSpPr>
          <p:cNvPr id="35" name="Rounded Rectangle 34"/>
          <p:cNvSpPr/>
          <p:nvPr/>
        </p:nvSpPr>
        <p:spPr>
          <a:xfrm>
            <a:off x="9537192"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89.3 %</a:t>
            </a:r>
          </a:p>
          <a:p>
            <a:pPr algn="ctr">
              <a:spcAft>
                <a:spcPts val="200"/>
              </a:spcAft>
            </a:pPr>
            <a:r>
              <a:rPr sz="1300" b="0">
                <a:solidFill>
                  <a:srgbClr val="262626"/>
                </a:solidFill>
                <a:latin typeface="맑은 고딕"/>
                <a:ea typeface="맑은 고딕"/>
              </a:rPr>
              <a:t>10 인 미만 업체</a:t>
            </a:r>
          </a:p>
          <a:p>
            <a:pPr algn="ctr">
              <a:spcAft>
                <a:spcPts val="200"/>
              </a:spcAft>
            </a:pPr>
            <a:r>
              <a:rPr sz="1300" b="0">
                <a:solidFill>
                  <a:srgbClr val="262626"/>
                </a:solidFill>
                <a:latin typeface="맑은 고딕"/>
                <a:ea typeface="맑은 고딕"/>
              </a:rPr>
              <a:t>인력 부족</a:t>
            </a:r>
          </a:p>
        </p:txBody>
      </p:sp>
      <p:sp>
        <p:nvSpPr>
          <p:cNvPr id="36" name="기획 의도"/>
          <p:cNvSpPr/>
          <p:nvPr/>
        </p:nvSpPr>
        <p:spPr>
          <a:xfrm>
            <a:off x="7178040" y="4069080"/>
            <a:ext cx="4553712" cy="201168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놓고 → 누르면 → 로봇이 찾는다</a:t>
            </a:r>
          </a:p>
          <a:p>
            <a:pPr algn="ctr">
              <a:spcAft>
                <a:spcPts val="200"/>
              </a:spcAft>
            </a:pPr>
            <a:r>
              <a:rPr sz="1500" b="0">
                <a:solidFill>
                  <a:srgbClr val="262626"/>
                </a:solidFill>
                <a:latin typeface="맑은 고딕"/>
                <a:ea typeface="맑은 고딕"/>
              </a:rPr>
              <a:t>교시 없이 · 센서 추가 없이</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1.1 · 3.1 · 3.3(US-01). E2 · E3 · E13 · E16 = BRD 11 장 근거 자료, "가정" = BRD 1.6 의 팀 가정값(A2~A6)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pic>
        <p:nvPicPr>
          <p:cNvPr id="33" name="Picture 32" descr="compare-alternatives.png"/>
          <p:cNvPicPr>
            <a:picLocks noChangeAspect="1"/>
          </p:cNvPicPr>
          <p:nvPr/>
        </p:nvPicPr>
        <p:blipFill>
          <a:blip r:embed="rId21"/>
          <a:stretch>
            <a:fillRect/>
          </a:stretch>
        </p:blipFill>
        <p:spPr>
          <a:xfrm>
            <a:off x="457200" y="2240280"/>
            <a:ext cx="7589520" cy="4067251"/>
          </a:xfrm>
          <a:prstGeom prst="rect">
            <a:avLst/>
          </a:prstGeom>
        </p:spPr>
      </p:pic>
      <p:sp>
        <p:nvSpPr>
          <p:cNvPr id="34" name="Rounded Rectangle 33"/>
          <p:cNvSpPr/>
          <p:nvPr/>
        </p:nvSpPr>
        <p:spPr>
          <a:xfrm>
            <a:off x="8183879" y="228600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무센서 탐침 = 촉각</a:t>
            </a:r>
          </a:p>
          <a:p>
            <a:pPr algn="ctr">
              <a:spcAft>
                <a:spcPts val="200"/>
              </a:spcAft>
            </a:pPr>
            <a:r>
              <a:rPr sz="1300" b="0">
                <a:solidFill>
                  <a:srgbClr val="262626"/>
                </a:solidFill>
                <a:latin typeface="맑은 고딕"/>
                <a:ea typeface="맑은 고딕"/>
              </a:rPr>
              <a:t>로봇 관절 토크로 추정한 외력</a:t>
            </a:r>
          </a:p>
        </p:txBody>
      </p:sp>
      <p:sp>
        <p:nvSpPr>
          <p:cNvPr id="35" name="Rounded Rectangle 34"/>
          <p:cNvSpPr/>
          <p:nvPr/>
        </p:nvSpPr>
        <p:spPr>
          <a:xfrm>
            <a:off x="8183879" y="361188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실시간 3D 관제</a:t>
            </a:r>
          </a:p>
          <a:p>
            <a:pPr algn="ctr">
              <a:spcAft>
                <a:spcPts val="200"/>
              </a:spcAft>
            </a:pPr>
            <a:r>
              <a:rPr sz="1300" b="0">
                <a:solidFill>
                  <a:srgbClr val="262626"/>
                </a:solidFill>
                <a:latin typeface="맑은 고딕"/>
                <a:ea typeface="맑은 고딕"/>
              </a:rPr>
              <a:t>단계 · 접촉점 · 형상을 바로</a:t>
            </a:r>
          </a:p>
        </p:txBody>
      </p:sp>
      <p:sp>
        <p:nvSpPr>
          <p:cNvPr id="36" name="[뺄 수 있음] 01-② 용접"/>
          <p:cNvSpPr/>
          <p:nvPr/>
        </p:nvSpPr>
        <p:spPr>
          <a:xfrm>
            <a:off x="8183879" y="4937760"/>
            <a:ext cx="3547872" cy="1188720"/>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스캔 → 용접 모션</a:t>
            </a:r>
          </a:p>
          <a:p>
            <a:pPr algn="ctr">
              <a:spcAft>
                <a:spcPts val="200"/>
              </a:spcAft>
            </a:pPr>
            <a:r>
              <a:rPr sz="1300" b="0">
                <a:solidFill>
                  <a:srgbClr val="D2691E"/>
                </a:solidFill>
                <a:latin typeface="맑은 고딕"/>
                <a:ea typeface="맑은 고딕"/>
              </a:rPr>
              <a:t>[뺄 수 있음]</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3.2(대안 비교 · 가격) · 1.5(기술적 가치), ADR 0001. 비전 가격은 E12. 목표가 1,000 만원은 가정 A7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40280"/>
            <a:ext cx="6949440" cy="4067251"/>
          </a:xfrm>
          <a:prstGeom prst="rect">
            <a:avLst/>
          </a:prstGeom>
        </p:spPr>
      </p:pic>
      <p:sp>
        <p:nvSpPr>
          <p:cNvPr id="34" name="TextBox 33"/>
          <p:cNvSpPr txBox="1"/>
          <p:nvPr/>
        </p:nvSpPr>
        <p:spPr>
          <a:xfrm>
            <a:off x="7635240" y="2212848"/>
            <a:ext cx="4096512" cy="411480"/>
          </a:xfrm>
          <a:prstGeom prst="rect">
            <a:avLst/>
          </a:prstGeom>
          <a:noFill/>
        </p:spPr>
        <p:txBody>
          <a:bodyPr wrap="square" anchor="t" tIns="54864" bIns="54864">
            <a:spAutoFit/>
          </a:bodyPr>
          <a:lstStyle/>
          <a:p>
            <a:pPr algn="l">
              <a:spcAft>
                <a:spcPts val="400"/>
              </a:spcAft>
            </a:pPr>
            <a:r>
              <a:rPr sz="1600" b="1">
                <a:solidFill>
                  <a:srgbClr val="3378C8"/>
                </a:solidFill>
                <a:latin typeface="맑은 고딕"/>
                <a:ea typeface="맑은 고딕"/>
              </a:rPr>
              <a:t>훈련 연관</a:t>
            </a:r>
          </a:p>
        </p:txBody>
      </p:sp>
      <p:sp>
        <p:nvSpPr>
          <p:cNvPr id="35" name="Rounded Rectangle 34"/>
          <p:cNvSpPr/>
          <p:nvPr/>
        </p:nvSpPr>
        <p:spPr>
          <a:xfrm>
            <a:off x="7635240" y="26974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ROS 2 노드 5 개</a:t>
            </a:r>
          </a:p>
          <a:p>
            <a:pPr algn="ctr">
              <a:spcAft>
                <a:spcPts val="200"/>
              </a:spcAft>
            </a:pPr>
            <a:r>
              <a:rPr sz="1300" b="0">
                <a:solidFill>
                  <a:srgbClr val="262626"/>
                </a:solidFill>
                <a:latin typeface="맑은 고딕"/>
                <a:ea typeface="맑은 고딕"/>
              </a:rPr>
              <a:t>토픽 · 서비스 · 액션 계약</a:t>
            </a:r>
          </a:p>
        </p:txBody>
      </p:sp>
      <p:sp>
        <p:nvSpPr>
          <p:cNvPr id="36" name="Rounded Rectangle 35"/>
          <p:cNvSpPr/>
          <p:nvPr/>
        </p:nvSpPr>
        <p:spPr>
          <a:xfrm>
            <a:off x="7635240" y="36118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두산 DSR 서비스</a:t>
            </a:r>
          </a:p>
          <a:p>
            <a:pPr algn="ctr">
              <a:spcAft>
                <a:spcPts val="200"/>
              </a:spcAft>
            </a:pPr>
            <a:r>
              <a:rPr sz="1300" b="0">
                <a:solidFill>
                  <a:srgbClr val="262626"/>
                </a:solidFill>
                <a:latin typeface="맑은 고딕"/>
                <a:ea typeface="맑은 고딕"/>
              </a:rPr>
              <a:t>robot_manager 한 곳에서 호출</a:t>
            </a:r>
          </a:p>
        </p:txBody>
      </p:sp>
      <p:sp>
        <p:nvSpPr>
          <p:cNvPr id="37" name="Rounded Rectangle 36"/>
          <p:cNvSpPr/>
          <p:nvPr/>
        </p:nvSpPr>
        <p:spPr>
          <a:xfrm>
            <a:off x="7635240" y="45262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launch · 파라미터</a:t>
            </a:r>
          </a:p>
          <a:p>
            <a:pPr algn="ctr">
              <a:spcAft>
                <a:spcPts val="200"/>
              </a:spcAft>
            </a:pPr>
            <a:r>
              <a:rPr sz="1300" b="0">
                <a:solidFill>
                  <a:srgbClr val="262626"/>
                </a:solidFill>
                <a:latin typeface="맑은 고딕"/>
                <a:ea typeface="맑은 고딕"/>
              </a:rPr>
              <a:t>sim ↔ 실기를 인자 하나로</a:t>
            </a:r>
          </a:p>
        </p:txBody>
      </p:sp>
      <p:sp>
        <p:nvSpPr>
          <p:cNvPr id="38" name="Rounded Rectangle 37"/>
          <p:cNvSpPr/>
          <p:nvPr/>
        </p:nvSpPr>
        <p:spPr>
          <a:xfrm>
            <a:off x="7635240" y="54406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HMI</a:t>
            </a:r>
          </a:p>
          <a:p>
            <a:pPr algn="ctr">
              <a:spcAft>
                <a:spcPts val="200"/>
              </a:spcAft>
            </a:pPr>
            <a:r>
              <a:rPr sz="1300" b="0">
                <a:solidFill>
                  <a:srgbClr val="262626"/>
                </a:solidFill>
                <a:latin typeface="맑은 고딕"/>
                <a:ea typeface="맑은 고딕"/>
              </a:rPr>
              <a:t>React 3D · MQTT · FastAPI</a:t>
            </a:r>
          </a:p>
        </p:txBody>
      </p:sp>
      <p:sp>
        <p:nvSpPr>
          <p:cNvPr id="3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 1 회의 사람 시간을 1 시간에서 0.1 시간으로 — 수치는 BRD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pic>
        <p:nvPicPr>
          <p:cNvPr id="33" name="Picture 32" descr="value-compare.png"/>
          <p:cNvPicPr>
            <a:picLocks noChangeAspect="1"/>
          </p:cNvPicPr>
          <p:nvPr/>
        </p:nvPicPr>
        <p:blipFill>
          <a:blip r:embed="rId21"/>
          <a:stretch>
            <a:fillRect/>
          </a:stretch>
        </p:blipFill>
        <p:spPr>
          <a:xfrm>
            <a:off x="457200" y="2240280"/>
            <a:ext cx="11274552" cy="4124836"/>
          </a:xfrm>
          <a:prstGeom prst="rect">
            <a:avLst/>
          </a:prstGeom>
        </p:spPr>
      </p:pic>
      <p:sp>
        <p:nvSpPr>
          <p:cNvPr id="3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1.6(가정 A2 · A3 · A4 · 시나리오) · 1.3 · 2 장. 로봇 탐색 7.3 분 = 9/23 실기 438 s(#180, KPI 120 s 미달). 치수 = 캘리퍼 대비(#180)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sp>
        <p:nvSpPr>
          <p:cNvPr id="192" name="Rounded Rectangle 191"/>
          <p:cNvSpPr/>
          <p:nvPr/>
        </p:nvSpPr>
        <p:spPr>
          <a:xfrm>
            <a:off x="457200" y="2240280"/>
            <a:ext cx="2688336" cy="868680"/>
          </a:xfrm>
          <a:prstGeom prst="roundRect">
            <a:avLst>
              <a:gd name="adj" fmla="val 12000"/>
            </a:avLst>
          </a:prstGeom>
          <a:solidFill>
            <a:srgbClr val="2235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박병후</a:t>
            </a:r>
          </a:p>
          <a:p>
            <a:pPr algn="ctr">
              <a:spcAft>
                <a:spcPts val="200"/>
              </a:spcAft>
            </a:pPr>
            <a:r>
              <a:rPr sz="1300" b="0">
                <a:solidFill>
                  <a:srgbClr val="FFFFFF"/>
                </a:solidFill>
                <a:latin typeface="맑은 고딕"/>
                <a:ea typeface="맑은 고딕"/>
              </a:rPr>
              <a:t>팀장 · 스캔 흐름 · 계약</a:t>
            </a:r>
          </a:p>
        </p:txBody>
      </p:sp>
      <p:sp>
        <p:nvSpPr>
          <p:cNvPr id="193" name="TextBox 192"/>
          <p:cNvSpPr txBox="1"/>
          <p:nvPr/>
        </p:nvSpPr>
        <p:spPr>
          <a:xfrm>
            <a:off x="457200"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2357F"/>
                </a:solidFill>
                <a:latin typeface="맑은 고딕"/>
                <a:ea typeface="맑은 고딕"/>
              </a:rPr>
              <a:t>scan_manager</a:t>
            </a:r>
          </a:p>
          <a:p>
            <a:pPr algn="ctr">
              <a:spcAft>
                <a:spcPts val="100"/>
              </a:spcAft>
            </a:pPr>
            <a:r>
              <a:rPr sz="1400" b="1">
                <a:solidFill>
                  <a:srgbClr val="22357F"/>
                </a:solidFill>
                <a:latin typeface="맑은 고딕"/>
                <a:ea typeface="맑은 고딕"/>
              </a:rPr>
              <a:t>result_store</a:t>
            </a:r>
          </a:p>
          <a:p>
            <a:pPr algn="ctr">
              <a:spcAft>
                <a:spcPts val="100"/>
              </a:spcAft>
            </a:pPr>
            <a:r>
              <a:rPr sz="1400" b="1">
                <a:solidFill>
                  <a:srgbClr val="22357F"/>
                </a:solidFill>
                <a:latin typeface="맑은 고딕"/>
                <a:ea typeface="맑은 고딕"/>
              </a:rPr>
              <a:t>contact_scan_interfaces</a:t>
            </a:r>
          </a:p>
        </p:txBody>
      </p:sp>
      <p:sp>
        <p:nvSpPr>
          <p:cNvPr id="194" name="TextBox 193"/>
          <p:cNvSpPr txBox="1"/>
          <p:nvPr/>
        </p:nvSpPr>
        <p:spPr>
          <a:xfrm>
            <a:off x="457200"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스캔 순서 상태기계</a:t>
            </a:r>
          </a:p>
          <a:p>
            <a:pPr algn="ctr">
              <a:spcAft>
                <a:spcPts val="100"/>
              </a:spcAft>
            </a:pPr>
            <a:r>
              <a:rPr sz="1300" b="0">
                <a:solidFill>
                  <a:srgbClr val="262626"/>
                </a:solidFill>
                <a:latin typeface="맑은 고딕"/>
                <a:ea typeface="맑은 고딕"/>
              </a:rPr>
              <a:t>중지 · 안전복귀 · 재시작</a:t>
            </a:r>
          </a:p>
          <a:p>
            <a:pPr algn="ctr">
              <a:spcAft>
                <a:spcPts val="100"/>
              </a:spcAft>
            </a:pPr>
            <a:r>
              <a:rPr sz="1300" b="0">
                <a:solidFill>
                  <a:srgbClr val="262626"/>
                </a:solidFill>
                <a:latin typeface="맑은 고딕"/>
                <a:ea typeface="맑은 고딕"/>
              </a:rPr>
              <a:t>결과 기록 · 설정 전파</a:t>
            </a:r>
          </a:p>
        </p:txBody>
      </p:sp>
      <p:sp>
        <p:nvSpPr>
          <p:cNvPr id="195" name="TextBox 194"/>
          <p:cNvSpPr txBox="1"/>
          <p:nvPr/>
        </p:nvSpPr>
        <p:spPr>
          <a:xfrm>
            <a:off x="457200"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01 · 05 · 06 · BRD</a:t>
            </a:r>
          </a:p>
        </p:txBody>
      </p:sp>
      <p:sp>
        <p:nvSpPr>
          <p:cNvPr id="196" name="Rounded Rectangle 195"/>
          <p:cNvSpPr/>
          <p:nvPr/>
        </p:nvSpPr>
        <p:spPr>
          <a:xfrm>
            <a:off x="3319272" y="2240280"/>
            <a:ext cx="2688336" cy="868680"/>
          </a:xfrm>
          <a:prstGeom prst="roundRect">
            <a:avLst>
              <a:gd name="adj" fmla="val 12000"/>
            </a:avLst>
          </a:prstGeom>
          <a:solidFill>
            <a:srgbClr val="2E8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김학민</a:t>
            </a:r>
          </a:p>
          <a:p>
            <a:pPr algn="ctr">
              <a:spcAft>
                <a:spcPts val="200"/>
              </a:spcAft>
            </a:pPr>
            <a:r>
              <a:rPr sz="1300" b="0">
                <a:solidFill>
                  <a:srgbClr val="FFFFFF"/>
                </a:solidFill>
                <a:latin typeface="맑은 고딕"/>
                <a:ea typeface="맑은 고딕"/>
              </a:rPr>
              <a:t>로봇 제어 · 좌표 기준</a:t>
            </a:r>
          </a:p>
        </p:txBody>
      </p:sp>
      <p:sp>
        <p:nvSpPr>
          <p:cNvPr id="197" name="TextBox 196"/>
          <p:cNvSpPr txBox="1"/>
          <p:nvPr/>
        </p:nvSpPr>
        <p:spPr>
          <a:xfrm>
            <a:off x="3319272"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E8B7A"/>
                </a:solidFill>
                <a:latin typeface="맑은 고딕"/>
                <a:ea typeface="맑은 고딕"/>
              </a:rPr>
              <a:t>robot_manager</a:t>
            </a:r>
          </a:p>
        </p:txBody>
      </p:sp>
      <p:sp>
        <p:nvSpPr>
          <p:cNvPr id="198" name="TextBox 197"/>
          <p:cNvSpPr txBox="1"/>
          <p:nvPr/>
        </p:nvSpPr>
        <p:spPr>
          <a:xfrm>
            <a:off x="3319272"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모션 · 힘/순응 제어</a:t>
            </a:r>
          </a:p>
          <a:p>
            <a:pPr algn="ctr">
              <a:spcAft>
                <a:spcPts val="100"/>
              </a:spcAft>
            </a:pPr>
            <a:r>
              <a:rPr sz="1300" b="0">
                <a:solidFill>
                  <a:srgbClr val="262626"/>
                </a:solidFill>
                <a:latin typeface="맑은 고딕"/>
                <a:ea typeface="맑은 고딕"/>
              </a:rPr>
              <a:t>샘플 발행</a:t>
            </a:r>
          </a:p>
          <a:p>
            <a:pPr algn="ctr">
              <a:spcAft>
                <a:spcPts val="100"/>
              </a:spcAft>
            </a:pPr>
            <a:r>
              <a:rPr sz="1300" b="0">
                <a:solidFill>
                  <a:srgbClr val="262626"/>
                </a:solidFill>
                <a:latin typeface="맑은 고딕"/>
                <a:ea typeface="맑은 고딕"/>
              </a:rPr>
              <a:t>TCP · 홈 · 작업대 원점</a:t>
            </a:r>
          </a:p>
        </p:txBody>
      </p:sp>
      <p:sp>
        <p:nvSpPr>
          <p:cNvPr id="199" name="TextBox 198"/>
          <p:cNvSpPr txBox="1"/>
          <p:nvPr/>
        </p:nvSpPr>
        <p:spPr>
          <a:xfrm>
            <a:off x="3319272"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04 · 08 · 09</a:t>
            </a:r>
          </a:p>
        </p:txBody>
      </p:sp>
      <p:sp>
        <p:nvSpPr>
          <p:cNvPr id="200" name="Rounded Rectangle 199"/>
          <p:cNvSpPr/>
          <p:nvPr/>
        </p:nvSpPr>
        <p:spPr>
          <a:xfrm>
            <a:off x="6181344" y="2240280"/>
            <a:ext cx="2688336" cy="868680"/>
          </a:xfrm>
          <a:prstGeom prst="roundRect">
            <a:avLst>
              <a:gd name="adj" fmla="val 12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남현지</a:t>
            </a:r>
          </a:p>
          <a:p>
            <a:pPr algn="ctr">
              <a:spcAft>
                <a:spcPts val="200"/>
              </a:spcAft>
            </a:pPr>
            <a:r>
              <a:rPr sz="1300" b="0">
                <a:solidFill>
                  <a:srgbClr val="FFFFFF"/>
                </a:solidFill>
                <a:latin typeface="맑은 고딕"/>
                <a:ea typeface="맑은 고딕"/>
              </a:rPr>
              <a:t>판정 · 안전 · 통합</a:t>
            </a:r>
          </a:p>
        </p:txBody>
      </p:sp>
      <p:sp>
        <p:nvSpPr>
          <p:cNvPr id="201" name="TextBox 200"/>
          <p:cNvSpPr txBox="1"/>
          <p:nvPr/>
        </p:nvSpPr>
        <p:spPr>
          <a:xfrm>
            <a:off x="6181344"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B8860B"/>
                </a:solidFill>
                <a:latin typeface="맑은 고딕"/>
                <a:ea typeface="맑은 고딕"/>
              </a:rPr>
              <a:t>contact_detector</a:t>
            </a:r>
          </a:p>
          <a:p>
            <a:pPr algn="ctr">
              <a:spcAft>
                <a:spcPts val="100"/>
              </a:spcAft>
            </a:pPr>
            <a:r>
              <a:rPr sz="1400" b="1">
                <a:solidFill>
                  <a:srgbClr val="B8860B"/>
                </a:solidFill>
                <a:latin typeface="맑은 고딕"/>
                <a:ea typeface="맑은 고딕"/>
              </a:rPr>
              <a:t>safety_monitor</a:t>
            </a:r>
          </a:p>
          <a:p>
            <a:pPr algn="ctr">
              <a:spcAft>
                <a:spcPts val="100"/>
              </a:spcAft>
            </a:pPr>
            <a:r>
              <a:rPr sz="1400" b="1">
                <a:solidFill>
                  <a:srgbClr val="B8860B"/>
                </a:solidFill>
                <a:latin typeface="맑은 고딕"/>
                <a:ea typeface="맑은 고딕"/>
              </a:rPr>
              <a:t>geometry_estimator</a:t>
            </a:r>
          </a:p>
          <a:p>
            <a:pPr algn="ctr">
              <a:spcAft>
                <a:spcPts val="100"/>
              </a:spcAft>
            </a:pPr>
            <a:r>
              <a:rPr sz="1400" b="1">
                <a:solidFill>
                  <a:srgbClr val="B8860B"/>
                </a:solidFill>
                <a:latin typeface="맑은 고딕"/>
                <a:ea typeface="맑은 고딕"/>
              </a:rPr>
              <a:t>bringup</a:t>
            </a:r>
          </a:p>
        </p:txBody>
      </p:sp>
      <p:sp>
        <p:nvSpPr>
          <p:cNvPr id="202" name="TextBox 201"/>
          <p:cNvSpPr txBox="1"/>
          <p:nvPr/>
        </p:nvSpPr>
        <p:spPr>
          <a:xfrm>
            <a:off x="6181344"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접촉 · 모서리 판정</a:t>
            </a:r>
          </a:p>
          <a:p>
            <a:pPr algn="ctr">
              <a:spcAft>
                <a:spcPts val="100"/>
              </a:spcAft>
            </a:pPr>
            <a:r>
              <a:rPr sz="1300" b="0">
                <a:solidFill>
                  <a:srgbClr val="262626"/>
                </a:solidFill>
                <a:latin typeface="맑은 고딕"/>
                <a:ea typeface="맑은 고딕"/>
              </a:rPr>
              <a:t>두 겹 안전 감시</a:t>
            </a:r>
          </a:p>
          <a:p>
            <a:pPr algn="ctr">
              <a:spcAft>
                <a:spcPts val="100"/>
              </a:spcAft>
            </a:pPr>
            <a:r>
              <a:rPr sz="1300" b="0">
                <a:solidFill>
                  <a:srgbClr val="262626"/>
                </a:solidFill>
                <a:latin typeface="맑은 고딕"/>
                <a:ea typeface="맑은 고딕"/>
              </a:rPr>
              <a:t>형상 계산 · 통합 빌드</a:t>
            </a:r>
          </a:p>
        </p:txBody>
      </p:sp>
      <p:sp>
        <p:nvSpPr>
          <p:cNvPr id="203" name="TextBox 202"/>
          <p:cNvSpPr txBox="1"/>
          <p:nvPr/>
        </p:nvSpPr>
        <p:spPr>
          <a:xfrm>
            <a:off x="6181344"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(메인 PC) · 03</a:t>
            </a:r>
          </a:p>
        </p:txBody>
      </p:sp>
      <p:sp>
        <p:nvSpPr>
          <p:cNvPr id="204" name="Rounded Rectangle 203"/>
          <p:cNvSpPr/>
          <p:nvPr/>
        </p:nvSpPr>
        <p:spPr>
          <a:xfrm>
            <a:off x="9043416" y="2240280"/>
            <a:ext cx="2688336" cy="868680"/>
          </a:xfrm>
          <a:prstGeom prst="roundRect">
            <a:avLst>
              <a:gd name="adj" fmla="val 12000"/>
            </a:avLst>
          </a:prstGeom>
          <a:solidFill>
            <a:srgbClr val="A051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정의석</a:t>
            </a:r>
          </a:p>
          <a:p>
            <a:pPr algn="ctr">
              <a:spcAft>
                <a:spcPts val="200"/>
              </a:spcAft>
            </a:pPr>
            <a:r>
              <a:rPr sz="1300" b="0">
                <a:solidFill>
                  <a:srgbClr val="FFFFFF"/>
                </a:solidFill>
                <a:latin typeface="맑은 고딕"/>
                <a:ea typeface="맑은 고딕"/>
              </a:rPr>
              <a:t>관제 화면 · 연동</a:t>
            </a:r>
          </a:p>
        </p:txBody>
      </p:sp>
      <p:sp>
        <p:nvSpPr>
          <p:cNvPr id="205" name="TextBox 204"/>
          <p:cNvSpPr txBox="1"/>
          <p:nvPr/>
        </p:nvSpPr>
        <p:spPr>
          <a:xfrm>
            <a:off x="9043416"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A05195"/>
                </a:solidFill>
                <a:latin typeface="맑은 고딕"/>
                <a:ea typeface="맑은 고딕"/>
              </a:rPr>
              <a:t>mqtt_bridge</a:t>
            </a:r>
          </a:p>
          <a:p>
            <a:pPr algn="ctr">
              <a:spcAft>
                <a:spcPts val="100"/>
              </a:spcAft>
            </a:pPr>
            <a:r>
              <a:rPr sz="1400" b="1">
                <a:solidFill>
                  <a:srgbClr val="A05195"/>
                </a:solidFill>
                <a:latin typeface="맑은 고딕"/>
                <a:ea typeface="맑은 고딕"/>
              </a:rPr>
              <a:t>FastAPI · Spring</a:t>
            </a:r>
          </a:p>
          <a:p>
            <a:pPr algn="ctr">
              <a:spcAft>
                <a:spcPts val="100"/>
              </a:spcAft>
            </a:pPr>
            <a:r>
              <a:rPr sz="1400" b="1">
                <a:solidFill>
                  <a:srgbClr val="A05195"/>
                </a:solidFill>
                <a:latin typeface="맑은 고딕"/>
                <a:ea typeface="맑은 고딕"/>
              </a:rPr>
              <a:t>React 3D</a:t>
            </a:r>
          </a:p>
        </p:txBody>
      </p:sp>
      <p:sp>
        <p:nvSpPr>
          <p:cNvPr id="206" name="TextBox 205"/>
          <p:cNvSpPr txBox="1"/>
          <p:nvPr/>
        </p:nvSpPr>
        <p:spPr>
          <a:xfrm>
            <a:off x="9043416"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ROS ↔ MQTT</a:t>
            </a:r>
          </a:p>
          <a:p>
            <a:pPr algn="ctr">
              <a:spcAft>
                <a:spcPts val="100"/>
              </a:spcAft>
            </a:pPr>
            <a:r>
              <a:rPr sz="1300" b="0">
                <a:solidFill>
                  <a:srgbClr val="262626"/>
                </a:solidFill>
                <a:latin typeface="맑은 고딕"/>
                <a:ea typeface="맑은 고딕"/>
              </a:rPr>
              <a:t>3D 관제 · 명령</a:t>
            </a:r>
          </a:p>
          <a:p>
            <a:pPr algn="ctr">
              <a:spcAft>
                <a:spcPts val="100"/>
              </a:spcAft>
            </a:pPr>
            <a:r>
              <a:rPr sz="1300" b="0">
                <a:solidFill>
                  <a:srgbClr val="262626"/>
                </a:solidFill>
                <a:latin typeface="맑은 고딕"/>
                <a:ea typeface="맑은 고딕"/>
              </a:rPr>
              <a:t>저장 · 조회</a:t>
            </a:r>
          </a:p>
        </p:txBody>
      </p:sp>
      <p:sp>
        <p:nvSpPr>
          <p:cNvPr id="207" name="TextBox 206"/>
          <p:cNvSpPr txBox="1"/>
          <p:nvPr/>
        </p:nvSpPr>
        <p:spPr>
          <a:xfrm>
            <a:off x="9043416"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(웹 PC) · 07</a:t>
            </a:r>
          </a:p>
        </p:txBody>
      </p:sp>
      <p:sp>
        <p:nvSpPr>
          <p:cNvPr id="208" name="Rounded Rectangle 207"/>
          <p:cNvSpPr/>
          <p:nvPr/>
        </p:nvSpPr>
        <p:spPr>
          <a:xfrm>
            <a:off x="457200" y="5852160"/>
            <a:ext cx="11274552" cy="5029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500" b="1">
                <a:solidFill>
                  <a:srgbClr val="22357F"/>
                </a:solidFill>
                <a:latin typeface="맑은 고딕"/>
                <a:ea typeface="맑은 고딕"/>
              </a:rPr>
              <a:t>멘토 이일주 — 주제 선정 피드백 · 질의응답 · 중간 점검</a:t>
            </a:r>
          </a:p>
        </p:txBody>
      </p:sp>
      <p:sp>
        <p:nvSpPr>
          <p:cNvPr id="20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동결하고,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2377440"/>
                <a:gridCol w="1737360"/>
                <a:gridCol w="4023360"/>
                <a:gridCol w="3136392"/>
              </a:tblGrid>
              <a:tr h="566928">
                <a:tc>
                  <a:txBody>
                    <a:bodyPr wrap="square"/>
                    <a:lstStyle/>
                    <a:p>
                      <a:r>
                        <a:rPr sz="1500" b="1">
                          <a:solidFill>
                            <a:srgbClr val="FFFFFF"/>
                          </a:solidFill>
                          <a:latin typeface="맑은 고딕"/>
                          <a:ea typeface="맑은 고딕"/>
                        </a:rPr>
                        <a:t>단계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기간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한 일</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결과물</a:t>
                      </a:r>
                    </a:p>
                  </a:txBody>
                  <a:tcPr marL="73152" marR="73152" marT="27432" marB="27432" anchor="ctr">
                    <a:solidFill>
                      <a:srgbClr val="3378C8"/>
                    </a:solidFill>
                  </a:tcPr>
                </a:tc>
              </a:tr>
              <a:tr h="566928">
                <a:tc>
                  <a:txBody>
                    <a:bodyPr wrap="square"/>
                    <a:lstStyle/>
                    <a:p>
                      <a:r>
                        <a:rPr sz="1500" b="1">
                          <a:solidFill>
                            <a:srgbClr val="262626"/>
                          </a:solidFill>
                          <a:latin typeface="맑은 고딕"/>
                          <a:ea typeface="맑은 고딕"/>
                        </a:rPr>
                        <a:t>기획</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9/14 ~ 9/17</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주제 · 요구사항 · 설계 초안</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BRD · 설계 문서</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계약 동결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9/18</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토픽 · 서비스 · MQTT · 좌표 규칙</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계약 v0.1</a:t>
                      </a:r>
                    </a:p>
                  </a:txBody>
                  <a:tcPr marL="73152" marR="73152" marT="27432" marB="27432" anchor="ctr">
                    <a:solidFill>
                      <a:srgbClr val="F2F5FA"/>
                    </a:solidFill>
                  </a:tcPr>
                </a:tc>
              </a:tr>
              <a:tr h="566928">
                <a:tc>
                  <a:txBody>
                    <a:bodyPr wrap="square"/>
                    <a:lstStyle/>
                    <a:p>
                      <a:r>
                        <a:rPr sz="1500" b="1">
                          <a:solidFill>
                            <a:srgbClr val="262626"/>
                          </a:solidFill>
                          <a:latin typeface="맑은 고딕"/>
                          <a:ea typeface="맑은 고딕"/>
                        </a:rPr>
                        <a:t>모듈 개발</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9/19 ~ 9/20</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노드별 병렬 구현 · sim</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 5 + 웹</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통합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9/21 ~ 9/23</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sim → 에뮬레이터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실기 종단 3 회 연속</a:t>
                      </a:r>
                    </a:p>
                  </a:txBody>
                  <a:tcPr marL="73152" marR="73152" marT="27432" marB="27432" anchor="ctr">
                    <a:solidFill>
                      <a:srgbClr val="F2F5FA"/>
                    </a:solidFill>
                  </a:tcPr>
                </a:tc>
              </a:tr>
              <a:tr h="566928">
                <a:tc>
                  <a:txBody>
                    <a:bodyPr wrap="square"/>
                    <a:lstStyle/>
                    <a:p>
                      <a:r>
                        <a:rPr sz="1500" b="1">
                          <a:solidFill>
                            <a:srgbClr val="D2691E"/>
                          </a:solidFill>
                          <a:latin typeface="맑은 고딕"/>
                          <a:ea typeface="맑은 고딕"/>
                        </a:rPr>
                        <a:t>[뺄 수 있음] phase 2</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9/24 ~ 9/29</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스캔 결과로 용접 모션</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docs/phase2</a:t>
                      </a:r>
                    </a:p>
                  </a:txBody>
                  <a:tcPr marL="73152" marR="73152" marT="27432" marB="27432" anchor="ctr">
                    <a:solidFill>
                      <a:srgbClr val="FFF1E0"/>
                    </a:solidFill>
                  </a:tcPr>
                </a:tc>
              </a:tr>
              <a:tr h="566928">
                <a:tc>
                  <a:txBody>
                    <a:bodyPr wrap="square"/>
                    <a:lstStyle/>
                    <a:p>
                      <a:r>
                        <a:rPr sz="1500" b="1">
                          <a:solidFill>
                            <a:srgbClr val="262626"/>
                          </a:solidFill>
                          <a:latin typeface="맑은 고딕"/>
                          <a:ea typeface="맑은 고딕"/>
                        </a:rPr>
                        <a:t>발표</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9/30</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결과 보고 · 평가</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발표 · 영상 · 소스</a:t>
                      </a:r>
                    </a:p>
                  </a:txBody>
                  <a:tcPr marL="73152" marR="73152"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outline-v1.md · conventions.md(9/21 기능 동결) · PR #179(튜닝) · 9/23 시연 영상(팀원 4 명 입회). 주황 행은 [뺄 수 있음] —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86000"/>
            <a:ext cx="11274552" cy="2337407"/>
          </a:xfrm>
          <a:prstGeom prst="rect">
            <a:avLst/>
          </a:prstGeom>
        </p:spPr>
      </p:pic>
      <p:sp>
        <p:nvSpPr>
          <p:cNvPr id="121" name="Rounded Rectangle 120"/>
          <p:cNvSpPr/>
          <p:nvPr/>
        </p:nvSpPr>
        <p:spPr>
          <a:xfrm>
            <a:off x="457200"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계약 = 코드보다 우선</a:t>
            </a:r>
          </a:p>
          <a:p>
            <a:pPr algn="ctr">
              <a:spcAft>
                <a:spcPts val="200"/>
              </a:spcAft>
            </a:pPr>
            <a:r>
              <a:rPr sz="1400" b="0">
                <a:solidFill>
                  <a:srgbClr val="262626"/>
                </a:solidFill>
                <a:latin typeface="맑은 고딕"/>
                <a:ea typeface="맑은 고딕"/>
              </a:rPr>
              <a:t>바뀌면 문서 · 패키지를 함께</a:t>
            </a:r>
          </a:p>
        </p:txBody>
      </p:sp>
      <p:sp>
        <p:nvSpPr>
          <p:cNvPr id="122" name="Rounded Rectangle 121"/>
          <p:cNvSpPr/>
          <p:nvPr/>
        </p:nvSpPr>
        <p:spPr>
          <a:xfrm>
            <a:off x="4279392"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source:=sim</a:t>
            </a:r>
          </a:p>
          <a:p>
            <a:pPr algn="ctr">
              <a:spcAft>
                <a:spcPts val="200"/>
              </a:spcAft>
            </a:pPr>
            <a:r>
              <a:rPr sz="1400" b="0">
                <a:solidFill>
                  <a:srgbClr val="262626"/>
                </a:solidFill>
                <a:latin typeface="맑은 고딕"/>
                <a:ea typeface="맑은 고딕"/>
              </a:rPr>
              <a:t>인자 하나로 로봇 없이</a:t>
            </a:r>
          </a:p>
        </p:txBody>
      </p:sp>
      <p:sp>
        <p:nvSpPr>
          <p:cNvPr id="123" name="Rounded Rectangle 122"/>
          <p:cNvSpPr/>
          <p:nvPr/>
        </p:nvSpPr>
        <p:spPr>
          <a:xfrm>
            <a:off x="8101583"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실측 → yaml</a:t>
            </a:r>
          </a:p>
          <a:p>
            <a:pPr algn="ctr">
              <a:spcAft>
                <a:spcPts val="200"/>
              </a:spcAft>
            </a:pPr>
            <a:r>
              <a:rPr sz="1400" b="0">
                <a:solidFill>
                  <a:srgbClr val="262626"/>
                </a:solidFill>
                <a:latin typeface="맑은 고딕"/>
                <a:ea typeface="맑은 고딕"/>
              </a:rPr>
              <a:t>실기 PC 에만 남은 값은 없는 값</a:t>
            </a:r>
          </a:p>
        </p:txBody>
      </p:sp>
      <p:sp>
        <p:nvSpPr>
          <p:cNvPr id="12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docs/contracts/CHANGELOG.md(v0.1.1 ~ v0.1.20, 9/18~9/23 의 19 항목) · contact_scan_interfaces test_contract_sync. 9/23 main 머지 기준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sp>
        <p:nvSpPr>
          <p:cNvPr id="120" name="[뺄 수 있음] 03 방법 배너"/>
          <p:cNvSpPr/>
          <p:nvPr/>
        </p:nvSpPr>
        <p:spPr>
          <a:xfrm>
            <a:off x="457200" y="2240280"/>
            <a:ext cx="11274552" cy="658368"/>
          </a:xfrm>
          <a:prstGeom prst="roundRect">
            <a:avLst>
              <a:gd name="adj" fmla="val 12000"/>
            </a:avLst>
          </a:prstGeom>
          <a:solidFill>
            <a:srgbClr val="D2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200" b="1">
                <a:solidFill>
                  <a:srgbClr val="FFFFFF"/>
                </a:solidFill>
                <a:latin typeface="맑은 고딕"/>
                <a:ea typeface="맑은 고딕"/>
              </a:rPr>
              <a:t>[뺄 수 있음]  발표 시간이 모자라면 이 장을 통째로 뺀다</a:t>
            </a:r>
          </a:p>
        </p:txBody>
      </p:sp>
      <p:sp>
        <p:nvSpPr>
          <p:cNvPr id="121" name="Rounded Rectangle 120"/>
          <p:cNvSpPr/>
          <p:nvPr/>
        </p:nvSpPr>
        <p:spPr>
          <a:xfrm>
            <a:off x="457200"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작업 1 = PR 1</a:t>
            </a:r>
          </a:p>
          <a:p>
            <a:pPr algn="ctr">
              <a:spcAft>
                <a:spcPts val="200"/>
              </a:spcAft>
            </a:pPr>
            <a:r>
              <a:rPr sz="1500" b="0">
                <a:solidFill>
                  <a:srgbClr val="262626"/>
                </a:solidFill>
                <a:latin typeface="맑은 고딕"/>
                <a:ea typeface="맑은 고딕"/>
              </a:rPr>
              <a:t>작게 나눠 리뷰</a:t>
            </a:r>
          </a:p>
        </p:txBody>
      </p:sp>
      <p:sp>
        <p:nvSpPr>
          <p:cNvPr id="122" name="Rounded Rectangle 121"/>
          <p:cNvSpPr/>
          <p:nvPr/>
        </p:nvSpPr>
        <p:spPr>
          <a:xfrm>
            <a:off x="4279392"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코드 오너 승인</a:t>
            </a:r>
          </a:p>
          <a:p>
            <a:pPr algn="ctr">
              <a:spcAft>
                <a:spcPts val="200"/>
              </a:spcAft>
            </a:pPr>
            <a:r>
              <a:rPr sz="1500" b="0">
                <a:solidFill>
                  <a:srgbClr val="262626"/>
                </a:solidFill>
                <a:latin typeface="맑은 고딕"/>
                <a:ea typeface="맑은 고딕"/>
              </a:rPr>
              <a:t>계약 · 공용 파일</a:t>
            </a:r>
          </a:p>
        </p:txBody>
      </p:sp>
      <p:sp>
        <p:nvSpPr>
          <p:cNvPr id="123" name="Rounded Rectangle 122"/>
          <p:cNvSpPr/>
          <p:nvPr/>
        </p:nvSpPr>
        <p:spPr>
          <a:xfrm>
            <a:off x="8101584"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3 단계 검증</a:t>
            </a:r>
          </a:p>
          <a:p>
            <a:pPr algn="ctr">
              <a:spcAft>
                <a:spcPts val="200"/>
              </a:spcAft>
            </a:pPr>
            <a:r>
              <a:rPr sz="1500" b="0">
                <a:solidFill>
                  <a:srgbClr val="262626"/>
                </a:solidFill>
                <a:latin typeface="맑은 고딕"/>
                <a:ea typeface="맑은 고딕"/>
              </a:rPr>
              <a:t>sim → Virtual → 실기</a:t>
            </a:r>
          </a:p>
        </p:txBody>
      </p:sp>
      <p:sp>
        <p:nvSpPr>
          <p:cNvPr id="124" name="Rounded Rectangle 123"/>
          <p:cNvSpPr/>
          <p:nvPr/>
        </p:nvSpPr>
        <p:spPr>
          <a:xfrm>
            <a:off x="457200"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수치 = 파라미터</a:t>
            </a:r>
          </a:p>
          <a:p>
            <a:pPr algn="ctr">
              <a:spcAft>
                <a:spcPts val="200"/>
              </a:spcAft>
            </a:pPr>
            <a:r>
              <a:rPr sz="1500" b="0">
                <a:solidFill>
                  <a:srgbClr val="262626"/>
                </a:solidFill>
                <a:latin typeface="맑은 고딕"/>
                <a:ea typeface="맑은 고딕"/>
              </a:rPr>
              <a:t>코드에 박지 않는다</a:t>
            </a:r>
          </a:p>
        </p:txBody>
      </p:sp>
      <p:sp>
        <p:nvSpPr>
          <p:cNvPr id="125" name="Rounded Rectangle 124"/>
          <p:cNvSpPr/>
          <p:nvPr/>
        </p:nvSpPr>
        <p:spPr>
          <a:xfrm>
            <a:off x="4279392"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실측 분리</a:t>
            </a:r>
          </a:p>
          <a:p>
            <a:pPr algn="ctr">
              <a:spcAft>
                <a:spcPts val="200"/>
              </a:spcAft>
            </a:pPr>
            <a:r>
              <a:rPr sz="1500" b="0">
                <a:solidFill>
                  <a:srgbClr val="262626"/>
                </a:solidFill>
                <a:latin typeface="맑은 고딕"/>
                <a:ea typeface="맑은 고딕"/>
              </a:rPr>
              <a:t>출발값 · 실측 · 계산</a:t>
            </a:r>
          </a:p>
        </p:txBody>
      </p:sp>
      <p:sp>
        <p:nvSpPr>
          <p:cNvPr id="126" name="Rounded Rectangle 125"/>
          <p:cNvSpPr/>
          <p:nvPr/>
        </p:nvSpPr>
        <p:spPr>
          <a:xfrm>
            <a:off x="8101584"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시험 보고</a:t>
            </a:r>
          </a:p>
          <a:p>
            <a:pPr algn="ctr">
              <a:spcAft>
                <a:spcPts val="200"/>
              </a:spcAft>
            </a:pPr>
            <a:r>
              <a:rPr sz="1500" b="0">
                <a:solidFill>
                  <a:srgbClr val="262626"/>
                </a:solidFill>
                <a:latin typeface="맑은 고딕"/>
                <a:ea typeface="맑은 고딕"/>
              </a:rPr>
              <a:t>실패 · 미달도 기록</a:t>
            </a:r>
          </a:p>
        </p:txBody>
      </p:sp>
      <p:sp>
        <p:nvSpPr>
          <p:cNvPr id="12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docs/test-reports/README.md · docs/contracts/units-frames.md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뺄 수 있음] 04-① 그림(용접 포함) — 빼면 arch-simple-no-phase2.png" descr="arch-simple.png"/>
          <p:cNvPicPr>
            <a:picLocks noChangeAspect="1"/>
          </p:cNvPicPr>
          <p:nvPr/>
        </p:nvPicPr>
        <p:blipFill>
          <a:blip r:embed="rId10"/>
          <a:stretch>
            <a:fillRect/>
          </a:stretch>
        </p:blipFill>
        <p:spPr>
          <a:xfrm>
            <a:off x="457200" y="2240280"/>
            <a:ext cx="11274552" cy="4124836"/>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산출물 01 시스템 아키텍처 v1.7(상세 그림) · 06 ROS2 노드 구조도 v1.2(선 하나하나) · docs/contracts/ros-interfaces.md 2 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쥐고, 중지 · 재시작 · 안전복귀는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flow.png"/>
          <p:cNvPicPr>
            <a:picLocks noChangeAspect="1"/>
          </p:cNvPicPr>
          <p:nvPr/>
        </p:nvPicPr>
        <p:blipFill>
          <a:blip r:embed="rId10"/>
          <a:stretch>
            <a:fillRect/>
          </a:stretch>
        </p:blipFill>
        <p:spPr>
          <a:xfrm>
            <a:off x="457200" y="2240280"/>
            <a:ext cx="11274552" cy="4079005"/>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ws_cobot1/src/scan_manager/README.md(시퀀스 · 전이표 · 재시작 · 안전복귀) · docs/contracts/ros-interfaces.md 7.1 · 7.3 · 7.5 · 9 장(v0.1.21)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7498079" cy="4067250"/>
          </a:xfrm>
          <a:prstGeom prst="rect">
            <a:avLst/>
          </a:prstGeom>
        </p:spPr>
      </p:pic>
      <p:graphicFrame>
        <p:nvGraphicFramePr>
          <p:cNvPr id="101" name="Table 100"/>
          <p:cNvGraphicFramePr>
            <a:graphicFrameLocks noGrp="1"/>
          </p:cNvGraphicFramePr>
          <p:nvPr/>
        </p:nvGraphicFramePr>
        <p:xfrm>
          <a:off x="8138160" y="2286000"/>
          <a:ext cx="3593592" cy="3950208"/>
        </p:xfrm>
        <a:graphic>
          <a:graphicData uri="http://schemas.openxmlformats.org/drawingml/2006/table">
            <a:tbl>
              <a:tblPr firstRow="1" bandRow="1">
                <a:tableStyleId>{5C22544A-7EE6-4342-B048-85BDC9FD1C3A}</a:tableStyleId>
              </a:tblPr>
              <a:tblGrid>
                <a:gridCol w="1280160"/>
                <a:gridCol w="1490472"/>
                <a:gridCol w="822960"/>
              </a:tblGrid>
              <a:tr h="658368">
                <a:tc>
                  <a:txBody>
                    <a:bodyPr wrap="square"/>
                    <a:lstStyle/>
                    <a:p>
                      <a:r>
                        <a:rPr sz="1300" b="1">
                          <a:solidFill>
                            <a:srgbClr val="FFFFFF"/>
                          </a:solidFill>
                          <a:latin typeface="맑은 고딕"/>
                          <a:ea typeface="맑은 고딕"/>
                        </a:rPr>
                        <a:t>9/23 실기</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값</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구분</a:t>
                      </a:r>
                    </a:p>
                  </a:txBody>
                  <a:tcPr marL="73152" marR="73152" marT="27432" marB="27432" anchor="ctr">
                    <a:solidFill>
                      <a:srgbClr val="3378C8"/>
                    </a:solidFill>
                  </a:tcPr>
                </a:tc>
              </a:tr>
              <a:tr h="658368">
                <a:tc>
                  <a:txBody>
                    <a:bodyPr wrap="square"/>
                    <a:lstStyle/>
                    <a:p>
                      <a:r>
                        <a:rPr sz="1300" b="1">
                          <a:solidFill>
                            <a:srgbClr val="262626"/>
                          </a:solidFill>
                          <a:latin typeface="맑은 고딕"/>
                          <a:ea typeface="맑은 고딕"/>
                        </a:rPr>
                        <a:t>하강량 δ</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0.46~0.52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보정량 d</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1.27~1.34 mm</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계산</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크기</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83.0 × 80.6</a:t>
                      </a:r>
                    </a:p>
                    <a:p>
                      <a:r>
                        <a:rPr sz="1300" b="0">
                          <a:solidFill>
                            <a:srgbClr val="262626"/>
                          </a:solidFill>
                          <a:latin typeface="맑은 고딕"/>
                          <a:ea typeface="맑은 고딕"/>
                        </a:rPr>
                        <a:t>× 80.8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캘리퍼 대비</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+1.50 / −0.36</a:t>
                      </a:r>
                    </a:p>
                    <a:p>
                      <a:r>
                        <a:rPr sz="1300" b="0">
                          <a:solidFill>
                            <a:srgbClr val="262626"/>
                          </a:solidFill>
                          <a:latin typeface="맑은 고딕"/>
                          <a:ea typeface="맑은 고딕"/>
                        </a:rPr>
                        <a:t>/ +0.26 mm</a:t>
                      </a:r>
                    </a:p>
                  </a:txBody>
                  <a:tcPr marL="73152" marR="73152" marT="27432" marB="27432" anchor="ctr">
                    <a:solidFill>
                      <a:srgbClr val="F2F5FA"/>
                    </a:solidFill>
                  </a:tcPr>
                </a:tc>
                <a:tc>
                  <a:txBody>
                    <a:bodyPr wrap="square"/>
                    <a:lstStyle/>
                    <a:p>
                      <a:r>
                        <a:rPr sz="1300" b="0">
                          <a:solidFill>
                            <a:srgbClr val="3378C8"/>
                          </a:solidFill>
                          <a:latin typeface="맑은 고딕"/>
                          <a:ea typeface="맑은 고딕"/>
                        </a:rPr>
                        <a:t>±3 mm 안</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10 회 반복</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미실시</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KPI</a:t>
                      </a:r>
                    </a:p>
                  </a:txBody>
                  <a:tcPr marL="73152" marR="73152" marT="27432" marB="27432" anchor="ctr">
                    <a:solidFill>
                      <a:srgbClr val="FFFFFF"/>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9/23 실기 scan 20260923-183211-3702 result.json(docs/phase2/fixtures)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12848"/>
          <a:ext cx="11274552" cy="3785616"/>
        </p:xfrm>
        <a:graphic>
          <a:graphicData uri="http://schemas.openxmlformats.org/drawingml/2006/table">
            <a:tbl>
              <a:tblPr firstRow="1" bandRow="1">
                <a:tableStyleId>{5C22544A-7EE6-4342-B048-85BDC9FD1C3A}</a:tableStyleId>
              </a:tblPr>
              <a:tblGrid>
                <a:gridCol w="1600200"/>
                <a:gridCol w="7132320"/>
                <a:gridCol w="2542032"/>
              </a:tblGrid>
              <a:tr h="630936">
                <a:tc>
                  <a:txBody>
                    <a:bodyPr wrap="square"/>
                    <a:lstStyle/>
                    <a:p>
                      <a:r>
                        <a:rPr sz="1400" b="1">
                          <a:solidFill>
                            <a:srgbClr val="FFFFFF"/>
                          </a:solidFill>
                          <a:latin typeface="맑은 고딕"/>
                          <a:ea typeface="맑은 고딕"/>
                        </a:rPr>
                        <a:t>평가 항목</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우리가 한 것   (○ 됨 · △ 일부 · × 미달)</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증거</a:t>
                      </a:r>
                    </a:p>
                  </a:txBody>
                  <a:tcPr marL="73152" marR="73152" marT="27432" marB="27432" anchor="ctr">
                    <a:solidFill>
                      <a:srgbClr val="3378C8"/>
                    </a:solidFill>
                  </a:tcPr>
                </a:tc>
              </a:tr>
              <a:tr h="630936">
                <a:tc>
                  <a:txBody>
                    <a:bodyPr wrap="square"/>
                    <a:lstStyle/>
                    <a:p>
                      <a:r>
                        <a:rPr sz="1400" b="1">
                          <a:solidFill>
                            <a:srgbClr val="262626"/>
                          </a:solidFill>
                          <a:latin typeface="맑은 고딕"/>
                          <a:ea typeface="맑은 고딕"/>
                        </a:rPr>
                        <a:t>완전성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교시 없이 5 점 → 형상 → 웹 3D, 실기 종단</a:t>
                      </a:r>
                    </a:p>
                    <a:p>
                      <a:r>
                        <a:rPr sz="1400" b="0">
                          <a:solidFill>
                            <a:srgbClr val="C0392B"/>
                          </a:solidFill>
                          <a:latin typeface="맑은 고딕"/>
                          <a:ea typeface="맑은 고딕"/>
                        </a:rPr>
                        <a:t>× 탐색 438 s(KPI 120 s) · 설정 버튼 없음</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04-⑥ · PR #179</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정확성</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치수 ±3 mm 안 (1 회)</a:t>
                      </a:r>
                    </a:p>
                    <a:p>
                      <a:r>
                        <a:rPr sz="1400" b="0">
                          <a:solidFill>
                            <a:srgbClr val="C0392B"/>
                          </a:solidFill>
                          <a:latin typeface="맑은 고딕"/>
                          <a:ea typeface="맑은 고딕"/>
                        </a:rPr>
                        <a:t>× 검출 하중 2/10 이 5 N 초과</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04-⑥ · TR-01</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안정성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실기 종단 3 회 연속 · 두 겹 감시 · 래치</a:t>
                      </a:r>
                    </a:p>
                    <a:p>
                      <a:r>
                        <a:rPr sz="1400" b="0">
                          <a:solidFill>
                            <a:srgbClr val="C0392B"/>
                          </a:solidFill>
                          <a:latin typeface="맑은 고딕"/>
                          <a:ea typeface="맑은 고딕"/>
                        </a:rPr>
                        <a:t>× 관제 반영 지연 최대 312 ms</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영상 · 04-③ · TR-05</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입출력</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계약 한 벌 · 미측정 = NaN / null</a:t>
                      </a:r>
                    </a:p>
                    <a:p>
                      <a:r>
                        <a:rPr sz="1400" b="0">
                          <a:solidFill>
                            <a:srgbClr val="2E8B57"/>
                          </a:solidFill>
                          <a:latin typeface="맑은 고딕"/>
                          <a:ea typeface="맑은 고딕"/>
                        </a:rPr>
                        <a:t>○ 저장 → 조회 일치 (sim)</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산출물 05 · TR-10</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지속성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중지 · 복귀 · 재시작 독립</a:t>
                      </a:r>
                    </a:p>
                    <a:p>
                      <a:r>
                        <a:rPr sz="1400" b="0">
                          <a:solidFill>
                            <a:srgbClr val="B8860B"/>
                          </a:solidFill>
                          <a:latin typeface="맑은 고딕"/>
                          <a:ea typeface="맑은 고딕"/>
                        </a:rPr>
                        <a:t>△ 재시작은 sim · 시험만, 실기 미실시</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04-④ · 04-⑧</a:t>
                      </a:r>
                    </a:p>
                  </a:txBody>
                  <a:tcPr marL="73152" marR="73152"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6035040"/>
          <a:ext cx="11274552" cy="365760"/>
        </p:xfrm>
        <a:graphic>
          <a:graphicData uri="http://schemas.openxmlformats.org/drawingml/2006/table">
            <a:tbl>
              <a:tblPr firstRow="1" bandRow="1">
                <a:tableStyleId>{5C22544A-7EE6-4342-B048-85BDC9FD1C3A}</a:tableStyleId>
              </a:tblPr>
              <a:tblGrid>
                <a:gridCol w="1600200"/>
                <a:gridCol w="7132320"/>
                <a:gridCol w="2542032"/>
              </a:tblGrid>
              <a:tr h="365760">
                <a:tc>
                  <a:txBody>
                    <a:bodyPr wrap="square"/>
                    <a:lstStyle/>
                    <a:p>
                      <a:r>
                        <a:rPr sz="1300" b="1">
                          <a:solidFill>
                            <a:srgbClr val="D2691E"/>
                          </a:solidFill>
                          <a:latin typeface="맑은 고딕"/>
                          <a:ea typeface="맑은 고딕"/>
                        </a:rPr>
                        <a:t>[뺄 수 있음] 용접</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 실기 8 선 중 6 선 완주 (9/29) · Virtual 8 / 8   △ 띄움 거리 치우침</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04-⑨ · 9/29 기록</a:t>
                      </a:r>
                    </a:p>
                  </a:txBody>
                  <a:tcPr marL="73152" marR="73152" marT="27432" marB="27432" anchor="ctr">
                    <a:solidFill>
                      <a:srgbClr val="FFF1E0"/>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TR-01(9/23) · TR-05 · TR-10(9/22 sim) · #180 · 9/23 시연 영상(3 회 연속 · 팀원 입회). 438 s = #180 학민 실측(본문 합계 435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problem-before-after.png"/>
          <p:cNvPicPr>
            <a:picLocks noChangeAspect="1"/>
          </p:cNvPicPr>
          <p:nvPr/>
        </p:nvPicPr>
        <p:blipFill>
          <a:blip r:embed="rId10"/>
          <a:stretch>
            <a:fillRect/>
          </a:stretch>
        </p:blipFill>
        <p:spPr>
          <a:xfrm>
            <a:off x="457200" y="2240280"/>
            <a:ext cx="11274552" cy="3254037"/>
          </a:xfrm>
          <a:prstGeom prst="rect">
            <a:avLst/>
          </a:prstGeom>
        </p:spPr>
      </p:pic>
      <p:sp>
        <p:nvSpPr>
          <p:cNvPr id="101" name="Rounded Rectangle 100"/>
          <p:cNvSpPr/>
          <p:nvPr/>
        </p:nvSpPr>
        <p:spPr>
          <a:xfrm>
            <a:off x="457200" y="5577840"/>
            <a:ext cx="5532120" cy="749808"/>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교훈: 값과 함께 나이를 본다</a:t>
            </a:r>
          </a:p>
        </p:txBody>
      </p:sp>
      <p:sp>
        <p:nvSpPr>
          <p:cNvPr id="102" name="Rounded Rectangle 101"/>
          <p:cNvSpPr/>
          <p:nvPr/>
        </p:nvSpPr>
        <p:spPr>
          <a:xfrm>
            <a:off x="6199632" y="5577840"/>
            <a:ext cx="5532120" cy="749808"/>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600" b="1">
                <a:solidFill>
                  <a:srgbClr val="C0392B"/>
                </a:solidFill>
                <a:latin typeface="맑은 고딕"/>
                <a:ea typeface="맑은 고딕"/>
              </a:rPr>
              <a:t>남은 것: 실기 미확인 · 진행 중 스캔은 계속</a:t>
            </a:r>
          </a:p>
        </p:txBody>
      </p:sp>
      <p:sp>
        <p:nvSpPr>
          <p:cNvPr id="103"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PR #136 · #103 · #120 · realrobot-session_20260921 · safety-audit-review_20260922 D-1 · docs/phase1/scan_manager.md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949440" cy="3931920"/>
          </a:xfrm>
          <a:prstGeom prst="rect">
            <a:avLst/>
          </a:prstGeom>
        </p:spPr>
      </p:pic>
      <p:sp>
        <p:nvSpPr>
          <p:cNvPr id="101" name="Rounded Rectangle 100"/>
          <p:cNvSpPr/>
          <p:nvPr/>
        </p:nvSpPr>
        <p:spPr>
          <a:xfrm>
            <a:off x="7589520" y="2286000"/>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계약 먼저</a:t>
            </a:r>
          </a:p>
          <a:p>
            <a:pPr algn="ctr">
              <a:spcAft>
                <a:spcPts val="200"/>
              </a:spcAft>
            </a:pPr>
            <a:r>
              <a:rPr sz="1300" b="0">
                <a:solidFill>
                  <a:srgbClr val="262626"/>
                </a:solidFill>
                <a:latin typeface="맑은 고딕"/>
                <a:ea typeface="맑은 고딕"/>
              </a:rPr>
              <a:t>v0.2.0 · 1차 계약은 그대로</a:t>
            </a:r>
          </a:p>
        </p:txBody>
      </p:sp>
      <p:sp>
        <p:nvSpPr>
          <p:cNvPr id="102" name="Rounded Rectangle 101"/>
          <p:cNvSpPr/>
          <p:nvPr/>
        </p:nvSpPr>
        <p:spPr>
          <a:xfrm>
            <a:off x="7589520" y="3255264"/>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45° · 3 mm 띄움</a:t>
            </a:r>
          </a:p>
          <a:p>
            <a:pPr algn="ctr">
              <a:spcAft>
                <a:spcPts val="200"/>
              </a:spcAft>
            </a:pPr>
            <a:r>
              <a:rPr sz="1300" b="0">
                <a:solidFill>
                  <a:srgbClr val="262626"/>
                </a:solidFill>
                <a:latin typeface="맑은 고딕"/>
                <a:ea typeface="맑은 고딕"/>
              </a:rPr>
              <a:t>힘 · 순응 제어 없음</a:t>
            </a:r>
          </a:p>
        </p:txBody>
      </p:sp>
      <p:sp>
        <p:nvSpPr>
          <p:cNvPr id="103" name="Rounded Rectangle 102"/>
          <p:cNvSpPr/>
          <p:nvPr/>
        </p:nvSpPr>
        <p:spPr>
          <a:xfrm>
            <a:off x="7589520" y="4224528"/>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지그재그 경유점</a:t>
            </a:r>
          </a:p>
          <a:p>
            <a:pPr algn="ctr">
              <a:spcAft>
                <a:spcPts val="200"/>
              </a:spcAft>
            </a:pPr>
            <a:r>
              <a:rPr sz="1300" b="0">
                <a:solidFill>
                  <a:srgbClr val="262626"/>
                </a:solidFill>
                <a:latin typeface="맑은 고딕"/>
                <a:ea typeface="맑은 고딕"/>
              </a:rPr>
              <a:t>위빙 = 점마다 멈추며</a:t>
            </a:r>
          </a:p>
        </p:txBody>
      </p:sp>
      <p:sp>
        <p:nvSpPr>
          <p:cNvPr id="104" name="Rounded Rectangle 103"/>
          <p:cNvSpPr/>
          <p:nvPr/>
        </p:nvSpPr>
        <p:spPr>
          <a:xfrm>
            <a:off x="7589520" y="5193792"/>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실패 선만 FAILED</a:t>
            </a:r>
          </a:p>
          <a:p>
            <a:pPr algn="ctr">
              <a:spcAft>
                <a:spcPts val="200"/>
              </a:spcAft>
            </a:pPr>
            <a:r>
              <a:rPr sz="1300" b="0">
                <a:solidFill>
                  <a:srgbClr val="262626"/>
                </a:solidFill>
                <a:latin typeface="맑은 고딕"/>
                <a:ea typeface="맑은 고딕"/>
              </a:rPr>
              <a:t>나머지는 계속</a:t>
            </a:r>
          </a:p>
        </p:txBody>
      </p:sp>
      <p:sp>
        <p:nvSpPr>
          <p:cNvPr id="10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docs/phase2/README.md(D1 · D2 · D19 · D22 · D33) · weld-motion.md 1~4 · 6 절 · weld-ros-interfaces.md. 3 mm · 45° · 진폭 2 mm · 반주기 4 mm 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9/29 실기: 8 선 중 6 선 완주 — 닿지 않는 두 선은 계획대로 건너뛰었다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4023360"/>
        </p:xfrm>
        <a:graphic>
          <a:graphicData uri="http://schemas.openxmlformats.org/drawingml/2006/table">
            <a:tbl>
              <a:tblPr firstRow="1" bandRow="1">
                <a:tableStyleId>{5C22544A-7EE6-4342-B048-85BDC9FD1C3A}</a:tableStyleId>
              </a:tblPr>
              <a:tblGrid>
                <a:gridCol w="3383280"/>
                <a:gridCol w="2560320"/>
                <a:gridCol w="5330952"/>
              </a:tblGrid>
              <a:tr h="502920">
                <a:tc>
                  <a:txBody>
                    <a:bodyPr wrap="square"/>
                    <a:lstStyle/>
                    <a:p>
                      <a:r>
                        <a:rPr sz="1600" b="1">
                          <a:solidFill>
                            <a:srgbClr val="FFFFFF"/>
                          </a:solidFill>
                          <a:latin typeface="맑은 고딕"/>
                          <a:ea typeface="맑은 고딕"/>
                        </a:rPr>
                        <a:t>확인</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환경 · 날짜</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결과</a:t>
                      </a:r>
                    </a:p>
                  </a:txBody>
                  <a:tcPr marL="73152" marR="73152" marT="27432" marB="27432" anchor="ctr">
                    <a:solidFill>
                      <a:srgbClr val="3378C8"/>
                    </a:solidFill>
                  </a:tcPr>
                </a:tc>
              </a:tr>
              <a:tr h="502920">
                <a:tc>
                  <a:txBody>
                    <a:bodyPr wrap="square"/>
                    <a:lstStyle/>
                    <a:p>
                      <a:r>
                        <a:rPr sz="1600" b="1">
                          <a:solidFill>
                            <a:srgbClr val="262626"/>
                          </a:solidFill>
                          <a:latin typeface="맑은 고딕"/>
                          <a:ea typeface="맑은 고딕"/>
                        </a:rPr>
                        <a:t>45° 자세 도달</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실기 · 9/23</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12 / 16   (L1 · L5 불가)</a:t>
                      </a:r>
                    </a:p>
                  </a:txBody>
                  <a:tcPr marL="73152" marR="73152" marT="27432" marB="27432" anchor="ctr">
                    <a:solidFill>
                      <a:srgbClr val="FFFFFF"/>
                    </a:solidFill>
                  </a:tcPr>
                </a:tc>
              </a:tr>
              <a:tr h="502920">
                <a:tc>
                  <a:txBody>
                    <a:bodyPr wrap="square"/>
                    <a:lstStyle/>
                    <a:p>
                      <a:r>
                        <a:rPr sz="1600" b="1">
                          <a:solidFill>
                            <a:srgbClr val="262626"/>
                          </a:solidFill>
                          <a:latin typeface="맑은 고딕"/>
                          <a:ea typeface="맑은 고딕"/>
                        </a:rPr>
                        <a:t>8 선 종단</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Virtual · 9/25</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8 / 8 완주 · 246 s</a:t>
                      </a:r>
                    </a:p>
                  </a:txBody>
                  <a:tcPr marL="73152" marR="73152" marT="27432" marB="27432" anchor="ctr">
                    <a:solidFill>
                      <a:srgbClr val="F2F5FA"/>
                    </a:solidFill>
                  </a:tcPr>
                </a:tc>
              </a:tr>
              <a:tr h="502920">
                <a:tc>
                  <a:txBody>
                    <a:bodyPr wrap="square"/>
                    <a:lstStyle/>
                    <a:p>
                      <a:r>
                        <a:rPr sz="1600" b="1">
                          <a:solidFill>
                            <a:srgbClr val="262626"/>
                          </a:solidFill>
                          <a:latin typeface="맑은 고딕"/>
                          <a:ea typeface="맑은 고딕"/>
                        </a:rPr>
                        <a:t>실패 선 처리</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Virtual · 9/25</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FAILED 기록 → 마무리 ○</a:t>
                      </a:r>
                    </a:p>
                  </a:txBody>
                  <a:tcPr marL="73152" marR="73152" marT="27432" marB="27432" anchor="ctr">
                    <a:solidFill>
                      <a:srgbClr val="FFFFFF"/>
                    </a:solidFill>
                  </a:tcPr>
                </a:tc>
              </a:tr>
              <a:tr h="502920">
                <a:tc>
                  <a:txBody>
                    <a:bodyPr wrap="square"/>
                    <a:lstStyle/>
                    <a:p>
                      <a:r>
                        <a:rPr sz="1600" b="1">
                          <a:solidFill>
                            <a:srgbClr val="262626"/>
                          </a:solidFill>
                          <a:latin typeface="맑은 고딕"/>
                          <a:ea typeface="맑은 고딕"/>
                        </a:rPr>
                        <a:t>윗면 L0 → L0~L3</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실기 · 9/29</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3 / 4 ○   (L1 은 FAILED 뒤 계속)</a:t>
                      </a:r>
                    </a:p>
                  </a:txBody>
                  <a:tcPr marL="73152" marR="73152" marT="27432" marB="27432" anchor="ctr">
                    <a:solidFill>
                      <a:srgbClr val="F2F5FA"/>
                    </a:solidFill>
                  </a:tcPr>
                </a:tc>
              </a:tr>
              <a:tr h="502920">
                <a:tc>
                  <a:txBody>
                    <a:bodyPr wrap="square"/>
                    <a:lstStyle/>
                    <a:p>
                      <a:r>
                        <a:rPr sz="1600" b="1">
                          <a:solidFill>
                            <a:srgbClr val="262626"/>
                          </a:solidFill>
                          <a:latin typeface="맑은 고딕"/>
                          <a:ea typeface="맑은 고딕"/>
                        </a:rPr>
                        <a:t>8 선 중 완주</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실기 · 9/29</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6 / 8 ○ · 144 s   (L1 · L5 건너뜀)</a:t>
                      </a:r>
                    </a:p>
                  </a:txBody>
                  <a:tcPr marL="73152" marR="73152" marT="27432" marB="27432" anchor="ctr">
                    <a:solidFill>
                      <a:srgbClr val="FFFFFF"/>
                    </a:solidFill>
                  </a:tcPr>
                </a:tc>
              </a:tr>
              <a:tr h="502920">
                <a:tc>
                  <a:txBody>
                    <a:bodyPr wrap="square"/>
                    <a:lstStyle/>
                    <a:p>
                      <a:r>
                        <a:rPr sz="1600" b="1">
                          <a:solidFill>
                            <a:srgbClr val="262626"/>
                          </a:solidFill>
                          <a:latin typeface="맑은 고딕"/>
                          <a:ea typeface="맑은 고딕"/>
                        </a:rPr>
                        <a:t>도착 · 무접촉</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실기 · 9/29</a:t>
                      </a:r>
                    </a:p>
                  </a:txBody>
                  <a:tcPr marL="73152" marR="73152" marT="27432" marB="27432" anchor="ctr">
                    <a:solidFill>
                      <a:srgbClr val="F2F5FA"/>
                    </a:solidFill>
                  </a:tcPr>
                </a:tc>
                <a:tc>
                  <a:txBody>
                    <a:bodyPr wrap="square"/>
                    <a:lstStyle/>
                    <a:p>
                      <a:r>
                        <a:rPr sz="1600" b="0">
                          <a:solidFill>
                            <a:srgbClr val="262626"/>
                          </a:solidFill>
                          <a:latin typeface="맑은 고딕"/>
                          <a:ea typeface="맑은 고딕"/>
                        </a:rPr>
                        <a:t>경유점 3 mm 안 · 무접촉 · 안전 0 건</a:t>
                      </a:r>
                    </a:p>
                  </a:txBody>
                  <a:tcPr marL="73152" marR="73152" marT="27432" marB="27432" anchor="ctr">
                    <a:solidFill>
                      <a:srgbClr val="F2F5FA"/>
                    </a:solidFill>
                  </a:tcPr>
                </a:tc>
              </a:tr>
              <a:tr h="502920">
                <a:tc>
                  <a:txBody>
                    <a:bodyPr wrap="square"/>
                    <a:lstStyle/>
                    <a:p>
                      <a:r>
                        <a:rPr sz="1600" b="1">
                          <a:solidFill>
                            <a:srgbClr val="262626"/>
                          </a:solidFill>
                          <a:latin typeface="맑은 고딕"/>
                          <a:ea typeface="맑은 고딕"/>
                        </a:rPr>
                        <a:t>3 mm 띄움 (눈 관찰)</a:t>
                      </a:r>
                    </a:p>
                  </a:txBody>
                  <a:tcPr marL="73152" marR="73152" marT="27432" marB="27432" anchor="ctr">
                    <a:solidFill>
                      <a:srgbClr val="FFFFFF"/>
                    </a:solidFill>
                  </a:tcPr>
                </a:tc>
                <a:tc>
                  <a:txBody>
                    <a:bodyPr wrap="square"/>
                    <a:lstStyle/>
                    <a:p>
                      <a:r>
                        <a:rPr sz="1600" b="0">
                          <a:solidFill>
                            <a:srgbClr val="262626"/>
                          </a:solidFill>
                          <a:latin typeface="맑은 고딕"/>
                          <a:ea typeface="맑은 고딕"/>
                        </a:rPr>
                        <a:t>실기 · 9/29</a:t>
                      </a:r>
                    </a:p>
                  </a:txBody>
                  <a:tcPr marL="73152" marR="73152" marT="27432" marB="27432" anchor="ctr">
                    <a:solidFill>
                      <a:srgbClr val="FFFFFF"/>
                    </a:solidFill>
                  </a:tcPr>
                </a:tc>
                <a:tc>
                  <a:txBody>
                    <a:bodyPr wrap="square"/>
                    <a:lstStyle/>
                    <a:p>
                      <a:r>
                        <a:rPr sz="1600" b="0">
                          <a:solidFill>
                            <a:srgbClr val="B8860B"/>
                          </a:solidFill>
                          <a:latin typeface="맑은 고딕"/>
                          <a:ea typeface="맑은 고딕"/>
                        </a:rPr>
                        <a:t>△ 선마다 0~8 mm (한쪽 치우침)</a:t>
                      </a:r>
                    </a:p>
                  </a:txBody>
                  <a:tcPr marL="73152" marR="73152" marT="27432" marB="27432" anchor="ctr">
                    <a:solidFill>
                      <a:srgbClr val="FFFFFF"/>
                    </a:solidFill>
                  </a:tcPr>
                </a:tc>
              </a:tr>
            </a:tbl>
          </a:graphicData>
        </a:graphic>
      </p:graphicFrame>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test-reports/realrobot-session_20260929.md(9/29 실기, 입력은 9/23 실기 스캔) · phase2/measurements-20260923.md(M1) · p2-weld-virtual_20260925.md(가상 박스 100×60×40 mm)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286000"/>
        </p:xfrm>
        <a:graphic>
          <a:graphicData uri="http://schemas.openxmlformats.org/drawingml/2006/table">
            <a:tbl>
              <a:tblPr firstRow="1" bandRow="1">
                <a:tableStyleId>{5C22544A-7EE6-4342-B048-85BDC9FD1C3A}</a:tableStyleId>
              </a:tblPr>
              <a:tblGrid>
                <a:gridCol w="1097280"/>
                <a:gridCol w="868680"/>
                <a:gridCol w="3520440"/>
              </a:tblGrid>
              <a:tr h="457200">
                <a:tc>
                  <a:txBody>
                    <a:bodyPr wrap="square"/>
                    <a:lstStyle/>
                    <a:p>
                      <a:r>
                        <a:rPr sz="105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완성도 /10</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이유</a:t>
                      </a:r>
                    </a:p>
                  </a:txBody>
                  <a:tcPr marL="73152" marR="73152" marT="27432" marB="27432" anchor="ctr">
                    <a:solidFill>
                      <a:srgbClr val="3378C8"/>
                    </a:solidFill>
                  </a:tcPr>
                </a:tc>
              </a:tr>
              <a:tr h="457200">
                <a:tc>
                  <a:txBody>
                    <a:bodyPr wrap="square"/>
                    <a:lstStyle/>
                    <a:p>
                      <a:r>
                        <a:rPr sz="105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50" b="0">
                          <a:solidFill>
                            <a:srgbClr val="262626"/>
                          </a:solidFill>
                          <a:latin typeface="맑은 고딕"/>
                          <a:ea typeface="맑은 고딕"/>
                        </a:rPr>
                        <a:t>8 / 10</a:t>
                      </a:r>
                    </a:p>
                  </a:txBody>
                  <a:tcPr marL="73152" marR="73152" marT="27432" marB="27432" anchor="ctr">
                    <a:solidFill>
                      <a:srgbClr val="FFFFFF"/>
                    </a:solidFill>
                  </a:tcPr>
                </a:tc>
                <a:tc>
                  <a:txBody>
                    <a:bodyPr wrap="square"/>
                    <a:lstStyle/>
                    <a:p>
                      <a:r>
                        <a:rPr sz="1050" b="0">
                          <a:solidFill>
                            <a:srgbClr val="262626"/>
                          </a:solidFill>
                          <a:latin typeface="맑은 고딕"/>
                          <a:ea typeface="맑은 고딕"/>
                        </a:rPr>
                        <a:t>먼저 계약을 확정하고 작업별로 꼼꼼하게 검증한 덕분에 최종 integration 때 시행착오가 적었다. 하지만 이해도가 뒷받침되지 못하고 꼼꼼한 검증 절차로 각 작업의 진행이 지연되었다.</a:t>
                      </a:r>
                    </a:p>
                  </a:txBody>
                  <a:tcPr marL="73152" marR="73152" marT="27432" marB="27432" anchor="ctr">
                    <a:solidFill>
                      <a:srgbClr val="FFFFFF"/>
                    </a:solidFill>
                  </a:tcPr>
                </a:tc>
              </a:tr>
              <a:tr h="457200">
                <a:tc>
                  <a:txBody>
                    <a:bodyPr wrap="square"/>
                    <a:lstStyle/>
                    <a:p>
                      <a:r>
                        <a:rPr sz="105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r>
              <a:tr h="457200">
                <a:tc>
                  <a:txBody>
                    <a:bodyPr wrap="square"/>
                    <a:lstStyle/>
                    <a:p>
                      <a:r>
                        <a:rPr sz="105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r>
              <a:tr h="457200">
                <a:tc>
                  <a:txBody>
                    <a:bodyPr wrap="square"/>
                    <a:lstStyle/>
                    <a:p>
                      <a:r>
                        <a:rPr sz="105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ea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ea typeface="맑은 고딕"/>
              </a:rPr>
              <a:t>잘한 점</a:t>
            </a:r>
          </a:p>
          <a:p>
            <a:pPr algn="l">
              <a:spcAft>
                <a:spcPts val="400"/>
              </a:spcAft>
            </a:pPr>
            <a:r>
              <a:rPr sz="1100" b="0">
                <a:solidFill>
                  <a:srgbClr val="262626"/>
                </a:solidFill>
                <a:latin typeface="맑은 고딕"/>
                <a:ea typeface="맑은 고딕"/>
              </a:rPr>
              <a:t>· 계약을 먼저 동결해 네 명이 병렬로 만들었고, 9/23 실기에서 웹 → ROS → 웹이 이어졌다</a:t>
            </a:r>
          </a:p>
          <a:p>
            <a:pPr algn="l">
              <a:spcAft>
                <a:spcPts val="800"/>
              </a:spcAft>
            </a:pPr>
            <a:r>
              <a:rPr sz="1100" b="0">
                <a:solidFill>
                  <a:srgbClr val="262626"/>
                </a:solidFill>
                <a:latin typeface="맑은 고딕"/>
                <a:ea typeface="맑은 고딕"/>
              </a:rPr>
              <a:t>· 미달 · 미실시까지 수치와 보고서로 남겼다</a:t>
            </a:r>
          </a:p>
          <a:p>
            <a:pPr algn="l">
              <a:spcAft>
                <a:spcPts val="200"/>
              </a:spcAft>
            </a:pPr>
            <a:r>
              <a:rPr sz="1250" b="1">
                <a:solidFill>
                  <a:srgbClr val="C0392B"/>
                </a:solidFill>
                <a:latin typeface="맑은 고딕"/>
                <a:ea typeface="맑은 고딕"/>
              </a:rPr>
              <a:t>아쉬운 점</a:t>
            </a:r>
          </a:p>
          <a:p>
            <a:pPr algn="l">
              <a:spcAft>
                <a:spcPts val="400"/>
              </a:spcAft>
            </a:pPr>
            <a:r>
              <a:rPr sz="1100" b="0">
                <a:solidFill>
                  <a:srgbClr val="262626"/>
                </a:solidFill>
                <a:latin typeface="맑은 고딕"/>
                <a:ea typeface="맑은 고딕"/>
              </a:rPr>
              <a:t>· 탐색 438 s(KPI 120 s) · 검출 하중 2/10 초과 · 반영 지연 312 ms · 설정 등록 버튼 미구현</a:t>
            </a:r>
          </a:p>
          <a:p>
            <a:pPr algn="l">
              <a:spcAft>
                <a:spcPts val="800"/>
              </a:spcAft>
            </a:pPr>
            <a:r>
              <a:rPr sz="1100" b="0">
                <a:solidFill>
                  <a:srgbClr val="262626"/>
                </a:solidFill>
                <a:latin typeface="맑은 고딕"/>
                <a:ea typeface="맑은 고딕"/>
              </a:rPr>
              <a:t>· 반복성 · 오검출 · 셋업 시간 KPI 와 재시작 실기 시험은 미실시</a:t>
            </a:r>
          </a:p>
          <a:p>
            <a:pPr algn="l">
              <a:spcAft>
                <a:spcPts val="200"/>
              </a:spcAft>
            </a:pPr>
            <a:r>
              <a:rPr sz="1250" b="1">
                <a:solidFill>
                  <a:srgbClr val="3378C8"/>
                </a:solidFill>
                <a:latin typeface="맑은 고딕"/>
                <a:ea typeface="맑은 고딕"/>
              </a:rPr>
              <a:t>개선점</a:t>
            </a:r>
          </a:p>
          <a:p>
            <a:pPr algn="l">
              <a:spcAft>
                <a:spcPts val="400"/>
              </a:spcAft>
            </a:pPr>
            <a:r>
              <a:rPr sz="1100" b="0">
                <a:solidFill>
                  <a:srgbClr val="262626"/>
                </a:solidFill>
                <a:latin typeface="맑은 고딕"/>
                <a:ea typeface="맑은 고딕"/>
              </a:rPr>
              <a:t>· 재접근 2 단 · 거친 스텝 1.0 mm 로 약 230 s(계산값 · 미실시)</a:t>
            </a:r>
          </a:p>
          <a:p>
            <a:pPr algn="l">
              <a:spcAft>
                <a:spcPts val="600"/>
              </a:spcAft>
            </a:pPr>
            <a:r>
              <a:rPr sz="1100" b="0">
                <a:solidFill>
                  <a:srgbClr val="262626"/>
                </a:solidFill>
                <a:latin typeface="맑은 고딕"/>
                <a:ea typeface="맑은 고딕"/>
              </a:rPr>
              <a:t>· 10 회 반복 · 20 회 오검출 시험, 진행 중 스캔에도 감시자 끊김 적용</a:t>
            </a:r>
          </a:p>
          <a:p>
            <a:pPr algn="l">
              <a:spcAft>
                <a:spcPts val="400"/>
              </a:spcAft>
            </a:pPr>
            <a:r>
              <a:rPr sz="900" b="0">
                <a:solidFill>
                  <a:srgbClr val="7F7F7F"/>
                </a:solidFill>
                <a:latin typeface="맑은 고딕"/>
                <a:ea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한 줄 (느낀 점 · 성과)</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운영</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협업</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개선</a:t>
                      </a:r>
                    </a:p>
                  </a:txBody>
                  <a:tcPr marL="73152" marR="73152" marT="27432" marB="27432" anchor="ctr">
                    <a:solidFill>
                      <a:srgbClr val="3378C8"/>
                    </a:solidFill>
                  </a:tcPr>
                </a:tc>
              </a:tr>
              <a:tr h="731520">
                <a:tc>
                  <a:txBody>
                    <a:bodyPr wrap="square"/>
                    <a:lstStyle/>
                    <a:p>
                      <a:r>
                        <a:rPr sz="100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계약을 먼저 고정하니 넷이 따로 만들어도 한 흐름으로 이어졌다. 대신 실측이 바꾼 값을 계약에 되돌리는 일이 끝까지 남았다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 동결(9/18) 뒤 변경은 PR + 변경 이력으로만 — v0.1 → v0.1.20</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MQTT 계약을 의석과 한 장으로 합의(9/18) — 목업 발행기와 브리지 시험이 같은 예시를 쓴다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감시자 끊김이면 시작 거절(04-⑧, PR #136)</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r h="731520">
                <a:tc>
                  <a:txBody>
                    <a:bodyPr wrap="square"/>
                    <a:lstStyle/>
                    <a:p>
                      <a:r>
                        <a:rPr sz="100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docs/contracts/CHANGELOG.md · docs/contracts/mqtt-schema.md 상태 줄(T01 1 차 회의 병후 · 의석) · PR #136. 병후 행은 병후 확인(9/28),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