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6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41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70" userDrawn="1">
          <p15:clr>
            <a:srgbClr val="A4A3A4"/>
          </p15:clr>
        </p15:guide>
        <p15:guide id="2" pos="325" userDrawn="1">
          <p15:clr>
            <a:srgbClr val="A4A3A4"/>
          </p15:clr>
        </p15:guide>
        <p15:guide id="3" pos="7401" userDrawn="1">
          <p15:clr>
            <a:srgbClr val="A4A3A4"/>
          </p15:clr>
        </p15:guide>
        <p15:guide id="4" pos="3840" userDrawn="1">
          <p15:clr>
            <a:srgbClr val="A4A3A4"/>
          </p15:clr>
        </p15:guide>
        <p15:guide id="5" orient="horz" pos="40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29" autoAdjust="0"/>
    <p:restoredTop sz="94660"/>
  </p:normalViewPr>
  <p:slideViewPr>
    <p:cSldViewPr showGuides="1">
      <p:cViewPr varScale="1">
        <p:scale>
          <a:sx n="114" d="100"/>
          <a:sy n="114" d="100"/>
        </p:scale>
        <p:origin x="696" y="108"/>
      </p:cViewPr>
      <p:guideLst>
        <p:guide orient="horz" pos="1570"/>
        <p:guide pos="325"/>
        <p:guide pos="7401"/>
        <p:guide pos="3840"/>
        <p:guide orient="horz" pos="40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웹이 화면에 띄우는 값은 전부 브리지가 번역해 보낸 것입니다. 그런데 계약에 새 사유 코드가 하나 늘었을 때, 그 코드가 실린 메시지가 통째로 사라지는 것을 발견했습니다.</a:t>
            </a:r>
          </a:p>
          <a:p>
            <a:r>
              <a:t>원인은 번역기가 모르는 값에서 예외를 냈고, 그 위의 보호막이 예외를 잡으면서 메시지 전체를 버린 것이었습니다. 보호막이 노드를 살리는 대신 실패를 조용하게 만든 셈입니다. 정작 알려야 할 코드일수록 웹이 못 받는 구조였습니다.</a:t>
            </a:r>
          </a:p>
          <a:p>
            <a:r>
              <a:t>고친 방법은 단순합니다. 이름을 모르면 UNKNOWN 에 숫자를 붙여 그대로 내보냅니다. 이름을 몰라도 숫자는 가니까 웹이 판단할 수 있습니다.</a:t>
            </a:r>
          </a:p>
          <a:p>
            <a:r>
              <a:t>반대 방향은 그대로 두었습니다. 웹이 보낸 모르는 명령은 짐작해서 실행하면 안 되니까요.</a:t>
            </a:r>
          </a:p>
          <a:p>
            <a:r>
              <a:t>여기서 얻은 교훈은, 예외를 잡는 자리에서는 무엇을 버리는지 반드시 남겨야 한다는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44013C-7378-DC31-F4ED-B46CA8F56A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76F071-3481-0CC2-1BB9-C4D9A74B03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B610C4-EDCA-811A-CF06-40D184F4C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FDF065-82AC-E640-093E-9FEA2942B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E5C52C-1AEA-EBB1-9B82-84E44E1FB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0776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EDB432-EAD5-0CA6-D965-3752DE0AB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25EC77-7408-6520-DCAF-3C9B1B79D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3DAE9B-E46C-F5BE-645F-D6291220A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687A4E-3016-B306-CD2F-AFDD977E9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B4D866-21EF-2E55-3B47-B360DCA52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2320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0473F-A5C5-5C8C-4FD2-D1DBD8BCA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EF7B6A-6A80-1816-89F7-DCEEC7216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356DF7-BB7A-5D84-C7A2-EA89039F2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437239-72B5-86D6-735B-8518AFB64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421596-53F4-89AF-FAB9-074AB8F95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230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A0FD40-CBE2-BC63-8E2D-B448DBB03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E86938-4402-AE48-3657-90C063A48E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CC3CA31-F616-786B-7DA2-660650A17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906531-4539-559E-95E1-731FCC357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AF6AF8E-3176-55EB-B7B1-C7C341821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228E95-121C-6FB7-E60F-817D9088A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896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8A25C6-60CB-64C6-7657-0DC50FA6B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E0342A-6E03-4A86-7563-24A881B6B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A5125C8-EF47-0BBD-133E-858DE0B30C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E31DF1A-A24A-9645-0BD2-FE2B277929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00A206-5CE6-11EE-BDA7-390D85C8DB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3A2E132-BFCA-FAF5-53F0-A1D388FA7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9464187-404B-176C-CDC6-2836B4DDD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DD2E746-A421-B21D-E16E-06D48764C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5402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748684-EA1E-6FC0-148A-F24EE687E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99319F2-5E8B-FB8E-1859-85138954C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6501846-9DA8-CC3F-B17F-9D8073F51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8BCA64-4FC8-4CF4-55BB-CF4FBB37F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2608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497D02B-85D1-121E-41B2-25E146AAC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C24959-43CE-0F3B-D945-976A7540B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0E18F8-7AE0-0A54-625B-105AC7CD3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9678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1D68DC-72E3-4FF1-D019-E81F30077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6C3084-BFA0-C0D0-5B0B-79D12AC66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0468EC-D5A6-7D0F-138F-2490D46CA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930B80-8225-BAAF-3C4A-A30DA789F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7FE4298-D6F6-5261-B063-6B445A63F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931DBFA-CEE3-843C-9743-B9DB0D616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1421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2007E0-7B9A-3FEE-94D8-8EB9D29A1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3CBC970-BA98-05D5-4501-CC3D119A59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BF5971-8BB5-D74E-D6A1-055291CB4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9E5CA-476A-B8E2-8D9F-D1705BE8C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9DDE8B-9AAF-CEEA-D986-698DF5068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BA2EBFF-5594-6173-C36D-B41307CCD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2162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224B62-1CCE-2109-890A-B8A14002B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1D3EBD-0EDF-09DA-C673-5761B13D4D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7A4A84-E915-4790-C063-9137D31C2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44CC9E-ECCD-1907-FBDB-4E99CB560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45CFEB-E7E9-1965-A08E-C58CEB0A6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9842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7F9625E-D84F-A608-2BF0-57CE6EC9F5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4E5686C-6158-23F3-8F8E-E4C40CA08B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42BFE3-F9DD-C38D-29D5-82E06B6AD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B9B458-CCEE-F954-78F1-B71BB1528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3ACFE7-3E2F-8807-4905-2E7642B0B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146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555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E8E3A2E-1BAF-46D3-7BEB-B138289565DE}"/>
              </a:ext>
            </a:extLst>
          </p:cNvPr>
          <p:cNvSpPr/>
          <p:nvPr userDrawn="1"/>
        </p:nvSpPr>
        <p:spPr>
          <a:xfrm>
            <a:off x="0" y="229568"/>
            <a:ext cx="12192000" cy="3120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73F9E-8D1A-CE6F-F02E-4A2C485B307D}"/>
              </a:ext>
            </a:extLst>
          </p:cNvPr>
          <p:cNvSpPr txBox="1"/>
          <p:nvPr userDrawn="1"/>
        </p:nvSpPr>
        <p:spPr>
          <a:xfrm>
            <a:off x="7635810" y="6601849"/>
            <a:ext cx="346392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2024</a:t>
            </a:r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년도 </a:t>
            </a:r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프로젝트평가 훈련기관 신청안내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D8DCB8-9B75-7CF9-7713-9B5345DBB23B}"/>
              </a:ext>
            </a:extLst>
          </p:cNvPr>
          <p:cNvSpPr txBox="1"/>
          <p:nvPr userDrawn="1"/>
        </p:nvSpPr>
        <p:spPr>
          <a:xfrm>
            <a:off x="9005162" y="6594154"/>
            <a:ext cx="275499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algn="r" defTabSz="914400" rtl="0" eaLnBrk="1" latinLnBrk="1" hangingPunct="1"/>
            <a:fld id="{5426B8F6-3B26-4B2F-9C3C-1E76C1EF5307}" type="slidenum">
              <a:rPr lang="ko-KR" altLang="en-US" sz="1000" kern="120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  <a:cs typeface="+mn-cs"/>
              </a:rPr>
              <a:pPr marL="0" algn="r" defTabSz="914400" rtl="0" eaLnBrk="1" latinLnBrk="1" hangingPunct="1"/>
              <a:t>‹#›</a:t>
            </a:fld>
            <a:endParaRPr lang="ko-KR" altLang="en-US" sz="1000" kern="12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18308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393">
          <p15:clr>
            <a:srgbClr val="FBAE40"/>
          </p15:clr>
        </p15:guide>
        <p15:guide id="3" pos="7287">
          <p15:clr>
            <a:srgbClr val="FBAE40"/>
          </p15:clr>
        </p15:guide>
        <p15:guide id="4" orient="horz" pos="1094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C5A77C7-A655-F1A4-880A-C617304AC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D0EEBC-2EED-2FC9-65F6-082EEBC4A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FCCA73-267C-FD7A-C97B-001EC7FC7C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B245E4-741B-46A9-94D1-0E241DD65ACD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61153F-6875-29FF-F12F-3F96ADD659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AB6F47-B663-25BC-D896-1BCD76A3E6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8378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0.png"/><Relationship Id="rId3" Type="http://schemas.openxmlformats.org/officeDocument/2006/relationships/image" Target="../media/image61.svg"/><Relationship Id="rId4" Type="http://schemas.openxmlformats.org/officeDocument/2006/relationships/image" Target="../media/image31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image" Target="../media/image53.png"/><Relationship Id="rId8" Type="http://schemas.openxmlformats.org/officeDocument/2006/relationships/image" Target="../media/image54.png"/><Relationship Id="rId9" Type="http://schemas.openxmlformats.org/officeDocument/2006/relationships/image" Target="../media/image55.png"/><Relationship Id="rId1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F4B2E62-632E-762D-16F9-2015B268C1F4}"/>
              </a:ext>
            </a:extLst>
          </p:cNvPr>
          <p:cNvGrpSpPr/>
          <p:nvPr/>
        </p:nvGrpSpPr>
        <p:grpSpPr>
          <a:xfrm>
            <a:off x="541891" y="1430219"/>
            <a:ext cx="10526159" cy="646331"/>
            <a:chOff x="541891" y="1430219"/>
            <a:chExt cx="10526159" cy="64633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b="1" spc="-100" dirty="0">
                  <a:solidFill>
                    <a:srgbClr val="1A1A1A"/>
                  </a:solidFill>
                  <a:latin typeface="+mn-ea"/>
                </a:rPr>
                <a:t>표에 없는 코드 하나에 메시지 전체가 사라지던 것을 UNKNOWN_&lt;n&gt; 으로 고쳤다</a:t>
              </a:r>
            </a:p>
            <a:p>
              <a:pPr marR="0" indent="0" fontAlgn="base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5035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문제와 해결 — 웹 · 브리지</a:t>
            </a:r>
            <a:endParaRPr lang="ko-KR" altLang="en-US" sz="1400" b="1" spc="-100" dirty="0">
              <a:solidFill>
                <a:schemeClr val="accent1"/>
              </a:solidFill>
              <a:latin typeface="+mn-ea"/>
            </a:endParaRPr>
          </a:p>
          <a:p>
            <a:pPr algn="r"/>
            <a:endParaRPr lang="ko-KR" altLang="en-US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sp>
        <p:nvSpPr>
          <p:cNvPr id="100" name="Rounded Rectangle 99"/>
          <p:cNvSpPr/>
          <p:nvPr/>
        </p:nvSpPr>
        <p:spPr>
          <a:xfrm>
            <a:off x="566928" y="2395728"/>
            <a:ext cx="2612898" cy="2724912"/>
          </a:xfrm>
          <a:prstGeom prst="roundRect">
            <a:avLst>
              <a:gd name="adj" fmla="val 45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786384" y="2578608"/>
            <a:ext cx="22471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378C8"/>
                </a:solidFill>
                <a:latin typeface="맑은 고딕"/>
              </a:rPr>
              <a:t>01  </a:t>
            </a:r>
            <a:r>
              <a:rPr sz="1700" b="1">
                <a:solidFill>
                  <a:srgbClr val="1A1A1A"/>
                </a:solidFill>
                <a:latin typeface="맑은 고딕"/>
              </a:rPr>
              <a:t>증상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86384" y="3108960"/>
            <a:ext cx="2192274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</a:pPr>
            <a:r>
              <a:rPr sz="1150" b="0">
                <a:solidFill>
                  <a:srgbClr val="1A1A1A"/>
                </a:solidFill>
                <a:latin typeface="맑은 고딕"/>
              </a:rPr>
              <a:t>· 계약에 새 사유 코드가 늘면 그 코드가 실린 MQTT 메시지가 </a:t>
            </a:r>
            <a:r>
              <a:rPr sz="1150" b="1">
                <a:solidFill>
                  <a:srgbClr val="1A1A1A"/>
                </a:solidFill>
                <a:latin typeface="맑은 고딕"/>
              </a:rPr>
              <a:t>통째로</a:t>
            </a:r>
            <a:r>
              <a:rPr sz="1150" b="0">
                <a:solidFill>
                  <a:srgbClr val="1A1A1A"/>
                </a:solidFill>
                <a:latin typeface="맑은 고딕"/>
              </a:rPr>
              <a:t> 사라진다</a:t>
            </a:r>
          </a:p>
          <a:p>
            <a:pPr>
              <a:lnSpc>
                <a:spcPct val="122000"/>
              </a:lnSpc>
              <a:spcBef>
                <a:spcPts val="500"/>
              </a:spcBef>
            </a:pPr>
            <a:r>
              <a:rPr sz="1150" b="0">
                <a:solidFill>
                  <a:srgbClr val="5A5A5A"/>
                </a:solidFill>
                <a:latin typeface="맑은 고딕"/>
              </a:rPr>
              <a:t>· 로그 한 줄이 아니라 완료 통지(scan/command_result) 전체가 안 나간다</a:t>
            </a:r>
          </a:p>
          <a:p>
            <a:pPr>
              <a:lnSpc>
                <a:spcPct val="122000"/>
              </a:lnSpc>
              <a:spcBef>
                <a:spcPts val="500"/>
              </a:spcBef>
            </a:pPr>
            <a:r>
              <a:rPr sz="1150" b="0">
                <a:solidFill>
                  <a:srgbClr val="5A5A5A"/>
                </a:solidFill>
                <a:latin typeface="맑은 고딕"/>
              </a:rPr>
              <a:t>· 화면의 중지 버튼이 끝없이 “처리 중”</a:t>
            </a:r>
          </a:p>
        </p:txBody>
      </p:sp>
      <p:sp>
        <p:nvSpPr>
          <p:cNvPr id="103" name="Isosceles Triangle 102"/>
          <p:cNvSpPr/>
          <p:nvPr/>
        </p:nvSpPr>
        <p:spPr>
          <a:xfrm rot="5400000">
            <a:off x="3220974" y="3694176"/>
            <a:ext cx="118872" cy="182880"/>
          </a:xfrm>
          <a:prstGeom prst="triangle">
            <a:avLst/>
          </a:prstGeom>
          <a:solidFill>
            <a:srgbClr val="337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3380994" y="2395728"/>
            <a:ext cx="2612898" cy="2724912"/>
          </a:xfrm>
          <a:prstGeom prst="roundRect">
            <a:avLst>
              <a:gd name="adj" fmla="val 45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TextBox 104"/>
          <p:cNvSpPr txBox="1"/>
          <p:nvPr/>
        </p:nvSpPr>
        <p:spPr>
          <a:xfrm>
            <a:off x="3600450" y="2578608"/>
            <a:ext cx="22471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378C8"/>
                </a:solidFill>
                <a:latin typeface="맑은 고딕"/>
              </a:rPr>
              <a:t>02  </a:t>
            </a:r>
            <a:r>
              <a:rPr sz="1700" b="1">
                <a:solidFill>
                  <a:srgbClr val="1A1A1A"/>
                </a:solidFill>
                <a:latin typeface="맑은 고딕"/>
              </a:rPr>
              <a:t>원인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600450" y="3108960"/>
            <a:ext cx="2192274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</a:pPr>
            <a:r>
              <a:rPr sz="1150" b="0">
                <a:solidFill>
                  <a:srgbClr val="5A5A5A"/>
                </a:solidFill>
                <a:latin typeface="맑은 고딕"/>
              </a:rPr>
              <a:t>· _enum_name 이 표에 없는 값에서 ValueError</a:t>
            </a:r>
          </a:p>
          <a:p>
            <a:pPr>
              <a:lnSpc>
                <a:spcPct val="122000"/>
              </a:lnSpc>
              <a:spcBef>
                <a:spcPts val="500"/>
              </a:spcBef>
            </a:pPr>
            <a:r>
              <a:rPr sz="1150" b="0">
                <a:solidFill>
                  <a:srgbClr val="5A5A5A"/>
                </a:solidFill>
                <a:latin typeface="맑은 고딕"/>
              </a:rPr>
              <a:t>· 구독 보호막(_safe_ros_callback)이 그 예외를 잡아 콜백 전체를 버린다</a:t>
            </a:r>
          </a:p>
          <a:p>
            <a:pPr>
              <a:lnSpc>
                <a:spcPct val="122000"/>
              </a:lnSpc>
              <a:spcBef>
                <a:spcPts val="500"/>
              </a:spcBef>
            </a:pPr>
            <a:r>
              <a:rPr sz="1150" b="0">
                <a:solidFill>
                  <a:srgbClr val="1A1A1A"/>
                </a:solidFill>
                <a:latin typeface="맑은 고딕"/>
              </a:rPr>
              <a:t>· </a:t>
            </a:r>
            <a:r>
              <a:rPr sz="1150" b="1">
                <a:solidFill>
                  <a:srgbClr val="1A1A1A"/>
                </a:solidFill>
                <a:latin typeface="맑은 고딕"/>
              </a:rPr>
              <a:t>정작 알려야 할 코드일수록 웹이 못 받는다</a:t>
            </a:r>
          </a:p>
        </p:txBody>
      </p:sp>
      <p:sp>
        <p:nvSpPr>
          <p:cNvPr id="107" name="Isosceles Triangle 106"/>
          <p:cNvSpPr/>
          <p:nvPr/>
        </p:nvSpPr>
        <p:spPr>
          <a:xfrm rot="5400000">
            <a:off x="6035040" y="3694176"/>
            <a:ext cx="118872" cy="182880"/>
          </a:xfrm>
          <a:prstGeom prst="triangle">
            <a:avLst/>
          </a:prstGeom>
          <a:solidFill>
            <a:srgbClr val="337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6195060" y="2395728"/>
            <a:ext cx="2612898" cy="2724912"/>
          </a:xfrm>
          <a:prstGeom prst="roundRect">
            <a:avLst>
              <a:gd name="adj" fmla="val 45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TextBox 108"/>
          <p:cNvSpPr txBox="1"/>
          <p:nvPr/>
        </p:nvSpPr>
        <p:spPr>
          <a:xfrm>
            <a:off x="6414516" y="2578608"/>
            <a:ext cx="22471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378C8"/>
                </a:solidFill>
                <a:latin typeface="맑은 고딕"/>
              </a:rPr>
              <a:t>03  </a:t>
            </a:r>
            <a:r>
              <a:rPr sz="1700" b="1">
                <a:solidFill>
                  <a:srgbClr val="1A1A1A"/>
                </a:solidFill>
                <a:latin typeface="맑은 고딕"/>
              </a:rPr>
              <a:t>조치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414516" y="3108960"/>
            <a:ext cx="2192274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</a:pPr>
            <a:r>
              <a:rPr sz="1150" b="0">
                <a:solidFill>
                  <a:srgbClr val="5A5A5A"/>
                </a:solidFill>
                <a:latin typeface="맑은 고딕"/>
              </a:rPr>
              <a:t>· 표에 없는 값을 “UNKNOWN_&lt;n&gt;” 으로 내보낸다</a:t>
            </a:r>
          </a:p>
          <a:p>
            <a:pPr>
              <a:lnSpc>
                <a:spcPct val="122000"/>
              </a:lnSpc>
              <a:spcBef>
                <a:spcPts val="500"/>
              </a:spcBef>
            </a:pPr>
            <a:r>
              <a:rPr sz="1150" b="0">
                <a:solidFill>
                  <a:srgbClr val="5A5A5A"/>
                </a:solidFill>
                <a:latin typeface="맑은 고딕"/>
              </a:rPr>
              <a:t>· 숫자(reason_code)는 그대로 가므로 웹이 판단할 수 있다</a:t>
            </a:r>
          </a:p>
          <a:p>
            <a:pPr>
              <a:lnSpc>
                <a:spcPct val="122000"/>
              </a:lnSpc>
              <a:spcBef>
                <a:spcPts val="500"/>
              </a:spcBef>
            </a:pPr>
            <a:r>
              <a:rPr sz="1150" b="0">
                <a:solidFill>
                  <a:srgbClr val="5A5A5A"/>
                </a:solidFill>
                <a:latin typeface="맑은 고딕"/>
              </a:rPr>
              <a:t>· 웹 → ROS 방향은 그대로 거절(INVALID_VALUE)</a:t>
            </a:r>
          </a:p>
        </p:txBody>
      </p:sp>
      <p:sp>
        <p:nvSpPr>
          <p:cNvPr id="111" name="Isosceles Triangle 110"/>
          <p:cNvSpPr/>
          <p:nvPr/>
        </p:nvSpPr>
        <p:spPr>
          <a:xfrm rot="5400000">
            <a:off x="8849106" y="3694176"/>
            <a:ext cx="118872" cy="182880"/>
          </a:xfrm>
          <a:prstGeom prst="triangle">
            <a:avLst/>
          </a:prstGeom>
          <a:solidFill>
            <a:srgbClr val="337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9009126" y="2395728"/>
            <a:ext cx="2612898" cy="2724912"/>
          </a:xfrm>
          <a:prstGeom prst="roundRect">
            <a:avLst>
              <a:gd name="adj" fmla="val 45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TextBox 112"/>
          <p:cNvSpPr txBox="1"/>
          <p:nvPr/>
        </p:nvSpPr>
        <p:spPr>
          <a:xfrm>
            <a:off x="9228582" y="2578608"/>
            <a:ext cx="22471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378C8"/>
                </a:solidFill>
                <a:latin typeface="맑은 고딕"/>
              </a:rPr>
              <a:t>04  </a:t>
            </a:r>
            <a:r>
              <a:rPr sz="1700" b="1">
                <a:solidFill>
                  <a:srgbClr val="1A1A1A"/>
                </a:solidFill>
                <a:latin typeface="맑은 고딕"/>
              </a:rPr>
              <a:t>결과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228582" y="3108960"/>
            <a:ext cx="2192274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</a:pPr>
            <a:r>
              <a:rPr sz="1150" b="0">
                <a:solidFill>
                  <a:srgbClr val="5A5A5A"/>
                </a:solidFill>
                <a:latin typeface="맑은 고딕"/>
              </a:rPr>
              <a:t>· 이름을 몰라도 소식은 끊기지 않는다</a:t>
            </a:r>
          </a:p>
          <a:p>
            <a:pPr>
              <a:lnSpc>
                <a:spcPct val="122000"/>
              </a:lnSpc>
              <a:spcBef>
                <a:spcPts val="500"/>
              </a:spcBef>
            </a:pPr>
            <a:r>
              <a:rPr sz="1150" b="0">
                <a:solidFill>
                  <a:srgbClr val="1A1A1A"/>
                </a:solidFill>
                <a:latin typeface="맑은 고딕"/>
              </a:rPr>
              <a:t>· 회귀 시험 </a:t>
            </a:r>
            <a:r>
              <a:rPr sz="1150" b="1">
                <a:solidFill>
                  <a:srgbClr val="1A1A1A"/>
                </a:solidFill>
                <a:latin typeface="맑은 고딕"/>
              </a:rPr>
              <a:t>5 개</a:t>
            </a:r>
            <a:r>
              <a:rPr sz="1150" b="0">
                <a:solidFill>
                  <a:srgbClr val="1A1A1A"/>
                </a:solidFill>
                <a:latin typeface="맑은 고딕"/>
              </a:rPr>
              <a:t> 추가 · 이름 표 </a:t>
            </a:r>
            <a:r>
              <a:rPr sz="1150" b="1">
                <a:solidFill>
                  <a:srgbClr val="1A1A1A"/>
                </a:solidFill>
                <a:latin typeface="맑은 고딕"/>
              </a:rPr>
              <a:t>7 개</a:t>
            </a:r>
            <a:r>
              <a:rPr sz="1150" b="0">
                <a:solidFill>
                  <a:srgbClr val="1A1A1A"/>
                </a:solidFill>
                <a:latin typeface="맑은 고딕"/>
              </a:rPr>
              <a:t> 전부 적용</a:t>
            </a:r>
          </a:p>
          <a:p>
            <a:pPr>
              <a:lnSpc>
                <a:spcPct val="122000"/>
              </a:lnSpc>
              <a:spcBef>
                <a:spcPts val="500"/>
              </a:spcBef>
            </a:pPr>
            <a:r>
              <a:rPr sz="1150" b="0">
                <a:solidFill>
                  <a:srgbClr val="1A1A1A"/>
                </a:solidFill>
                <a:latin typeface="맑은 고딕"/>
              </a:rPr>
              <a:t>· 막혀 있던 후속 PR </a:t>
            </a:r>
            <a:r>
              <a:rPr sz="1150" b="1">
                <a:solidFill>
                  <a:srgbClr val="1A1A1A"/>
                </a:solidFill>
                <a:latin typeface="맑은 고딕"/>
              </a:rPr>
              <a:t>2 건</a:t>
            </a:r>
            <a:r>
              <a:rPr sz="1150" b="0">
                <a:solidFill>
                  <a:srgbClr val="1A1A1A"/>
                </a:solidFill>
                <a:latin typeface="맑은 고딕"/>
              </a:rPr>
              <a:t>(#191 · #197) 해제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840480" y="5230368"/>
            <a:ext cx="7772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50" b="1">
                <a:solidFill>
                  <a:srgbClr val="3378C8"/>
                </a:solidFill>
                <a:latin typeface="맑은 고딕"/>
              </a:rPr>
              <a:t>교훈 — 예외를 잡는 보호막이 있으면 실패가 조용해진다. 버리기 전에 무엇을 버리는지 남긴다.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66928" y="5248656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A5A5A"/>
                </a:solidFill>
                <a:latin typeface="맑은 고딕"/>
              </a:rPr>
              <a:t>PR #200</a:t>
            </a:r>
          </a:p>
        </p:txBody>
      </p:sp>
    </p:spTree>
    <p:extLst>
      <p:ext uri="{BB962C8B-B14F-4D97-AF65-F5344CB8AC3E}">
        <p14:creationId xmlns:p14="http://schemas.microsoft.com/office/powerpoint/2010/main" val="2914320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706</Words>
  <Application>Microsoft Office PowerPoint</Application>
  <PresentationFormat>와이드스크린</PresentationFormat>
  <Paragraphs>168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2" baseType="lpstr">
      <vt:lpstr>Pretendard SemiBold</vt:lpstr>
      <vt:lpstr>굴림체</vt:lpstr>
      <vt:lpstr>맑은 고딕</vt:lpstr>
      <vt:lpstr>맑은 고딕 Semilight</vt:lpstr>
      <vt:lpstr>세방고딕 Bold</vt:lpstr>
      <vt:lpstr>세방고딕 Regular</vt:lpstr>
      <vt:lpstr>휴먼둥근헤드라인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김준영</dc:creator>
  <cp:lastModifiedBy>User</cp:lastModifiedBy>
  <cp:revision>24</cp:revision>
  <dcterms:created xsi:type="dcterms:W3CDTF">2023-12-20T03:00:25Z</dcterms:created>
  <dcterms:modified xsi:type="dcterms:W3CDTF">2025-05-13T06:58:10Z</dcterms:modified>
</cp:coreProperties>
</file>