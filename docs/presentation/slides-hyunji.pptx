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6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41" r:id="rId3"/>
    <p:sldId id="342" r:id="rId18"/>
    <p:sldId id="343" r:id="rId19"/>
    <p:sldId id="344" r:id="rId20"/>
    <p:sldId id="345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29" autoAdjust="0"/>
    <p:restoredTop sz="94660"/>
  </p:normalViewPr>
  <p:slideViewPr>
    <p:cSldViewPr showGuides="1">
      <p:cViewPr varScale="1">
        <p:scale>
          <a:sx n="114" d="100"/>
          <a:sy n="114" d="100"/>
        </p:scale>
        <p:origin x="696" y="108"/>
      </p:cViewPr>
      <p:guideLst>
        <p:guide orient="horz" pos="1570"/>
        <p:guide pos="325"/>
        <p:guide pos="7401"/>
        <p:guide pos="384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접촉 판정은 contact_detector 가 합니다. M0609 는 힘 센서가 없고, get_tool_force 는 관절 전류로 추정한 모델 값입니다. 그래서 판정 · 2 차 감시 · 정지가 모두 메인 PC 안에서, 웹을 거치지 않고 끝나게 했습니다.</a:t>
            </a:r>
          </a:p>
          <a:p>
            <a:r>
              <a:t>CONTACT 는 처음에 정지 상태에서 잡은 기준값을 썼는데, 9/21 실기에서 윗면 38 · 44 · 78 mm 위 공중에서 거짓 접촉이 났습니다. 추정값의 치우침이 이동 방향과 자세를 따라 흐르기 때문입니다. 기준을 최근 이동 구간 평균으로 바꾼 뒤 같은 날 6 회 하강에서 거짓 접촉은 0 회였습니다.</a:t>
            </a:r>
          </a:p>
          <a:p>
            <a:r>
              <a:t>EDGE 는 움직이는 중에는 힘을 믿을 수 없어서, 한 스텝 가고 멈춘 뒤 힘을 읽는 스텝 모드로 바꿨고 9/22 에 네 방향을 다 잡았습니다. 대가는 시간인데, 뒤의 KPI 장에서 말씀드리겠습니다.</a:t>
            </a:r>
          </a:p>
          <a:p>
            <a:r>
              <a:t>(출처: docs/phase1/detection-safety-geometry.md 3 · 5.1 · 5.2 절, PR #127 · #160)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장은 이상이 났을 때의 흐름입니다. safety_monitor 가 과대 외력 · 샘플 끊김 · 하강 제한을 확정하면 웹을 거치지 않고 /robot/stop 을 부르고, 로봇 상태로 정지 완료까지 확인합니다. 래치는 조건이 사라져도 저절로 풀리지 않고, 관제자가 원인을 보고 해제한 뒤 안전복귀와 새 START 로 이어갑니다.</a:t>
            </a:r>
          </a:p>
          <a:p>
            <a:r>
              <a:t>실제로 9/22 에는 샘플 공백 때문에 goal 의 약 40 % 가 멈췄고, 한계를 500 ms 로 임시 조정하면서 되돌릴 조건을 같이 적었습니다. 시연 중 멈췄을 때 사람이 할 일도 표로 만들었습니다.</a:t>
            </a:r>
          </a:p>
          <a:p>
            <a:r>
              <a:t>오른쪽은 감시자 자신이 죽은 경우입니다. 9/21 에 safety_monitor 가 두 번 죽는 동안 하강과 밀기 7 회가 2 차 감시 없이 돌았고, 지금은 감시자가 끊기면 스캔 시작 자체를 막습니다.</a:t>
            </a:r>
          </a:p>
          <a:p>
            <a:r>
              <a:t>(이 장은 목차에서 [뺄 수 있음]. 출처: 파트 문서 5.4 · 5.5 절, daily 20260923 §7)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KPI 표입니다. 미달을 숨기지 않고 그대로 적었습니다.</a:t>
            </a:r>
          </a:p>
          <a:p>
            <a:r>
              <a:t>치수 정확도는 9/23 실기에서 캘리퍼 대비 가로 +1.50, 세로 −0.36, 높이 +0.26 mm 로 ±3 mm 안입니다. 다만 한 번 잰 값이고 10 회 반복성은 아직 못 했습니다.</a:t>
            </a:r>
          </a:p>
          <a:p>
            <a:r>
              <a:t>검출 하중은 평균 4.49 N 이라 평균으로는 통과지만, 10 회 중 2 회가 5 N 을 넘어 회차 기준으로 미달로 적었습니다. 임계를 2 N 으로 내리면 0/7 이지만 공중 거짓 접촉 문제와 같이 풀어야 합니다.</a:t>
            </a:r>
          </a:p>
          <a:p>
            <a:r>
              <a:t>중지 반응은 sim 에서만 쟀고, 반영 지연은 최대 312 ms 로 미달입니다. 탐색 시간은 438 s 로 목표의 3.7 배입니다. 실기 연속 성공 횟수는 기록이 없어 미확인으로 두었습니다.</a:t>
            </a:r>
          </a:p>
          <a:p>
            <a:r>
              <a:t>(출처: TR-01_20260923(PR #181) · TR-05_20260922 · #180 · PR #179. 확인 필요: 연속 성공 회차 기록이 있으면 병후에게)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왜 미달이 났는지 순서대로 말씀드리겠습니다. 처음에는 KPI 를 한 번 성공하는 것으로 읽었고, 회차 기준과 시간 기준을 늦게 챙겼습니다. 9/21 에 움직이는 중의 힘으로는 모서리를 한 번도 못 잡아서, 멈춰서 힘을 읽는 스텝 모드로 바꾸며 정확도를 먼저 잡았습니다. 그 결과 치수는 목표 안에 들어왔지만 탐색 시간은 438 s 가 되었고, 위 그래프처럼 그중 76 % 가 스텝 긁기입니다.</a:t>
            </a:r>
          </a:p>
          <a:p>
            <a:r>
              <a:t>아래 그래프는 검출 하중입니다. 빨간 막대 두 개가 5 N 을 넘은 회차이고, 이것 때문에 평균이 통과여도 미달로 적었습니다. 오른쪽은 임계 2 N 의 결과입니다.</a:t>
            </a:r>
          </a:p>
          <a:p>
            <a:r>
              <a:t>개선안은 스텝 크기와 속도를 조정해 긁는 시간을 줄이는 것, 임계를 내리되 공중 거짓 접촉을 같이 고치는 것, 반영 지연을 토픽별로 다시 재는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제가 고친 문제 하나입니다. 9/21 아침 sim 종단에서 스캔 시작이 안전 래치로 거절됐습니다. 로봇은 서 있었는데 safety_monitor 가 샘플이 508 ms 끊겼다며 래치를 걸었습니다.</a:t>
            </a:r>
          </a:p>
          <a:p>
            <a:r>
              <a:t>원인은 노드 다섯 개가 동시에 뜨면서 샘플이 잠깐 끊긴 것과, robot_manager 가 위치를 모르면 움직이는 중으로 보고하는 규칙이 겹친 것이었습니다. 둘 다 각자는 옳은 보수적 기본값입니다.</a:t>
            </a:r>
          </a:p>
          <a:p>
            <a:r>
              <a:t>그래서 기동 뒤 3 초 동안은 샘플 최신성으로는 멈추지 않게 했고, 과대 외력과 하강 제한은 유예하지 않도록 시험으로 고정했습니다. 고친 뒤에는 기동 직후 래치가 걸리지 않습니다.</a:t>
            </a:r>
          </a:p>
          <a:p>
            <a:r>
              <a:t>(출처: PR #99, 파트 문서 5.3 절. 그림은 개념도 — 공백의 시작 시각은 기록이 없다)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E8E3A2E-1BAF-46D3-7BEB-B138289565DE}"/>
              </a:ext>
            </a:extLst>
          </p:cNvPr>
          <p:cNvSpPr/>
          <p:nvPr userDrawn="1"/>
        </p:nvSpPr>
        <p:spPr>
          <a:xfrm>
            <a:off x="0" y="229568"/>
            <a:ext cx="12192000" cy="3120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3F9E-8D1A-CE6F-F02E-4A2C485B307D}"/>
              </a:ext>
            </a:extLst>
          </p:cNvPr>
          <p:cNvSpPr txBox="1"/>
          <p:nvPr userDrawn="1"/>
        </p:nvSpPr>
        <p:spPr>
          <a:xfrm>
            <a:off x="7635810" y="6601849"/>
            <a:ext cx="346392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ko-KR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2024</a:t>
            </a:r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년도 </a:t>
            </a:r>
            <a:r>
              <a:rPr lang="ko-KR" altLang="en-US" sz="1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프로젝트평가 훈련기관 신청안내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8DCB8-9B75-7CF9-7713-9B5345DBB23B}"/>
              </a:ext>
            </a:extLst>
          </p:cNvPr>
          <p:cNvSpPr txBox="1"/>
          <p:nvPr userDrawn="1"/>
        </p:nvSpPr>
        <p:spPr>
          <a:xfrm>
            <a:off x="9005162" y="6594154"/>
            <a:ext cx="275499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r" defTabSz="914400" rtl="0" eaLnBrk="1" latinLnBrk="1" hangingPunct="1"/>
            <a:fld id="{5426B8F6-3B26-4B2F-9C3C-1E76C1EF5307}" type="slidenum">
              <a:rPr lang="ko-KR" altLang="en-US" sz="1000" kern="12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pPr marL="0" algn="r" defTabSz="914400" rtl="0" eaLnBrk="1" latinLnBrk="1" hangingPunct="1"/>
              <a:t>‹#›</a:t>
            </a:fld>
            <a:endParaRPr lang="ko-KR" altLang="en-US" sz="1000" kern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1830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393">
          <p15:clr>
            <a:srgbClr val="FBAE40"/>
          </p15:clr>
        </p15:guide>
        <p15:guide id="3" pos="7287">
          <p15:clr>
            <a:srgbClr val="FBAE40"/>
          </p15:clr>
        </p15:guide>
        <p15:guide id="4" orient="horz" pos="1094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2025-05-13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61.svg"/><Relationship Id="rId4" Type="http://schemas.openxmlformats.org/officeDocument/2006/relationships/image" Target="../media/image31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1.png"/><Relationship Id="rId11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61.svg"/><Relationship Id="rId4" Type="http://schemas.openxmlformats.org/officeDocument/2006/relationships/image" Target="../media/image31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2.png"/><Relationship Id="rId11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61.svg"/><Relationship Id="rId4" Type="http://schemas.openxmlformats.org/officeDocument/2006/relationships/image" Target="../media/image31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61.svg"/><Relationship Id="rId4" Type="http://schemas.openxmlformats.org/officeDocument/2006/relationships/image" Target="../media/image31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61.svg"/><Relationship Id="rId4" Type="http://schemas.openxmlformats.org/officeDocument/2006/relationships/image" Target="../media/image31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8.png"/><Relationship Id="rId11" Type="http://schemas.openxmlformats.org/officeDocument/2006/relationships/notesSlide" Target="../notesSlides/notesSlide5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③ 접촉 판정 — 힘 센서 없이, 로봇이 추정한 외력으로 "닿음"과 "모서리"를 가린다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04-③ 접촉 판정 · 안전 감시 (1/2)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pic>
        <p:nvPicPr>
          <p:cNvPr id="100" name="Picture 99" descr="detect-dataflo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240280"/>
            <a:ext cx="11274552" cy="2146155"/>
          </a:xfrm>
          <a:prstGeom prst="rect">
            <a:avLst/>
          </a:prstGeom>
        </p:spPr>
      </p:pic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4526280"/>
          <a:ext cx="11274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4480560"/>
                <a:gridCol w="555955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조건 (실기 기준)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왜 이렇게 바꿨나 (실측)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CONTACT
(윗면)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하강 중 |F − F₀| &gt; 3 N 이 연속 3 회.
F₀ = 최근 [t−1.0, t−0.3] s 의 이동 중 평균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정지 때 잡은 F₀ 로는 윗면 38 · 44 · 78 mm 위 공중에서 거짓 접촉 → 이동 기준으로 바꾼 뒤 6 회 0 회 (9/21 실기)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EDGE
(모서리)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robot_manager 스텝 모드: 한 스텝 가고 멈춘 뒤 힘을 읽어 소실을 확정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움직이는 중 z 추세선으로는 밀기 4 회 중 0 회 (9/21) → 멈춘 뒤 평균으로 바꿔 9/22 네 방향 성공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OVER_FORCE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원시 |F| &gt; 30 N 한 번이면 확정. 1 차 contact_detector + 2 차 safety_monitor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두 겹 감시. 30 N 은 BRD 설계 출발값(실측 아님)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6245352"/>
            <a:ext cx="11274552" cy="365760"/>
          </a:xfrm>
          <a:prstGeom prst="rect">
            <a:avLst/>
          </a:prstGeom>
          <a:noFill/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한 줄 요약: 힘 추정값은 "그 모션 · 그 자세 근처"에서만 기준이 된다. 판정 좌표는 조건이 처음 성립한 샘플이다.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③ 안전 감시 — 이상이 나면 메인 PC 안에서 멈추고, 래치는 사람이 보고 푼다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04-③ 접촉 판정 · 안전 감시 (2/2)  [뺄 수 있음]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pic>
        <p:nvPicPr>
          <p:cNvPr id="100" name="Picture 99" descr="safety-recover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286000"/>
            <a:ext cx="11274552" cy="138863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457200" y="3886200"/>
            <a:ext cx="5532120" cy="26517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378C8"/>
                </a:solidFill>
                <a:latin typeface="맑은 고딕"/>
              </a:rPr>
              <a:t>실기에서 실제로 일어난 것 → 조치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· 9/22 샘플 공백(약 3 s 마다 316~365 ms)으로 goal 의 약 40 % 가 SAMPLE_STALE 정지 → real 한계 300 → 500 ms 예외 조정(PR #168). 원인이 풀리면 되돌린다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· 시연 중 멈춤 대응표(PR #173): 래치 · 사유 확인 → /safety/reset → 안전복귀 → 새 START. 2 회 연속이면 sim 백업 영상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· 기동 직후 거짓 래치 → 기동 유예 3 s(PR #99, 04-⑧)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9632" y="3886200"/>
            <a:ext cx="5532120" cy="26517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맑은 고딕"/>
              </a:rPr>
              <a:t>감시자도 죽는다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· 9/21 실기 중 safety_monitor 가 두 번 죽었고, 그동안 하강 5 회 · 밀기 2 회가 2 차 감시 없이 돌았다(#103)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· 원인: 같은 줄에서 로거 등급을 바꿔 불러 타이머 콜백에서 예외 → 다른 줄로 분리(PR #117, 병후 발견)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· 대책: /safety/status 가 끊기면 scan_manager 가 START 를 거절(PR #136) — 감시자의 생존도 누군가 본다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⑥ 실기 결과 · KPI — 치수 정확도는 달성, 탐색 시간 · 검출 하중 · 반영 지연은 미달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04-⑥ 실기 결과 · KPI (1/2)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aphicFrame>
        <p:nvGraphicFramePr>
          <p:cNvPr id="100" name="Table 99"/>
          <p:cNvGraphicFramePr>
            <a:graphicFrameLocks noGrp="1"/>
          </p:cNvGraphicFramePr>
          <p:nvPr/>
        </p:nvGraphicFramePr>
        <p:xfrm>
          <a:off x="457200" y="2212848"/>
          <a:ext cx="11274551" cy="4325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97280"/>
                <a:gridCol w="4069080"/>
                <a:gridCol w="822960"/>
                <a:gridCol w="2011680"/>
                <a:gridCol w="1856231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KPI (BRD 9 장)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실측값 (날짜 · 조건 · 출처)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미달 원인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개선안</a:t>
                      </a:r>
                    </a:p>
                  </a:txBody>
                  <a:tcPr marL="45720" marR="45720" marT="22860" marB="22860" anchor="ctr">
                    <a:solidFill>
                      <a:srgbClr val="3378C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모서리 좌표(치수) 오차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±3 mm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가로 +1.50 · 세로 −0.36 mm — 9/23 실기 1 회, 캘리퍼 대비(scan …3702, #180)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3378C8"/>
                          </a:solidFill>
                          <a:latin typeface="맑은 고딕"/>
                        </a:rPr>
                        <a:t>달성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10 회 반복(TR-02)으로 재확인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윗면 높이 오차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±3 mm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높이 +0.26 mm — 같은 scan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3378C8"/>
                          </a:solidFill>
                          <a:latin typeface="맑은 고딕"/>
                        </a:rPr>
                        <a:t>달성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같음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접촉 검출 하중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5 N 이하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임계 3 N: 평균 4.49 N, 10 회 중 2 회 초과(5.15 · 5.29)
임계 2 N: 평균 2.76 N, 0/7 — 9/23 실기(TR-01, PR #181)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0392B"/>
                          </a:solidFill>
                          <a:latin typeface="맑은 고딕"/>
                        </a:rPr>
                        <a:t>미달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회차 기준 2/10 초과. 평균만 보면 통과처럼 보인다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임계 2 N 검토 — 공중 거짓 접촉(#182)과 같이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작업 중지 반응 시간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1 s 이내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706 · 600 ms — 9/22 sim, 클릭 → STOPPED 수신(TR-05)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3378C8"/>
                          </a:solidFill>
                          <a:latin typeface="맑은 고딕"/>
                        </a:rPr>
                        <a:t>달성 (sim)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실기 측정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관제 화면 반영 지연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200 ms 이내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최대 312 ms — 9/22(TR-05)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0392B"/>
                          </a:solidFill>
                          <a:latin typeface="맑은 고딕"/>
                        </a:rPr>
                        <a:t>미달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최대값을 만든 토픽을 못 가렸다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토픽별 지연 기록 재시험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전체 탐색 시간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120 s 이내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438 s — 9/23 실기, 스텝 긁기 331 s · 재접근 내림 100 s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0392B"/>
                          </a:solidFill>
                          <a:latin typeface="맑은 고딕"/>
                        </a:rPr>
                        <a:t>미달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정확도를 위해 멈춰서 읽는 스텝 모드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스텝 크기 · 속도 조정(#180)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실기 연속 성공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(목차 항목)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웹 START → 형상 → 웹 표시 종단 성공 — 9/23(PR #179). 연속 회차 기록은 없다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7F7F7F"/>
                          </a:solidFill>
                          <a:latin typeface="맑은 고딕"/>
                        </a:rPr>
                        <a:t>미확인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리허설에서 연속 회차 기록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반복성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10 회 σ 0.3 mm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미실시 (같은 점 10 회 z 산포 0.040 mm 는 다른 양)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7F7F7F"/>
                          </a:solidFill>
                          <a:latin typeface="맑은 고딕"/>
                        </a:rPr>
                        <a:t>미실시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TR-02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접촉 오검출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20 회 중 1 회 이하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미실시 (참고: 9/23 하강 공중 거짓 접촉 3/10, #182)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7F7F7F"/>
                          </a:solidFill>
                          <a:latin typeface="맑은 고딕"/>
                        </a:rPr>
                        <a:t>미실시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#182 수정 뒤 20 회</a:t>
                      </a:r>
                    </a:p>
                  </a:txBody>
                  <a:tcPr marL="45720" marR="45720" marT="22860" marB="2286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62626"/>
                          </a:solidFill>
                          <a:latin typeface="맑은 고딕"/>
                        </a:rPr>
                        <a:t>품종 교체 셋업 시간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3 분 이내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미실시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7F7F7F"/>
                          </a:solidFill>
                          <a:latin typeface="맑은 고딕"/>
                        </a:rPr>
                        <a:t>미실시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62626"/>
                          </a:solidFill>
                          <a:latin typeface="맑은 고딕"/>
                        </a:rPr>
                        <a:t>TR-04</a:t>
                      </a:r>
                    </a:p>
                  </a:txBody>
                  <a:tcPr marL="45720" marR="45720" marT="22860" marB="22860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⑥ 미달을 어떻게 읽나 — 정확도를 먼저 잡고, 시간을 내줬다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04-⑥ 실기 결과 · KPI (2/2)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pic>
        <p:nvPicPr>
          <p:cNvPr id="100" name="Picture 99" descr="kpi-scan-ti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212848"/>
            <a:ext cx="6583680" cy="1426464"/>
          </a:xfrm>
          <a:prstGeom prst="rect">
            <a:avLst/>
          </a:prstGeom>
        </p:spPr>
      </p:pic>
      <p:pic>
        <p:nvPicPr>
          <p:cNvPr id="101" name="Picture 100" descr="kpi-detect-loa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730752"/>
            <a:ext cx="6583680" cy="2523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223760" y="2212848"/>
            <a:ext cx="4507992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① 처음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KPI 를 "한 번 성공하면 된다"로 읽었다. 회차 기준 · 시간 기준을 늦게 챙겼다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0" y="3099815"/>
            <a:ext cx="4507992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② 판단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9/21 움직이는 중의 힘으로는 모서리 0/4 → 멈춰서 읽는 스텝 모드로 정확도 우선(9/22)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223760" y="3986783"/>
            <a:ext cx="4507992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③ 결과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치수 ±3 mm 달성. 대신 탐색 438 s — 시간의 76 % 가 스텝 긁기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23760" y="4873751"/>
            <a:ext cx="4507992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④ 정직하게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검출 하중 평균 4.49 N 은 통과처럼 보이지만 회차 2/10 초과 → 미달로 적었다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5760719"/>
            <a:ext cx="4507992" cy="82296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⑤ 개선안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스텝 크기 · 속도 조정으로 긁기 시간 줄이기(#180) · 임계 2 N + 공중 거짓 접촉 수정(#182) · 반영 지연 토픽별 재시험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646331"/>
            <a:chOff x="541891" y="1430219"/>
            <a:chExt cx="10526159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spc="-100" dirty="0"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⑧ 기동 직후의 거짓 래치를 "기동 유예 3 s"로 없앴다 — 과대 외력은 유예하지 않는다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04-⑧ 문제와 해결 (현지)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457200" y="2212848"/>
            <a:ext cx="2750058" cy="178308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맑은 고딕"/>
              </a:rPr>
              <a:t>1. 증상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9/21 아침 sim 종단: /scan/run 이 SAFETY_LATCHED(103) 로 거절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로그 "SAMPLE_STALE: 508 ms 동안 수신 없음"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로봇은 서 있었다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98698" y="2212848"/>
            <a:ext cx="2750058" cy="178308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378C8"/>
                </a:solidFill>
                <a:latin typeface="맑은 고딕"/>
              </a:rPr>
              <a:t>2. 원인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노드 5 개가 동시에 뜨며 샘플이 508 ms 끊김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robot_manager 는 "위치를 모르면 이동 중"(PR #72)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→ "움직이는 중 끊김 = 정지" 규칙과 겹침. 각자 옳은 기본값 두 개의 충돌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40196" y="2212848"/>
            <a:ext cx="2750058" cy="178308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378C8"/>
                </a:solidFill>
                <a:latin typeface="맑은 고딕"/>
              </a:rPr>
              <a:t>3. 조치 (PR #99)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startup_grace_s 3.0 s 동안 최신성으로는 정지 · 래치하지 않는다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과대 외력 · 하강 제한은 유예 없이 즉시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시험으로 고정(유예 시험 2 개 추가)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1694" y="2212848"/>
            <a:ext cx="2750058" cy="1783080"/>
          </a:xfrm>
          <a:prstGeom prst="rect">
            <a:avLst/>
          </a:prstGeom>
          <a:solidFill>
            <a:srgbClr val="F2F5FA"/>
          </a:solidFill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378C8"/>
                </a:solidFill>
                <a:latin typeface="맑은 고딕"/>
              </a:rPr>
              <a:t>4. 결과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고치기 전: level 2 · latched · 403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고친 뒤: level 0 · latched false (Virtual + sim 재현)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· safety_monitor 시험 52 개 통과</a:t>
            </a:r>
          </a:p>
        </p:txBody>
      </p:sp>
      <p:pic>
        <p:nvPicPr>
          <p:cNvPr id="104" name="Picture 103" descr="problem-startup-latc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7280" y="4114800"/>
            <a:ext cx="5860473" cy="214884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457200" y="6309360"/>
            <a:ext cx="11274552" cy="347472"/>
          </a:xfrm>
          <a:prstGeom prst="rect">
            <a:avLst/>
          </a:prstGeom>
          <a:noFill/>
        </p:spPr>
        <p:txBody>
          <a:bodyPr wrap="square" anchor="t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78C8"/>
                </a:solidFill>
                <a:latin typeface="맑은 고딕"/>
              </a:rPr>
              <a:t>교훈: 노드마다 옳은 보수적 기본값도 겹치면 오탐이 된다 — 노드 사이의 기본값은 같이 본다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706</Words>
  <Application>Microsoft Office PowerPoint</Application>
  <PresentationFormat>와이드스크린</PresentationFormat>
  <Paragraphs>168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Pretendard SemiBold</vt:lpstr>
      <vt:lpstr>굴림체</vt:lpstr>
      <vt:lpstr>맑은 고딕</vt:lpstr>
      <vt:lpstr>맑은 고딕 Semilight</vt:lpstr>
      <vt:lpstr>세방고딕 Bold</vt:lpstr>
      <vt:lpstr>세방고딕 Regular</vt:lpstr>
      <vt:lpstr>휴먼둥근헤드라인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User</cp:lastModifiedBy>
  <cp:revision>24</cp:revision>
  <dcterms:created xsi:type="dcterms:W3CDTF">2023-12-20T03:00:25Z</dcterms:created>
  <dcterms:modified xsi:type="dcterms:W3CDTF">2025-05-13T06:58:10Z</dcterms:modified>
</cp:coreProperties>
</file>