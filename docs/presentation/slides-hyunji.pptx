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61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341" r:id="rId3"/>
    <p:sldId id="342" r:id="rId18"/>
    <p:sldId id="343" r:id="rId19"/>
    <p:sldId id="344" r:id="rId20"/>
    <p:sldId id="345" r:id="rId2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570" userDrawn="1">
          <p15:clr>
            <a:srgbClr val="A4A3A4"/>
          </p15:clr>
        </p15:guide>
        <p15:guide id="2" pos="325" userDrawn="1">
          <p15:clr>
            <a:srgbClr val="A4A3A4"/>
          </p15:clr>
        </p15:guide>
        <p15:guide id="3" pos="7401" userDrawn="1">
          <p15:clr>
            <a:srgbClr val="A4A3A4"/>
          </p15:clr>
        </p15:guide>
        <p15:guide id="4" pos="3840" userDrawn="1">
          <p15:clr>
            <a:srgbClr val="A4A3A4"/>
          </p15:clr>
        </p15:guide>
        <p15:guide id="5" orient="horz" pos="40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129" autoAdjust="0"/>
    <p:restoredTop sz="94660"/>
  </p:normalViewPr>
  <p:slideViewPr>
    <p:cSldViewPr showGuides="1">
      <p:cViewPr varScale="1">
        <p:scale>
          <a:sx n="114" d="100"/>
          <a:sy n="114" d="100"/>
        </p:scale>
        <p:origin x="696" y="108"/>
      </p:cViewPr>
      <p:guideLst>
        <p:guide orient="horz" pos="1570"/>
        <p:guide pos="325"/>
        <p:guide pos="7401"/>
        <p:guide pos="3840"/>
        <p:guide orient="horz" pos="40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36004" cy="36004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slide" Target="slides/slide1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접촉 판정은 contact_detector 가 합니다. M0609 는 힘 센서가 없고, get_tool_force 는 관절 전류로 추정한 모델 값입니다. 그래서 판정 · 2 차 감시 · 정지가 모두 메인 PC 안에서, 웹을 거치지 않고 끝나게 했습니다.</a:t>
            </a:r>
          </a:p>
          <a:p>
            <a:r>
              <a:t>CONTACT 는 처음에 정지 상태에서 잡은 기준값을 썼는데, 9/21 실기에서 윗면 38 · 44 · 78 mm 위 공중에서 거짓 접촉이 났습니다. 추정값의 치우침이 이동 방향과 자세를 따라 흐르기 때문입니다. 기준을 최근 이동 구간 평균으로 바꾼 뒤 같은 날 6 회 하강에서 거짓 접촉은 0 회였습니다.</a:t>
            </a:r>
          </a:p>
          <a:p>
            <a:r>
              <a:t>EDGE 는 움직이는 중에는 힘을 믿을 수 없어서, 한 스텝 가고 멈춘 뒤 힘을 읽는 스텝 모드로 바꿨고 9/22 에 네 방향을 다 잡았습니다. 대가는 시간인데, 뒤의 KPI 장에서 말씀드리겠습니다.</a:t>
            </a:r>
          </a:p>
          <a:p>
            <a:r>
              <a:t>(출처: docs/phase1/detection-safety-geometry.md 3 · 5.1 · 5.2 절, PR #127 · #160)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두 번째 장은 이상이 났을 때의 흐름입니다. safety_monitor 가 과대 외력 · 샘플 끊김 · 하강 제한을 확정하면 웹을 거치지 않고 /robot/stop 을 부르고, 로봇 상태로 정지 완료까지 확인합니다. 래치는 조건이 사라져도 저절로 풀리지 않고, 관제자가 원인을 보고 해제한 뒤 안전복귀와 새 START 로 이어갑니다.</a:t>
            </a:r>
          </a:p>
          <a:p>
            <a:r>
              <a:t>실제로 9/22 에는 샘플 공백 때문에 goal 의 약 40 % 가 멈췄고, 한계를 500 ms 로 임시 조정하면서 되돌릴 조건을 같이 적었습니다. 시연 중 멈췄을 때 사람이 할 일도 표로 만들었습니다.</a:t>
            </a:r>
          </a:p>
          <a:p>
            <a:r>
              <a:t>오른쪽은 감시자 자신이 죽은 경우입니다. 9/21 에 safety_monitor 가 두 번 죽는 동안 하강과 밀기 7 회가 2 차 감시 없이 돌았고, 지금은 감시자가 끊기면 스캔 시작 자체를 막습니다.</a:t>
            </a:r>
          </a:p>
          <a:p>
            <a:r>
              <a:t>(이 장은 목차에서 [뺄 수 있음]. 출처: 파트 문서 5.4 · 5.5 절, daily 20260923 §7)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KPI 표입니다. 미달을 숨기지 않고 그대로 적었습니다.</a:t>
            </a:r>
          </a:p>
          <a:p>
            <a:r>
              <a:t>치수 정확도는 9/23 실기에서 캘리퍼 대비 가로 +1.50, 세로 −0.36, 높이 +0.26 mm 로 ±3 mm 안입니다. 다만 한 번 잰 값이고 10 회 반복성은 아직 못 했습니다.</a:t>
            </a:r>
          </a:p>
          <a:p>
            <a:r>
              <a:t>검출 하중은 평균 4.49 N 이라 평균으로는 통과지만, 10 회 중 2 회가 5 N 을 넘어 회차 기준으로 미달로 적었습니다. 임계를 2 N 으로 내리면 0/7 이지만 공중 거짓 접촉 문제와 같이 풀어야 합니다.</a:t>
            </a:r>
          </a:p>
          <a:p>
            <a:r>
              <a:t>중지 반응은 sim 에서만 쟀고, 반영 지연은 최대 312 ms 로 미달입니다. 탐색 시간은 438 s 로 목표의 3.6 배인데, 힘 제어로 연속해서 미는 방식이 실기에서 실패해 멈춰서 힘을 읽는 스텝 모드로 바꾼 대가입니다. 120 s 는 연속 밀기를 전제로 잡은 숫자였습니다. 실기 연속 성공 횟수는 기록이 없어 미확인으로 두었습니다.</a:t>
            </a:r>
          </a:p>
          <a:p>
            <a:r>
              <a:t>(출처: TR-01_20260923(PR #181) · TR-05_20260922 · #180 학민 정정(9/23) · 병후 정리(9/25) · PR #179. 확인 필요: 연속 성공 회차 기록이 있으면 병후에게)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왜 미달이 났는지 순서대로 말씀드리겠습니다. 처음에는 KPI 를 한 번 성공하는 것으로 읽었고, 회차 기준과 시간 기준을 늦게 챙겼습니다. 9/21~22 실기에서 힘 제어로 연속해서 미는 방식이 실패했습니다 — 방향마다 실제 누름이 1.5 에서 8.6 N 까지 흩어지고, 방향을 바꾼 뒤 떠서 모서리를 놓치고, 가짜 EDGE 가 났습니다. 그래서 한 스텝 가고 멈춰서 힘을 읽는 스텝 모드로 바꾸며 정확도를 먼저 잡았습니다. 그 결과 치수는 목표 안에 들어왔지만 탐색 시간은 438 s 가 되었고, 위 그래프처럼 그중 76 % 가 스텝 긁기입니다. 120 s 는 연속 밀기를 전제로 잡은 숫자였습니다.</a:t>
            </a:r>
          </a:p>
          <a:p>
            <a:r>
              <a:t>아래 그래프는 검출 하중입니다. 빨간 막대 두 개가 5 N 을 넘은 회차이고, 이것 때문에 평균이 통과여도 미달로 적었습니다. 오른쪽은 임계 2 N 의 결과입니다.</a:t>
            </a:r>
          </a:p>
          <a:p>
            <a:r>
              <a:t>개선안은 계산값이고 아직 해 보지 않았습니다. 재접근 내림을 빠른 45 mm 와 저속 5 mm 로 나누면 세 번에 약 60 초, 거친 스텝을 1 mm 로 올리면 약 150 초가 줄어 230 초 정도가 됩니다. 정확도는 다듬기 스텝 0.1 mm 가 정하므로 영향이 없습니다. 그 아래는 스텝마다 멈춰서 힘을 세 번 읽는 비용이라 방식의 한계이고, 그래서 120 초는 스텝 모드 기준으로 다시 잡아야 한다는 것을 숨기지 않고 말씀드립니다.</a:t>
            </a:r>
          </a:p>
          <a:p>
            <a:r>
              <a:t>(출처: #180 본문 · 학민 정정 9/23 · 병후 정리 9/25. 병후 정리의 200 s 는 재접근 4 회 기준이고 실측은 3 회라 230 s 로 적었다)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제가 고친 문제 하나입니다. 9/21 아침 sim 종단에서 스캔 시작이 안전 래치로 거절됐습니다. 로봇은 서 있었는데 safety_monitor 가 샘플이 508 ms 끊겼다며 래치를 걸었습니다.</a:t>
            </a:r>
          </a:p>
          <a:p>
            <a:r>
              <a:t>원인은 노드 다섯 개가 동시에 뜨면서 샘플이 잠깐 끊긴 것과, robot_manager 가 위치를 모르면 움직이는 중으로 보고하는 규칙이 겹친 것이었습니다. 둘 다 각자는 옳은 보수적 기본값입니다.</a:t>
            </a:r>
          </a:p>
          <a:p>
            <a:r>
              <a:t>그래서 기동 뒤 3 초 동안은 샘플 최신성으로는 멈추지 않게 했고, 과대 외력과 하강 제한은 유예하지 않도록 시험으로 고정했습니다. 고친 뒤에는 기동 직후 래치가 걸리지 않습니다.</a:t>
            </a:r>
          </a:p>
          <a:p>
            <a:r>
              <a:t>(출처: PR #99, 파트 문서 5.3 절. 그림은 개념도 — 공백의 시작 시각은 기록이 없다)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44013C-7378-DC31-F4ED-B46CA8F56A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B76F071-3481-0CC2-1BB9-C4D9A74B03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1B610C4-EDCA-811A-CF06-40D184F4CA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2025-05-13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5FDF065-82AC-E640-093E-9FEA2942B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DE5C52C-1AEA-EBB1-9B82-84E44E1FB5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07768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EDB432-EAD5-0CA6-D965-3752DE0AB3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025EC77-7408-6520-DCAF-3C9B1B79DD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93DAE9B-E46C-F5BE-645F-D6291220A1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2025-05-13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A687A4E-3016-B306-CD2F-AFDD977E90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9B4D866-21EF-2E55-3B47-B360DCA52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23204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0473F-A5C5-5C8C-4FD2-D1DBD8BCA8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9EF7B6A-6A80-1816-89F7-DCEEC7216D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8356DF7-BB7A-5D84-C7A2-EA89039F25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2025-05-13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B437239-72B5-86D6-735B-8518AFB646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1421596-53F4-89AF-FAB9-074AB8F950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02307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A0FD40-CBE2-BC63-8E2D-B448DBB035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BE86938-4402-AE48-3657-90C063A48E2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CC3CA31-F616-786B-7DA2-660650A170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D906531-4539-559E-95E1-731FCC3572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2025-05-13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AF6AF8E-3176-55EB-B7B1-C7C3418217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E228E95-121C-6FB7-E60F-817D9088AB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489694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8A25C6-60CB-64C6-7657-0DC50FA6BF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BE0342A-6E03-4A86-7563-24A881B6B9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A5125C8-EF47-0BBD-133E-858DE0B30C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4E31DF1A-A24A-9645-0BD2-FE2B277929A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900A206-5CE6-11EE-BDA7-390D85C8DBF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B3A2E132-BFCA-FAF5-53F0-A1D388FA70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2025-05-13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F9464187-404B-176C-CDC6-2836B4DDD6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DD2E746-A421-B21D-E16E-06D48764C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54026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748684-EA1E-6FC0-148A-F24EE687E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399319F2-5E8B-FB8E-1859-85138954CF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2025-05-13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6501846-9DA8-CC3F-B17F-9D8073F511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28BCA64-4FC8-4CF4-55BB-CF4FBB37F5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26083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D497D02B-85D1-121E-41B2-25E146AACA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2025-05-13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6C24959-43CE-0F3B-D945-976A7540BB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C0E18F8-7AE0-0A54-625B-105AC7CD35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96787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D1D68DC-72E3-4FF1-D019-E81F300774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36C3084-BFA0-C0D0-5B0B-79D12AC66B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10468EC-D5A6-7D0F-138F-2490D46CA8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9930B80-8225-BAAF-3C4A-A30DA789FA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2025-05-13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7FE4298-D6F6-5261-B063-6B445A63F9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931DBFA-CEE3-843C-9743-B9DB0D616F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114217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2007E0-7B9A-3FEE-94D8-8EB9D29A1F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03CBC970-BA98-05D5-4501-CC3D119A59C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CBF5971-8BB5-D74E-D6A1-055291CB44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D59E5CA-476A-B8E2-8D9F-D1705BE8C7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2025-05-13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99DDE8B-9AAF-CEEA-D986-698DF5068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BA2EBFF-5594-6173-C36D-B41307CCD3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121621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224B62-1CCE-2109-890A-B8A14002BA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C1D3EBD-0EDF-09DA-C673-5761B13D4D9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A7A4A84-E915-4790-C063-9137D31C2A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2025-05-13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A44CC9E-ECCD-1907-FBDB-4E99CB5605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345CFEB-E7E9-1965-A08E-C58CEB0A6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98424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27F9625E-D84F-A608-2BF0-57CE6EC9F55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4E5686C-6158-23F3-8F8E-E4C40CA08B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D42BFE3-F9DD-C38D-29D5-82E06B6AD5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2025-05-13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5B9B458-CCEE-F954-78F1-B71BB1528E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F3ACFE7-3E2F-8807-4905-2E7642B0B2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31465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75551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DE8E3A2E-1BAF-46D3-7BEB-B138289565DE}"/>
              </a:ext>
            </a:extLst>
          </p:cNvPr>
          <p:cNvSpPr/>
          <p:nvPr userDrawn="1"/>
        </p:nvSpPr>
        <p:spPr>
          <a:xfrm>
            <a:off x="0" y="229568"/>
            <a:ext cx="12192000" cy="31200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2F73F9E-8D1A-CE6F-F02E-4A2C485B307D}"/>
              </a:ext>
            </a:extLst>
          </p:cNvPr>
          <p:cNvSpPr txBox="1"/>
          <p:nvPr userDrawn="1"/>
        </p:nvSpPr>
        <p:spPr>
          <a:xfrm>
            <a:off x="7635810" y="6601849"/>
            <a:ext cx="3463925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altLang="ko-KR" sz="10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2024</a:t>
            </a:r>
            <a:r>
              <a:rPr lang="ko-KR" altLang="en-US" sz="10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년도 </a:t>
            </a:r>
            <a:r>
              <a:rPr lang="ko-KR" altLang="en-US" sz="10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rPr>
              <a:t>프로젝트평가 훈련기관 신청안내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DD8DCB8-9B75-7CF9-7713-9B5345DBB23B}"/>
              </a:ext>
            </a:extLst>
          </p:cNvPr>
          <p:cNvSpPr txBox="1"/>
          <p:nvPr userDrawn="1"/>
        </p:nvSpPr>
        <p:spPr>
          <a:xfrm>
            <a:off x="9005162" y="6594154"/>
            <a:ext cx="2754994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algn="r" defTabSz="914400" rtl="0" eaLnBrk="1" latinLnBrk="1" hangingPunct="1"/>
            <a:fld id="{5426B8F6-3B26-4B2F-9C3C-1E76C1EF5307}" type="slidenum">
              <a:rPr lang="ko-KR" altLang="en-US" sz="1000" kern="120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  <a:cs typeface="+mn-cs"/>
              </a:rPr>
              <a:pPr marL="0" algn="r" defTabSz="914400" rtl="0" eaLnBrk="1" latinLnBrk="1" hangingPunct="1"/>
              <a:t>‹#›</a:t>
            </a:fld>
            <a:endParaRPr lang="ko-KR" altLang="en-US" sz="1000" kern="12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6183087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42">
          <p15:clr>
            <a:srgbClr val="FBAE40"/>
          </p15:clr>
        </p15:guide>
        <p15:guide id="2" pos="393">
          <p15:clr>
            <a:srgbClr val="FBAE40"/>
          </p15:clr>
        </p15:guide>
        <p15:guide id="3" pos="7287">
          <p15:clr>
            <a:srgbClr val="FBAE40"/>
          </p15:clr>
        </p15:guide>
        <p15:guide id="4" orient="horz" pos="1094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C5A77C7-A655-F1A4-880A-C617304AC7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8D0EEBC-2EED-2FC9-65F6-082EEBC4A7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8FCCA73-267C-FD7A-C97B-001EC7FC7C5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B245E4-741B-46A9-94D1-0E241DD65ACD}" type="datetimeFigureOut">
              <a:rPr lang="ko-KR" altLang="en-US" smtClean="0"/>
              <a:t>2025-05-13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861153F-6875-29FF-F12F-3F96ADD6592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2AB6F47-B663-25BC-D896-1BCD76A3E6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483785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30.png"/><Relationship Id="rId3" Type="http://schemas.openxmlformats.org/officeDocument/2006/relationships/image" Target="../media/image61.svg"/><Relationship Id="rId4" Type="http://schemas.openxmlformats.org/officeDocument/2006/relationships/image" Target="../media/image31.png"/><Relationship Id="rId5" Type="http://schemas.openxmlformats.org/officeDocument/2006/relationships/image" Target="../media/image51.png"/><Relationship Id="rId6" Type="http://schemas.openxmlformats.org/officeDocument/2006/relationships/image" Target="../media/image52.png"/><Relationship Id="rId7" Type="http://schemas.openxmlformats.org/officeDocument/2006/relationships/image" Target="../media/image53.png"/><Relationship Id="rId8" Type="http://schemas.openxmlformats.org/officeDocument/2006/relationships/image" Target="../media/image54.png"/><Relationship Id="rId9" Type="http://schemas.openxmlformats.org/officeDocument/2006/relationships/image" Target="../media/image55.png"/><Relationship Id="rId10" Type="http://schemas.openxmlformats.org/officeDocument/2006/relationships/image" Target="../media/image1.png"/><Relationship Id="rId11" Type="http://schemas.openxmlformats.org/officeDocument/2006/relationships/notesSlide" Target="../notesSlides/notesSlide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30.png"/><Relationship Id="rId3" Type="http://schemas.openxmlformats.org/officeDocument/2006/relationships/image" Target="../media/image61.svg"/><Relationship Id="rId4" Type="http://schemas.openxmlformats.org/officeDocument/2006/relationships/image" Target="../media/image31.png"/><Relationship Id="rId5" Type="http://schemas.openxmlformats.org/officeDocument/2006/relationships/image" Target="../media/image51.png"/><Relationship Id="rId6" Type="http://schemas.openxmlformats.org/officeDocument/2006/relationships/image" Target="../media/image52.png"/><Relationship Id="rId7" Type="http://schemas.openxmlformats.org/officeDocument/2006/relationships/image" Target="../media/image53.png"/><Relationship Id="rId8" Type="http://schemas.openxmlformats.org/officeDocument/2006/relationships/image" Target="../media/image54.png"/><Relationship Id="rId9" Type="http://schemas.openxmlformats.org/officeDocument/2006/relationships/image" Target="../media/image55.png"/><Relationship Id="rId10" Type="http://schemas.openxmlformats.org/officeDocument/2006/relationships/image" Target="../media/image2.png"/><Relationship Id="rId11" Type="http://schemas.openxmlformats.org/officeDocument/2006/relationships/notesSlide" Target="../notesSlides/notes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30.png"/><Relationship Id="rId3" Type="http://schemas.openxmlformats.org/officeDocument/2006/relationships/image" Target="../media/image61.svg"/><Relationship Id="rId4" Type="http://schemas.openxmlformats.org/officeDocument/2006/relationships/image" Target="../media/image31.png"/><Relationship Id="rId5" Type="http://schemas.openxmlformats.org/officeDocument/2006/relationships/image" Target="../media/image51.png"/><Relationship Id="rId6" Type="http://schemas.openxmlformats.org/officeDocument/2006/relationships/image" Target="../media/image52.png"/><Relationship Id="rId7" Type="http://schemas.openxmlformats.org/officeDocument/2006/relationships/image" Target="../media/image53.png"/><Relationship Id="rId8" Type="http://schemas.openxmlformats.org/officeDocument/2006/relationships/image" Target="../media/image54.png"/><Relationship Id="rId9" Type="http://schemas.openxmlformats.org/officeDocument/2006/relationships/image" Target="../media/image55.png"/><Relationship Id="rId10" Type="http://schemas.openxmlformats.org/officeDocument/2006/relationships/notesSlide" Target="../notesSlides/notesSlide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30.png"/><Relationship Id="rId3" Type="http://schemas.openxmlformats.org/officeDocument/2006/relationships/image" Target="../media/image61.svg"/><Relationship Id="rId4" Type="http://schemas.openxmlformats.org/officeDocument/2006/relationships/image" Target="../media/image31.png"/><Relationship Id="rId5" Type="http://schemas.openxmlformats.org/officeDocument/2006/relationships/image" Target="../media/image51.png"/><Relationship Id="rId6" Type="http://schemas.openxmlformats.org/officeDocument/2006/relationships/image" Target="../media/image52.png"/><Relationship Id="rId7" Type="http://schemas.openxmlformats.org/officeDocument/2006/relationships/image" Target="../media/image53.png"/><Relationship Id="rId8" Type="http://schemas.openxmlformats.org/officeDocument/2006/relationships/image" Target="../media/image54.png"/><Relationship Id="rId9" Type="http://schemas.openxmlformats.org/officeDocument/2006/relationships/image" Target="../media/image55.png"/><Relationship Id="rId10" Type="http://schemas.openxmlformats.org/officeDocument/2006/relationships/image" Target="../media/image3.png"/><Relationship Id="rId11" Type="http://schemas.openxmlformats.org/officeDocument/2006/relationships/image" Target="../media/image4.png"/><Relationship Id="rId12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30.png"/><Relationship Id="rId3" Type="http://schemas.openxmlformats.org/officeDocument/2006/relationships/image" Target="../media/image61.svg"/><Relationship Id="rId4" Type="http://schemas.openxmlformats.org/officeDocument/2006/relationships/image" Target="../media/image31.png"/><Relationship Id="rId5" Type="http://schemas.openxmlformats.org/officeDocument/2006/relationships/image" Target="../media/image51.png"/><Relationship Id="rId6" Type="http://schemas.openxmlformats.org/officeDocument/2006/relationships/image" Target="../media/image52.png"/><Relationship Id="rId7" Type="http://schemas.openxmlformats.org/officeDocument/2006/relationships/image" Target="../media/image53.png"/><Relationship Id="rId8" Type="http://schemas.openxmlformats.org/officeDocument/2006/relationships/image" Target="../media/image54.png"/><Relationship Id="rId9" Type="http://schemas.openxmlformats.org/officeDocument/2006/relationships/image" Target="../media/image55.png"/><Relationship Id="rId10" Type="http://schemas.openxmlformats.org/officeDocument/2006/relationships/image" Target="../media/image8.png"/><Relationship Id="rId11" Type="http://schemas.openxmlformats.org/officeDocument/2006/relationships/notesSlide" Target="../notesSlides/notesSlide5.xml"/></Relationships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99" name="그래픽 98">
            <a:extLst>
              <a:ext uri="{FF2B5EF4-FFF2-40B4-BE49-F238E27FC236}">
                <a16:creationId xmlns:a16="http://schemas.microsoft.com/office/drawing/2014/main" id="{F903AA09-02EA-76CC-8175-834ABC7B3E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=""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5EADE06A-9DBC-11A8-5DF5-38CF63ECD050}"/>
              </a:ext>
            </a:extLst>
          </p:cNvPr>
          <p:cNvSpPr/>
          <p:nvPr/>
        </p:nvSpPr>
        <p:spPr>
          <a:xfrm flipH="1" flipV="1">
            <a:off x="174170" y="70719"/>
            <a:ext cx="12017829" cy="1221051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6FDEB448-9EE3-E350-4F7B-B8FDAF319438}"/>
              </a:ext>
            </a:extLst>
          </p:cNvPr>
          <p:cNvGrpSpPr/>
          <p:nvPr/>
        </p:nvGrpSpPr>
        <p:grpSpPr>
          <a:xfrm>
            <a:off x="376102" y="333243"/>
            <a:ext cx="5948498" cy="830997"/>
            <a:chOff x="376102" y="333243"/>
            <a:chExt cx="5948498" cy="830997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1461721" y="366114"/>
              <a:ext cx="2252213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8DE4B1-0C6D-133C-80D8-F6968CBF60AC}"/>
                </a:ext>
              </a:extLst>
            </p:cNvPr>
            <p:cNvSpPr txBox="1"/>
            <p:nvPr/>
          </p:nvSpPr>
          <p:spPr>
            <a:xfrm>
              <a:off x="1461721" y="585057"/>
              <a:ext cx="4862879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수행 경과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E94AA3-A994-6AB2-870F-88DA16811E4D}"/>
                </a:ext>
              </a:extLst>
            </p:cNvPr>
            <p:cNvSpPr txBox="1"/>
            <p:nvPr/>
          </p:nvSpPr>
          <p:spPr>
            <a:xfrm>
              <a:off x="376102" y="333243"/>
              <a:ext cx="1266679" cy="83099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04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AF4B2E62-632E-762D-16F9-2015B268C1F4}"/>
              </a:ext>
            </a:extLst>
          </p:cNvPr>
          <p:cNvGrpSpPr/>
          <p:nvPr/>
        </p:nvGrpSpPr>
        <p:grpSpPr>
          <a:xfrm>
            <a:off x="541891" y="1430219"/>
            <a:ext cx="10526159" cy="646331"/>
            <a:chOff x="541891" y="1430219"/>
            <a:chExt cx="10526159" cy="646331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7F04AE5-D365-4B0E-9031-83310E282831}"/>
                </a:ext>
              </a:extLst>
            </p:cNvPr>
            <p:cNvSpPr txBox="1"/>
            <p:nvPr/>
          </p:nvSpPr>
          <p:spPr>
            <a:xfrm>
              <a:off x="743615" y="1430219"/>
              <a:ext cx="10324435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b="1" spc="-100" dirty="0">
                  <a:solidFill>
                    <a:schemeClr val="bg2">
                      <a:lumMod val="25000"/>
                    </a:schemeClr>
                  </a:solidFill>
                  <a:latin typeface="+mn-ea"/>
                </a:rPr>
                <a:t>③ 접촉 판정 — 힘 센서 없이, 로봇이 추정한 외력으로 "닿음"과 "모서리"를 가린다</a:t>
              </a:r>
            </a:p>
          </p:txBody>
        </p:sp>
        <p:sp>
          <p:nvSpPr>
            <p:cNvPr id="45" name="그래픽 43">
              <a:extLst>
                <a:ext uri="{FF2B5EF4-FFF2-40B4-BE49-F238E27FC236}">
                  <a16:creationId xmlns:a16="http://schemas.microsoft.com/office/drawing/2014/main" id="{512AEB8B-AA28-FDBA-00E7-D5D95C2F683D}"/>
                </a:ext>
              </a:extLst>
            </p:cNvPr>
            <p:cNvSpPr/>
            <p:nvPr/>
          </p:nvSpPr>
          <p:spPr>
            <a:xfrm>
              <a:off x="541891" y="1539006"/>
              <a:ext cx="101147" cy="113869"/>
            </a:xfrm>
            <a:custGeom>
              <a:avLst/>
              <a:gdLst>
                <a:gd name="connsiteX0" fmla="*/ 428021 w 450214"/>
                <a:gd name="connsiteY0" fmla="*/ 214932 h 506845"/>
                <a:gd name="connsiteX1" fmla="*/ 66705 w 450214"/>
                <a:gd name="connsiteY1" fmla="*/ 6045 h 506845"/>
                <a:gd name="connsiteX2" fmla="*/ 0 w 450214"/>
                <a:gd name="connsiteY2" fmla="*/ 44511 h 506845"/>
                <a:gd name="connsiteX3" fmla="*/ 0 w 450214"/>
                <a:gd name="connsiteY3" fmla="*/ 462326 h 506845"/>
                <a:gd name="connsiteX4" fmla="*/ 66705 w 450214"/>
                <a:gd name="connsiteY4" fmla="*/ 500812 h 506845"/>
                <a:gd name="connsiteX5" fmla="*/ 428021 w 450214"/>
                <a:gd name="connsiteY5" fmla="*/ 291905 h 506845"/>
                <a:gd name="connsiteX6" fmla="*/ 428021 w 450214"/>
                <a:gd name="connsiteY6" fmla="*/ 214932 h 506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0214" h="506845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2035" cap="flat">
              <a:noFill/>
              <a:prstDash val="solid"/>
              <a:miter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rtlCol="0" anchor="ctr"/>
            <a:lstStyle/>
            <a:p>
              <a:endParaRPr lang="ko-KR" altLang="en-US"/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8BD100E5-682D-13CE-B307-81D8B8E71B57}"/>
              </a:ext>
            </a:extLst>
          </p:cNvPr>
          <p:cNvSpPr txBox="1"/>
          <p:nvPr/>
        </p:nvSpPr>
        <p:spPr>
          <a:xfrm>
            <a:off x="8312385" y="854343"/>
            <a:ext cx="350351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accent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* 04-③ 접촉 판정 · 안전 감시 (1/2)</a:t>
            </a:r>
            <a:endParaRPr lang="ko-KR" altLang="en-US" sz="1400" b="1" spc="-100" dirty="0">
              <a:solidFill>
                <a:schemeClr val="accent1"/>
              </a:solidFill>
              <a:latin typeface="+mn-ea"/>
            </a:endParaRPr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753AFFF3-DFFD-86BD-A0E4-365D0D959218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916849"/>
            <a:ext cx="12192000" cy="233580"/>
          </a:xfrm>
          <a:prstGeom prst="rect">
            <a:avLst/>
          </a:prstGeom>
        </p:spPr>
      </p:pic>
      <p:pic>
        <p:nvPicPr>
          <p:cNvPr id="100" name="Picture 99" descr="detect-dataflow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7200" y="2240280"/>
            <a:ext cx="11274552" cy="2146155"/>
          </a:xfrm>
          <a:prstGeom prst="rect">
            <a:avLst/>
          </a:prstGeom>
        </p:spPr>
      </p:pic>
      <p:graphicFrame>
        <p:nvGraphicFramePr>
          <p:cNvPr id="101" name="Table 100"/>
          <p:cNvGraphicFramePr>
            <a:graphicFrameLocks noGrp="1"/>
          </p:cNvGraphicFramePr>
          <p:nvPr/>
        </p:nvGraphicFramePr>
        <p:xfrm>
          <a:off x="457200" y="4526280"/>
          <a:ext cx="11274552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4480560"/>
                <a:gridCol w="5559552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판정</a:t>
                      </a:r>
                    </a:p>
                  </a:txBody>
                  <a:tcPr marL="45720" marR="45720" marT="22860" marB="22860" anchor="ctr">
                    <a:solidFill>
                      <a:srgbClr val="3378C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조건 (실기 기준)</a:t>
                      </a:r>
                    </a:p>
                  </a:txBody>
                  <a:tcPr marL="45720" marR="45720" marT="22860" marB="22860" anchor="ctr">
                    <a:solidFill>
                      <a:srgbClr val="3378C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왜 이렇게 바꿨나 (실측)</a:t>
                      </a:r>
                    </a:p>
                  </a:txBody>
                  <a:tcPr marL="45720" marR="45720" marT="22860" marB="22860" anchor="ctr">
                    <a:solidFill>
                      <a:srgbClr val="3378C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  <a:latin typeface="맑은 고딕"/>
                        </a:rPr>
                        <a:t>CONTACT
(윗면)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하강 중 |F − F₀| &gt; 3 N 이 연속 3 회.
F₀ = 최근 [t−1.0, t−0.3] s 의 이동 중 평균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정지 때 잡은 F₀ 로는 윗면 38 · 44 · 78 mm 위 공중에서 거짓 접촉 → 이동 기준으로 바꾼 뒤 6 회 0 회 (9/21 실기)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  <a:latin typeface="맑은 고딕"/>
                        </a:rPr>
                        <a:t>EDGE
(모서리)</a:t>
                      </a:r>
                    </a:p>
                  </a:txBody>
                  <a:tcPr marL="45720" marR="45720" marT="22860" marB="2286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robot_manager 스텝 모드: 한 스텝 가고 멈춘 뒤 힘을 읽어 소실을 확정</a:t>
                      </a:r>
                    </a:p>
                  </a:txBody>
                  <a:tcPr marL="45720" marR="45720" marT="22860" marB="2286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움직이는 중 z 추세선으로는 밀기 4 회 중 0 회 (9/21) → 멈춘 뒤 평균으로 바꿔 9/22 네 방향 성공</a:t>
                      </a:r>
                    </a:p>
                  </a:txBody>
                  <a:tcPr marL="45720" marR="45720" marT="22860" marB="22860" anchor="ctr">
                    <a:solidFill>
                      <a:srgbClr val="F2F5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  <a:latin typeface="맑은 고딕"/>
                        </a:rPr>
                        <a:t>OVER_FORCE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원시 |F| &gt; 30 N 한 번이면 확정. 1 차 contact_detector + 2 차 safety_monitor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두 겹 감시. 30 N 은 BRD 설계 출발값(실측 아님)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2" name="TextBox 101"/>
          <p:cNvSpPr txBox="1"/>
          <p:nvPr/>
        </p:nvSpPr>
        <p:spPr>
          <a:xfrm>
            <a:off x="457200" y="6245352"/>
            <a:ext cx="11274552" cy="365760"/>
          </a:xfrm>
          <a:prstGeom prst="rect">
            <a:avLst/>
          </a:prstGeom>
          <a:noFill/>
        </p:spPr>
        <p:txBody>
          <a:bodyPr wrap="square" anchor="t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3378C8"/>
                </a:solidFill>
                <a:latin typeface="맑은 고딕"/>
              </a:rPr>
              <a:t>한 줄 요약: 힘 추정값은 "그 모션 · 그 자세 근처"에서만 기준이 된다. 판정 좌표는 조건이 처음 성립한 샘플이다.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99" name="그래픽 98">
            <a:extLst>
              <a:ext uri="{FF2B5EF4-FFF2-40B4-BE49-F238E27FC236}">
                <a16:creationId xmlns:a16="http://schemas.microsoft.com/office/drawing/2014/main" id="{F903AA09-02EA-76CC-8175-834ABC7B3E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=""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5EADE06A-9DBC-11A8-5DF5-38CF63ECD050}"/>
              </a:ext>
            </a:extLst>
          </p:cNvPr>
          <p:cNvSpPr/>
          <p:nvPr/>
        </p:nvSpPr>
        <p:spPr>
          <a:xfrm flipH="1" flipV="1">
            <a:off x="174170" y="70719"/>
            <a:ext cx="12017829" cy="1221051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6FDEB448-9EE3-E350-4F7B-B8FDAF319438}"/>
              </a:ext>
            </a:extLst>
          </p:cNvPr>
          <p:cNvGrpSpPr/>
          <p:nvPr/>
        </p:nvGrpSpPr>
        <p:grpSpPr>
          <a:xfrm>
            <a:off x="376102" y="333243"/>
            <a:ext cx="5948498" cy="830997"/>
            <a:chOff x="376102" y="333243"/>
            <a:chExt cx="5948498" cy="830997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1461721" y="366114"/>
              <a:ext cx="2252213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8DE4B1-0C6D-133C-80D8-F6968CBF60AC}"/>
                </a:ext>
              </a:extLst>
            </p:cNvPr>
            <p:cNvSpPr txBox="1"/>
            <p:nvPr/>
          </p:nvSpPr>
          <p:spPr>
            <a:xfrm>
              <a:off x="1461721" y="585057"/>
              <a:ext cx="4862879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수행 경과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E94AA3-A994-6AB2-870F-88DA16811E4D}"/>
                </a:ext>
              </a:extLst>
            </p:cNvPr>
            <p:cNvSpPr txBox="1"/>
            <p:nvPr/>
          </p:nvSpPr>
          <p:spPr>
            <a:xfrm>
              <a:off x="376102" y="333243"/>
              <a:ext cx="1266679" cy="83099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04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AF4B2E62-632E-762D-16F9-2015B268C1F4}"/>
              </a:ext>
            </a:extLst>
          </p:cNvPr>
          <p:cNvGrpSpPr/>
          <p:nvPr/>
        </p:nvGrpSpPr>
        <p:grpSpPr>
          <a:xfrm>
            <a:off x="541891" y="1430219"/>
            <a:ext cx="10526159" cy="646331"/>
            <a:chOff x="541891" y="1430219"/>
            <a:chExt cx="10526159" cy="646331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7F04AE5-D365-4B0E-9031-83310E282831}"/>
                </a:ext>
              </a:extLst>
            </p:cNvPr>
            <p:cNvSpPr txBox="1"/>
            <p:nvPr/>
          </p:nvSpPr>
          <p:spPr>
            <a:xfrm>
              <a:off x="743615" y="1430219"/>
              <a:ext cx="10324435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b="1" spc="-100" dirty="0">
                  <a:solidFill>
                    <a:schemeClr val="bg2">
                      <a:lumMod val="25000"/>
                    </a:schemeClr>
                  </a:solidFill>
                  <a:latin typeface="+mn-ea"/>
                </a:rPr>
                <a:t>③ 안전 감시 — 이상이 나면 메인 PC 안에서 멈추고, 래치는 사람이 보고 푼다</a:t>
              </a:r>
            </a:p>
          </p:txBody>
        </p:sp>
        <p:sp>
          <p:nvSpPr>
            <p:cNvPr id="45" name="그래픽 43">
              <a:extLst>
                <a:ext uri="{FF2B5EF4-FFF2-40B4-BE49-F238E27FC236}">
                  <a16:creationId xmlns:a16="http://schemas.microsoft.com/office/drawing/2014/main" id="{512AEB8B-AA28-FDBA-00E7-D5D95C2F683D}"/>
                </a:ext>
              </a:extLst>
            </p:cNvPr>
            <p:cNvSpPr/>
            <p:nvPr/>
          </p:nvSpPr>
          <p:spPr>
            <a:xfrm>
              <a:off x="541891" y="1539006"/>
              <a:ext cx="101147" cy="113869"/>
            </a:xfrm>
            <a:custGeom>
              <a:avLst/>
              <a:gdLst>
                <a:gd name="connsiteX0" fmla="*/ 428021 w 450214"/>
                <a:gd name="connsiteY0" fmla="*/ 214932 h 506845"/>
                <a:gd name="connsiteX1" fmla="*/ 66705 w 450214"/>
                <a:gd name="connsiteY1" fmla="*/ 6045 h 506845"/>
                <a:gd name="connsiteX2" fmla="*/ 0 w 450214"/>
                <a:gd name="connsiteY2" fmla="*/ 44511 h 506845"/>
                <a:gd name="connsiteX3" fmla="*/ 0 w 450214"/>
                <a:gd name="connsiteY3" fmla="*/ 462326 h 506845"/>
                <a:gd name="connsiteX4" fmla="*/ 66705 w 450214"/>
                <a:gd name="connsiteY4" fmla="*/ 500812 h 506845"/>
                <a:gd name="connsiteX5" fmla="*/ 428021 w 450214"/>
                <a:gd name="connsiteY5" fmla="*/ 291905 h 506845"/>
                <a:gd name="connsiteX6" fmla="*/ 428021 w 450214"/>
                <a:gd name="connsiteY6" fmla="*/ 214932 h 506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0214" h="506845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2035" cap="flat">
              <a:noFill/>
              <a:prstDash val="solid"/>
              <a:miter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rtlCol="0" anchor="ctr"/>
            <a:lstStyle/>
            <a:p>
              <a:endParaRPr lang="ko-KR" altLang="en-US"/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8BD100E5-682D-13CE-B307-81D8B8E71B57}"/>
              </a:ext>
            </a:extLst>
          </p:cNvPr>
          <p:cNvSpPr txBox="1"/>
          <p:nvPr/>
        </p:nvSpPr>
        <p:spPr>
          <a:xfrm>
            <a:off x="8312385" y="854343"/>
            <a:ext cx="350351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accent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* 04-③ 접촉 판정 · 안전 감시 (2/2)  [뺄 수 있음]</a:t>
            </a:r>
            <a:endParaRPr lang="ko-KR" altLang="en-US" sz="1400" b="1" spc="-100" dirty="0">
              <a:solidFill>
                <a:schemeClr val="accent1"/>
              </a:solidFill>
              <a:latin typeface="+mn-ea"/>
            </a:endParaRPr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753AFFF3-DFFD-86BD-A0E4-365D0D959218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916849"/>
            <a:ext cx="12192000" cy="233580"/>
          </a:xfrm>
          <a:prstGeom prst="rect">
            <a:avLst/>
          </a:prstGeom>
        </p:spPr>
      </p:pic>
      <p:pic>
        <p:nvPicPr>
          <p:cNvPr id="100" name="Picture 99" descr="safety-recovery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7200" y="2286000"/>
            <a:ext cx="11274552" cy="1388631"/>
          </a:xfrm>
          <a:prstGeom prst="rect">
            <a:avLst/>
          </a:prstGeom>
        </p:spPr>
      </p:pic>
      <p:sp>
        <p:nvSpPr>
          <p:cNvPr id="101" name="TextBox 100"/>
          <p:cNvSpPr txBox="1"/>
          <p:nvPr/>
        </p:nvSpPr>
        <p:spPr>
          <a:xfrm>
            <a:off x="457200" y="3886200"/>
            <a:ext cx="5532120" cy="2651760"/>
          </a:xfrm>
          <a:prstGeom prst="rect">
            <a:avLst/>
          </a:prstGeom>
          <a:solidFill>
            <a:srgbClr val="F2F5FA"/>
          </a:solidFill>
        </p:spPr>
        <p:txBody>
          <a:bodyPr wrap="square" anchor="t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3378C8"/>
                </a:solidFill>
                <a:latin typeface="맑은 고딕"/>
              </a:rPr>
              <a:t>실기에서 실제로 일어난 것 → 조치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· 9/22 샘플 공백(약 3 s 마다 316~365 ms)으로 goal 의 약 40 % 가 SAMPLE_STALE 정지 → real 한계 300 → 500 ms 예외 조정(PR #168). 원인이 풀리면 되돌린다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· 시연 중 멈춤 대응표(PR #173): 래치 · 사유 확인 → /safety/reset → 안전복귀 → 새 START. 2 회 연속이면 sim 백업 영상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· 기동 직후 거짓 래치 → 기동 유예 3 s(PR #99, 04-⑧)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199632" y="3886200"/>
            <a:ext cx="5532120" cy="2651760"/>
          </a:xfrm>
          <a:prstGeom prst="rect">
            <a:avLst/>
          </a:prstGeom>
          <a:solidFill>
            <a:srgbClr val="F2F5FA"/>
          </a:solidFill>
        </p:spPr>
        <p:txBody>
          <a:bodyPr wrap="square" anchor="t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C0392B"/>
                </a:solidFill>
                <a:latin typeface="맑은 고딕"/>
              </a:rPr>
              <a:t>감시자도 죽는다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· 9/21 실기 중 safety_monitor 가 두 번 죽었고, 그동안 하강 5 회 · 밀기 2 회가 2 차 감시 없이 돌았다(#103)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· 원인: 같은 줄에서 로거 등급을 바꿔 불러 타이머 콜백에서 예외 → 다른 줄로 분리(PR #117, 병후 발견)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· 대책: /safety/status 가 끊기면 scan_manager 가 START 를 거절(PR #136) — 감시자의 생존도 누군가 본다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99" name="그래픽 98">
            <a:extLst>
              <a:ext uri="{FF2B5EF4-FFF2-40B4-BE49-F238E27FC236}">
                <a16:creationId xmlns:a16="http://schemas.microsoft.com/office/drawing/2014/main" id="{F903AA09-02EA-76CC-8175-834ABC7B3E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=""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5EADE06A-9DBC-11A8-5DF5-38CF63ECD050}"/>
              </a:ext>
            </a:extLst>
          </p:cNvPr>
          <p:cNvSpPr/>
          <p:nvPr/>
        </p:nvSpPr>
        <p:spPr>
          <a:xfrm flipH="1" flipV="1">
            <a:off x="174170" y="70719"/>
            <a:ext cx="12017829" cy="1221051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6FDEB448-9EE3-E350-4F7B-B8FDAF319438}"/>
              </a:ext>
            </a:extLst>
          </p:cNvPr>
          <p:cNvGrpSpPr/>
          <p:nvPr/>
        </p:nvGrpSpPr>
        <p:grpSpPr>
          <a:xfrm>
            <a:off x="376102" y="333243"/>
            <a:ext cx="5948498" cy="830997"/>
            <a:chOff x="376102" y="333243"/>
            <a:chExt cx="5948498" cy="830997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1461721" y="366114"/>
              <a:ext cx="2252213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8DE4B1-0C6D-133C-80D8-F6968CBF60AC}"/>
                </a:ext>
              </a:extLst>
            </p:cNvPr>
            <p:cNvSpPr txBox="1"/>
            <p:nvPr/>
          </p:nvSpPr>
          <p:spPr>
            <a:xfrm>
              <a:off x="1461721" y="585057"/>
              <a:ext cx="4862879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수행 경과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E94AA3-A994-6AB2-870F-88DA16811E4D}"/>
                </a:ext>
              </a:extLst>
            </p:cNvPr>
            <p:cNvSpPr txBox="1"/>
            <p:nvPr/>
          </p:nvSpPr>
          <p:spPr>
            <a:xfrm>
              <a:off x="376102" y="333243"/>
              <a:ext cx="1266679" cy="83099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04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AF4B2E62-632E-762D-16F9-2015B268C1F4}"/>
              </a:ext>
            </a:extLst>
          </p:cNvPr>
          <p:cNvGrpSpPr/>
          <p:nvPr/>
        </p:nvGrpSpPr>
        <p:grpSpPr>
          <a:xfrm>
            <a:off x="541891" y="1430219"/>
            <a:ext cx="10526159" cy="646331"/>
            <a:chOff x="541891" y="1430219"/>
            <a:chExt cx="10526159" cy="646331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7F04AE5-D365-4B0E-9031-83310E282831}"/>
                </a:ext>
              </a:extLst>
            </p:cNvPr>
            <p:cNvSpPr txBox="1"/>
            <p:nvPr/>
          </p:nvSpPr>
          <p:spPr>
            <a:xfrm>
              <a:off x="743615" y="1430219"/>
              <a:ext cx="10324435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b="1" spc="-100" dirty="0">
                  <a:solidFill>
                    <a:schemeClr val="bg2">
                      <a:lumMod val="25000"/>
                    </a:schemeClr>
                  </a:solidFill>
                  <a:latin typeface="+mn-ea"/>
                </a:rPr>
                <a:t>⑥ 실기 결과 · KPI — 치수 정확도는 달성, 탐색 시간 · 검출 하중 · 반영 지연은 미달</a:t>
              </a:r>
            </a:p>
          </p:txBody>
        </p:sp>
        <p:sp>
          <p:nvSpPr>
            <p:cNvPr id="45" name="그래픽 43">
              <a:extLst>
                <a:ext uri="{FF2B5EF4-FFF2-40B4-BE49-F238E27FC236}">
                  <a16:creationId xmlns:a16="http://schemas.microsoft.com/office/drawing/2014/main" id="{512AEB8B-AA28-FDBA-00E7-D5D95C2F683D}"/>
                </a:ext>
              </a:extLst>
            </p:cNvPr>
            <p:cNvSpPr/>
            <p:nvPr/>
          </p:nvSpPr>
          <p:spPr>
            <a:xfrm>
              <a:off x="541891" y="1539006"/>
              <a:ext cx="101147" cy="113869"/>
            </a:xfrm>
            <a:custGeom>
              <a:avLst/>
              <a:gdLst>
                <a:gd name="connsiteX0" fmla="*/ 428021 w 450214"/>
                <a:gd name="connsiteY0" fmla="*/ 214932 h 506845"/>
                <a:gd name="connsiteX1" fmla="*/ 66705 w 450214"/>
                <a:gd name="connsiteY1" fmla="*/ 6045 h 506845"/>
                <a:gd name="connsiteX2" fmla="*/ 0 w 450214"/>
                <a:gd name="connsiteY2" fmla="*/ 44511 h 506845"/>
                <a:gd name="connsiteX3" fmla="*/ 0 w 450214"/>
                <a:gd name="connsiteY3" fmla="*/ 462326 h 506845"/>
                <a:gd name="connsiteX4" fmla="*/ 66705 w 450214"/>
                <a:gd name="connsiteY4" fmla="*/ 500812 h 506845"/>
                <a:gd name="connsiteX5" fmla="*/ 428021 w 450214"/>
                <a:gd name="connsiteY5" fmla="*/ 291905 h 506845"/>
                <a:gd name="connsiteX6" fmla="*/ 428021 w 450214"/>
                <a:gd name="connsiteY6" fmla="*/ 214932 h 506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0214" h="506845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2035" cap="flat">
              <a:noFill/>
              <a:prstDash val="solid"/>
              <a:miter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rtlCol="0" anchor="ctr"/>
            <a:lstStyle/>
            <a:p>
              <a:endParaRPr lang="ko-KR" altLang="en-US"/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8BD100E5-682D-13CE-B307-81D8B8E71B57}"/>
              </a:ext>
            </a:extLst>
          </p:cNvPr>
          <p:cNvSpPr txBox="1"/>
          <p:nvPr/>
        </p:nvSpPr>
        <p:spPr>
          <a:xfrm>
            <a:off x="8312385" y="854343"/>
            <a:ext cx="350351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accent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* 04-⑥ 실기 결과 · KPI (1/2)</a:t>
            </a:r>
            <a:endParaRPr lang="ko-KR" altLang="en-US" sz="1400" b="1" spc="-100" dirty="0">
              <a:solidFill>
                <a:schemeClr val="accent1"/>
              </a:solidFill>
              <a:latin typeface="+mn-ea"/>
            </a:endParaRPr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753AFFF3-DFFD-86BD-A0E4-365D0D959218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916849"/>
            <a:ext cx="12192000" cy="233580"/>
          </a:xfrm>
          <a:prstGeom prst="rect">
            <a:avLst/>
          </a:prstGeom>
        </p:spPr>
      </p:pic>
      <p:graphicFrame>
        <p:nvGraphicFramePr>
          <p:cNvPr id="100" name="Table 99"/>
          <p:cNvGraphicFramePr>
            <a:graphicFrameLocks noGrp="1"/>
          </p:cNvGraphicFramePr>
          <p:nvPr/>
        </p:nvGraphicFramePr>
        <p:xfrm>
          <a:off x="457200" y="2212848"/>
          <a:ext cx="11274551" cy="4325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097280"/>
                <a:gridCol w="4069080"/>
                <a:gridCol w="822960"/>
                <a:gridCol w="2011680"/>
                <a:gridCol w="1856231"/>
              </a:tblGrid>
              <a:tr h="393192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 marL="45720" marR="45720" marT="22860" marB="22860" anchor="ctr">
                    <a:solidFill>
                      <a:srgbClr val="3378C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KPI (BRD 9 장)</a:t>
                      </a:r>
                    </a:p>
                  </a:txBody>
                  <a:tcPr marL="45720" marR="45720" marT="22860" marB="22860" anchor="ctr">
                    <a:solidFill>
                      <a:srgbClr val="3378C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실측값 (날짜 · 조건 · 출처)</a:t>
                      </a:r>
                    </a:p>
                  </a:txBody>
                  <a:tcPr marL="45720" marR="45720" marT="22860" marB="22860" anchor="ctr">
                    <a:solidFill>
                      <a:srgbClr val="3378C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판정</a:t>
                      </a:r>
                    </a:p>
                  </a:txBody>
                  <a:tcPr marL="45720" marR="45720" marT="22860" marB="22860" anchor="ctr">
                    <a:solidFill>
                      <a:srgbClr val="3378C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미달 원인</a:t>
                      </a:r>
                    </a:p>
                  </a:txBody>
                  <a:tcPr marL="45720" marR="45720" marT="22860" marB="22860" anchor="ctr">
                    <a:solidFill>
                      <a:srgbClr val="3378C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개선안</a:t>
                      </a:r>
                    </a:p>
                  </a:txBody>
                  <a:tcPr marL="45720" marR="45720" marT="22860" marB="22860" anchor="ctr">
                    <a:solidFill>
                      <a:srgbClr val="3378C8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62626"/>
                          </a:solidFill>
                          <a:latin typeface="맑은 고딕"/>
                        </a:rPr>
                        <a:t>모서리 좌표(치수) 오차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62626"/>
                          </a:solidFill>
                          <a:latin typeface="맑은 고딕"/>
                        </a:rPr>
                        <a:t>±3 mm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62626"/>
                          </a:solidFill>
                          <a:latin typeface="맑은 고딕"/>
                        </a:rPr>
                        <a:t>가로 +1.50 · 세로 −0.36 mm — 9/23 실기 1 회, 캘리퍼 대비(scan …3702, #180)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3378C8"/>
                          </a:solidFill>
                          <a:latin typeface="맑은 고딕"/>
                        </a:rPr>
                        <a:t>달성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62626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62626"/>
                          </a:solidFill>
                          <a:latin typeface="맑은 고딕"/>
                        </a:rPr>
                        <a:t>10 회 반복(TR-02)으로 재확인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62626"/>
                          </a:solidFill>
                          <a:latin typeface="맑은 고딕"/>
                        </a:rPr>
                        <a:t>윗면 높이 오차</a:t>
                      </a:r>
                    </a:p>
                  </a:txBody>
                  <a:tcPr marL="45720" marR="45720" marT="22860" marB="2286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62626"/>
                          </a:solidFill>
                          <a:latin typeface="맑은 고딕"/>
                        </a:rPr>
                        <a:t>±3 mm</a:t>
                      </a:r>
                    </a:p>
                  </a:txBody>
                  <a:tcPr marL="45720" marR="45720" marT="22860" marB="2286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62626"/>
                          </a:solidFill>
                          <a:latin typeface="맑은 고딕"/>
                        </a:rPr>
                        <a:t>높이 +0.26 mm — 같은 scan</a:t>
                      </a:r>
                    </a:p>
                  </a:txBody>
                  <a:tcPr marL="45720" marR="45720" marT="22860" marB="2286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3378C8"/>
                          </a:solidFill>
                          <a:latin typeface="맑은 고딕"/>
                        </a:rPr>
                        <a:t>달성</a:t>
                      </a:r>
                    </a:p>
                  </a:txBody>
                  <a:tcPr marL="45720" marR="45720" marT="22860" marB="2286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62626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 marL="45720" marR="45720" marT="22860" marB="2286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62626"/>
                          </a:solidFill>
                          <a:latin typeface="맑은 고딕"/>
                        </a:rPr>
                        <a:t>같음</a:t>
                      </a:r>
                    </a:p>
                  </a:txBody>
                  <a:tcPr marL="45720" marR="45720" marT="22860" marB="22860" anchor="ctr">
                    <a:solidFill>
                      <a:srgbClr val="F2F5FA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62626"/>
                          </a:solidFill>
                          <a:latin typeface="맑은 고딕"/>
                        </a:rPr>
                        <a:t>접촉 검출 하중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62626"/>
                          </a:solidFill>
                          <a:latin typeface="맑은 고딕"/>
                        </a:rPr>
                        <a:t>5 N 이하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62626"/>
                          </a:solidFill>
                          <a:latin typeface="맑은 고딕"/>
                        </a:rPr>
                        <a:t>임계 3 N: 평균 4.49 N, 10 회 중 2 회 초과(5.15 · 5.29)
임계 2 N: 평균 2.76 N, 0/7 — 9/23 실기(TR-01, PR #181)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C0392B"/>
                          </a:solidFill>
                          <a:latin typeface="맑은 고딕"/>
                        </a:rPr>
                        <a:t>미달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62626"/>
                          </a:solidFill>
                          <a:latin typeface="맑은 고딕"/>
                        </a:rPr>
                        <a:t>회차 기준 2/10 초과. 평균만 보면 통과처럼 보인다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62626"/>
                          </a:solidFill>
                          <a:latin typeface="맑은 고딕"/>
                        </a:rPr>
                        <a:t>임계 2 N 검토 — 하강 거짓 접촉 3/10(#182, settle 구간 6 N 판정 문제)과 같이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62626"/>
                          </a:solidFill>
                          <a:latin typeface="맑은 고딕"/>
                        </a:rPr>
                        <a:t>작업 중지 반응 시간</a:t>
                      </a:r>
                    </a:p>
                  </a:txBody>
                  <a:tcPr marL="45720" marR="45720" marT="22860" marB="2286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62626"/>
                          </a:solidFill>
                          <a:latin typeface="맑은 고딕"/>
                        </a:rPr>
                        <a:t>1 s 이내</a:t>
                      </a:r>
                    </a:p>
                  </a:txBody>
                  <a:tcPr marL="45720" marR="45720" marT="22860" marB="2286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62626"/>
                          </a:solidFill>
                          <a:latin typeface="맑은 고딕"/>
                        </a:rPr>
                        <a:t>706 · 600 ms — 9/22 sim, 클릭 → STOPPED 수신(TR-05)</a:t>
                      </a:r>
                    </a:p>
                  </a:txBody>
                  <a:tcPr marL="45720" marR="45720" marT="22860" marB="2286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3378C8"/>
                          </a:solidFill>
                          <a:latin typeface="맑은 고딕"/>
                        </a:rPr>
                        <a:t>달성 (sim)</a:t>
                      </a:r>
                    </a:p>
                  </a:txBody>
                  <a:tcPr marL="45720" marR="45720" marT="22860" marB="2286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62626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 marL="45720" marR="45720" marT="22860" marB="2286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62626"/>
                          </a:solidFill>
                          <a:latin typeface="맑은 고딕"/>
                        </a:rPr>
                        <a:t>실기 측정</a:t>
                      </a:r>
                    </a:p>
                  </a:txBody>
                  <a:tcPr marL="45720" marR="45720" marT="22860" marB="22860" anchor="ctr">
                    <a:solidFill>
                      <a:srgbClr val="F2F5FA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62626"/>
                          </a:solidFill>
                          <a:latin typeface="맑은 고딕"/>
                        </a:rPr>
                        <a:t>관제 화면 반영 지연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62626"/>
                          </a:solidFill>
                          <a:latin typeface="맑은 고딕"/>
                        </a:rPr>
                        <a:t>200 ms 이내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62626"/>
                          </a:solidFill>
                          <a:latin typeface="맑은 고딕"/>
                        </a:rPr>
                        <a:t>최대 312 ms — 9/22(TR-05)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C0392B"/>
                          </a:solidFill>
                          <a:latin typeface="맑은 고딕"/>
                        </a:rPr>
                        <a:t>미달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62626"/>
                          </a:solidFill>
                          <a:latin typeface="맑은 고딕"/>
                        </a:rPr>
                        <a:t>최대값을 만든 토픽을 못 가렸다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62626"/>
                          </a:solidFill>
                          <a:latin typeface="맑은 고딕"/>
                        </a:rPr>
                        <a:t>토픽별 지연 기록 재시험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62626"/>
                          </a:solidFill>
                          <a:latin typeface="맑은 고딕"/>
                        </a:rPr>
                        <a:t>전체 탐색 시간</a:t>
                      </a:r>
                    </a:p>
                  </a:txBody>
                  <a:tcPr marL="45720" marR="45720" marT="22860" marB="2286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62626"/>
                          </a:solidFill>
                          <a:latin typeface="맑은 고딕"/>
                        </a:rPr>
                        <a:t>120 s 이내</a:t>
                      </a:r>
                    </a:p>
                  </a:txBody>
                  <a:tcPr marL="45720" marR="45720" marT="22860" marB="2286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62626"/>
                          </a:solidFill>
                          <a:latin typeface="맑은 고딕"/>
                        </a:rPr>
                        <a:t>438 s — 9/23 실기(scan …3702): 스텝 긁기 331 s(76 %) · 재접근 내림 3 회 76 s · 나머지 35 s(#180)</a:t>
                      </a:r>
                    </a:p>
                  </a:txBody>
                  <a:tcPr marL="45720" marR="45720" marT="22860" marB="2286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C0392B"/>
                          </a:solidFill>
                          <a:latin typeface="맑은 고딕"/>
                        </a:rPr>
                        <a:t>미달</a:t>
                      </a:r>
                    </a:p>
                  </a:txBody>
                  <a:tcPr marL="45720" marR="45720" marT="22860" marB="2286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62626"/>
                          </a:solidFill>
                          <a:latin typeface="맑은 고딕"/>
                        </a:rPr>
                        <a:t>연속 밀기가 실기에서 실패 → 멈춰서 읽는 스텝 모드(#160). 120 s 는 연속 밀기 전제</a:t>
                      </a:r>
                    </a:p>
                  </a:txBody>
                  <a:tcPr marL="45720" marR="45720" marT="22860" marB="2286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62626"/>
                          </a:solidFill>
                          <a:latin typeface="맑은 고딕"/>
                        </a:rPr>
                        <a:t>재접근 2 단 −60 · 거친 스텝 1.0 mm −150 → 약 230 s(계산값 · 미실시). 120 s 는 KPI 재설정(9/25)</a:t>
                      </a:r>
                    </a:p>
                  </a:txBody>
                  <a:tcPr marL="45720" marR="45720" marT="22860" marB="22860" anchor="ctr">
                    <a:solidFill>
                      <a:srgbClr val="F2F5FA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62626"/>
                          </a:solidFill>
                          <a:latin typeface="맑은 고딕"/>
                        </a:rPr>
                        <a:t>실기 연속 성공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62626"/>
                          </a:solidFill>
                          <a:latin typeface="맑은 고딕"/>
                        </a:rPr>
                        <a:t>(목차 항목)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62626"/>
                          </a:solidFill>
                          <a:latin typeface="맑은 고딕"/>
                        </a:rPr>
                        <a:t>웹 START → 형상 → 웹 표시 종단 성공 — 9/23(PR #179). 연속 회차 기록은 없다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7F7F7F"/>
                          </a:solidFill>
                          <a:latin typeface="맑은 고딕"/>
                        </a:rPr>
                        <a:t>미확인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62626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62626"/>
                          </a:solidFill>
                          <a:latin typeface="맑은 고딕"/>
                        </a:rPr>
                        <a:t>리허설에서 연속 회차 기록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62626"/>
                          </a:solidFill>
                          <a:latin typeface="맑은 고딕"/>
                        </a:rPr>
                        <a:t>반복성</a:t>
                      </a:r>
                    </a:p>
                  </a:txBody>
                  <a:tcPr marL="45720" marR="45720" marT="22860" marB="2286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62626"/>
                          </a:solidFill>
                          <a:latin typeface="맑은 고딕"/>
                        </a:rPr>
                        <a:t>10 회 σ 0.3 mm</a:t>
                      </a:r>
                    </a:p>
                  </a:txBody>
                  <a:tcPr marL="45720" marR="45720" marT="22860" marB="2286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62626"/>
                          </a:solidFill>
                          <a:latin typeface="맑은 고딕"/>
                        </a:rPr>
                        <a:t>미실시 (같은 점 10 회 z 산포 0.040 mm 는 접촉 재현성 — 치수 반복성이 아니다)</a:t>
                      </a:r>
                    </a:p>
                  </a:txBody>
                  <a:tcPr marL="45720" marR="45720" marT="22860" marB="2286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7F7F7F"/>
                          </a:solidFill>
                          <a:latin typeface="맑은 고딕"/>
                        </a:rPr>
                        <a:t>미실시</a:t>
                      </a:r>
                    </a:p>
                  </a:txBody>
                  <a:tcPr marL="45720" marR="45720" marT="22860" marB="2286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62626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 marL="45720" marR="45720" marT="22860" marB="2286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62626"/>
                          </a:solidFill>
                          <a:latin typeface="맑은 고딕"/>
                        </a:rPr>
                        <a:t>TR-02</a:t>
                      </a:r>
                    </a:p>
                  </a:txBody>
                  <a:tcPr marL="45720" marR="45720" marT="22860" marB="22860" anchor="ctr">
                    <a:solidFill>
                      <a:srgbClr val="F2F5FA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62626"/>
                          </a:solidFill>
                          <a:latin typeface="맑은 고딕"/>
                        </a:rPr>
                        <a:t>접촉 오검출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62626"/>
                          </a:solidFill>
                          <a:latin typeface="맑은 고딕"/>
                        </a:rPr>
                        <a:t>20 회 중 1 회 이하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62626"/>
                          </a:solidFill>
                          <a:latin typeface="맑은 고딕"/>
                        </a:rPr>
                        <a:t>미실시 (참고: 9/23 하강 공중 거짓 접촉 3/10, #182)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7F7F7F"/>
                          </a:solidFill>
                          <a:latin typeface="맑은 고딕"/>
                        </a:rPr>
                        <a:t>미실시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62626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62626"/>
                          </a:solidFill>
                          <a:latin typeface="맑은 고딕"/>
                        </a:rPr>
                        <a:t>#182 수정 뒤 20 회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62626"/>
                          </a:solidFill>
                          <a:latin typeface="맑은 고딕"/>
                        </a:rPr>
                        <a:t>품종 교체 셋업 시간</a:t>
                      </a:r>
                    </a:p>
                  </a:txBody>
                  <a:tcPr marL="45720" marR="45720" marT="22860" marB="2286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62626"/>
                          </a:solidFill>
                          <a:latin typeface="맑은 고딕"/>
                        </a:rPr>
                        <a:t>3 분 이내</a:t>
                      </a:r>
                    </a:p>
                  </a:txBody>
                  <a:tcPr marL="45720" marR="45720" marT="22860" marB="2286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62626"/>
                          </a:solidFill>
                          <a:latin typeface="맑은 고딕"/>
                        </a:rPr>
                        <a:t>미실시</a:t>
                      </a:r>
                    </a:p>
                  </a:txBody>
                  <a:tcPr marL="45720" marR="45720" marT="22860" marB="2286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7F7F7F"/>
                          </a:solidFill>
                          <a:latin typeface="맑은 고딕"/>
                        </a:rPr>
                        <a:t>미실시</a:t>
                      </a:r>
                    </a:p>
                  </a:txBody>
                  <a:tcPr marL="45720" marR="45720" marT="22860" marB="2286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62626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 marL="45720" marR="45720" marT="22860" marB="2286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62626"/>
                          </a:solidFill>
                          <a:latin typeface="맑은 고딕"/>
                        </a:rPr>
                        <a:t>TR-04</a:t>
                      </a:r>
                    </a:p>
                  </a:txBody>
                  <a:tcPr marL="45720" marR="45720" marT="22860" marB="22860" anchor="ctr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99" name="그래픽 98">
            <a:extLst>
              <a:ext uri="{FF2B5EF4-FFF2-40B4-BE49-F238E27FC236}">
                <a16:creationId xmlns:a16="http://schemas.microsoft.com/office/drawing/2014/main" id="{F903AA09-02EA-76CC-8175-834ABC7B3E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=""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5EADE06A-9DBC-11A8-5DF5-38CF63ECD050}"/>
              </a:ext>
            </a:extLst>
          </p:cNvPr>
          <p:cNvSpPr/>
          <p:nvPr/>
        </p:nvSpPr>
        <p:spPr>
          <a:xfrm flipH="1" flipV="1">
            <a:off x="174170" y="70719"/>
            <a:ext cx="12017829" cy="1221051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6FDEB448-9EE3-E350-4F7B-B8FDAF319438}"/>
              </a:ext>
            </a:extLst>
          </p:cNvPr>
          <p:cNvGrpSpPr/>
          <p:nvPr/>
        </p:nvGrpSpPr>
        <p:grpSpPr>
          <a:xfrm>
            <a:off x="376102" y="333243"/>
            <a:ext cx="5948498" cy="830997"/>
            <a:chOff x="376102" y="333243"/>
            <a:chExt cx="5948498" cy="830997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1461721" y="366114"/>
              <a:ext cx="2252213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8DE4B1-0C6D-133C-80D8-F6968CBF60AC}"/>
                </a:ext>
              </a:extLst>
            </p:cNvPr>
            <p:cNvSpPr txBox="1"/>
            <p:nvPr/>
          </p:nvSpPr>
          <p:spPr>
            <a:xfrm>
              <a:off x="1461721" y="585057"/>
              <a:ext cx="4862879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수행 경과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E94AA3-A994-6AB2-870F-88DA16811E4D}"/>
                </a:ext>
              </a:extLst>
            </p:cNvPr>
            <p:cNvSpPr txBox="1"/>
            <p:nvPr/>
          </p:nvSpPr>
          <p:spPr>
            <a:xfrm>
              <a:off x="376102" y="333243"/>
              <a:ext cx="1266679" cy="83099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04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AF4B2E62-632E-762D-16F9-2015B268C1F4}"/>
              </a:ext>
            </a:extLst>
          </p:cNvPr>
          <p:cNvGrpSpPr/>
          <p:nvPr/>
        </p:nvGrpSpPr>
        <p:grpSpPr>
          <a:xfrm>
            <a:off x="541891" y="1430219"/>
            <a:ext cx="10526159" cy="646331"/>
            <a:chOff x="541891" y="1430219"/>
            <a:chExt cx="10526159" cy="646331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7F04AE5-D365-4B0E-9031-83310E282831}"/>
                </a:ext>
              </a:extLst>
            </p:cNvPr>
            <p:cNvSpPr txBox="1"/>
            <p:nvPr/>
          </p:nvSpPr>
          <p:spPr>
            <a:xfrm>
              <a:off x="743615" y="1430219"/>
              <a:ext cx="10324435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b="1" spc="-100" dirty="0">
                  <a:solidFill>
                    <a:schemeClr val="bg2">
                      <a:lumMod val="25000"/>
                    </a:schemeClr>
                  </a:solidFill>
                  <a:latin typeface="+mn-ea"/>
                </a:rPr>
                <a:t>⑥ 미달을 어떻게 읽나 — 정밀도를 택해 시간 KPI 를 놓쳤다 → 원인 · 개선안 · KPI 재설정</a:t>
              </a:r>
            </a:p>
          </p:txBody>
        </p:sp>
        <p:sp>
          <p:nvSpPr>
            <p:cNvPr id="45" name="그래픽 43">
              <a:extLst>
                <a:ext uri="{FF2B5EF4-FFF2-40B4-BE49-F238E27FC236}">
                  <a16:creationId xmlns:a16="http://schemas.microsoft.com/office/drawing/2014/main" id="{512AEB8B-AA28-FDBA-00E7-D5D95C2F683D}"/>
                </a:ext>
              </a:extLst>
            </p:cNvPr>
            <p:cNvSpPr/>
            <p:nvPr/>
          </p:nvSpPr>
          <p:spPr>
            <a:xfrm>
              <a:off x="541891" y="1539006"/>
              <a:ext cx="101147" cy="113869"/>
            </a:xfrm>
            <a:custGeom>
              <a:avLst/>
              <a:gdLst>
                <a:gd name="connsiteX0" fmla="*/ 428021 w 450214"/>
                <a:gd name="connsiteY0" fmla="*/ 214932 h 506845"/>
                <a:gd name="connsiteX1" fmla="*/ 66705 w 450214"/>
                <a:gd name="connsiteY1" fmla="*/ 6045 h 506845"/>
                <a:gd name="connsiteX2" fmla="*/ 0 w 450214"/>
                <a:gd name="connsiteY2" fmla="*/ 44511 h 506845"/>
                <a:gd name="connsiteX3" fmla="*/ 0 w 450214"/>
                <a:gd name="connsiteY3" fmla="*/ 462326 h 506845"/>
                <a:gd name="connsiteX4" fmla="*/ 66705 w 450214"/>
                <a:gd name="connsiteY4" fmla="*/ 500812 h 506845"/>
                <a:gd name="connsiteX5" fmla="*/ 428021 w 450214"/>
                <a:gd name="connsiteY5" fmla="*/ 291905 h 506845"/>
                <a:gd name="connsiteX6" fmla="*/ 428021 w 450214"/>
                <a:gd name="connsiteY6" fmla="*/ 214932 h 506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0214" h="506845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2035" cap="flat">
              <a:noFill/>
              <a:prstDash val="solid"/>
              <a:miter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rtlCol="0" anchor="ctr"/>
            <a:lstStyle/>
            <a:p>
              <a:endParaRPr lang="ko-KR" altLang="en-US"/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8BD100E5-682D-13CE-B307-81D8B8E71B57}"/>
              </a:ext>
            </a:extLst>
          </p:cNvPr>
          <p:cNvSpPr txBox="1"/>
          <p:nvPr/>
        </p:nvSpPr>
        <p:spPr>
          <a:xfrm>
            <a:off x="8312385" y="854343"/>
            <a:ext cx="350351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accent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* 04-⑥ 실기 결과 · KPI (2/2)</a:t>
            </a:r>
            <a:endParaRPr lang="ko-KR" altLang="en-US" sz="1400" b="1" spc="-100" dirty="0">
              <a:solidFill>
                <a:schemeClr val="accent1"/>
              </a:solidFill>
              <a:latin typeface="+mn-ea"/>
            </a:endParaRPr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753AFFF3-DFFD-86BD-A0E4-365D0D959218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916849"/>
            <a:ext cx="12192000" cy="233580"/>
          </a:xfrm>
          <a:prstGeom prst="rect">
            <a:avLst/>
          </a:prstGeom>
        </p:spPr>
      </p:pic>
      <p:pic>
        <p:nvPicPr>
          <p:cNvPr id="100" name="Picture 99" descr="kpi-scan-tim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7200" y="2212848"/>
            <a:ext cx="6583680" cy="1755648"/>
          </a:xfrm>
          <a:prstGeom prst="rect">
            <a:avLst/>
          </a:prstGeom>
        </p:spPr>
      </p:pic>
      <p:pic>
        <p:nvPicPr>
          <p:cNvPr id="101" name="Picture 100" descr="kpi-detect-loa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7200" y="4041648"/>
            <a:ext cx="6583680" cy="2523744"/>
          </a:xfrm>
          <a:prstGeom prst="rect">
            <a:avLst/>
          </a:prstGeom>
        </p:spPr>
      </p:pic>
      <p:sp>
        <p:nvSpPr>
          <p:cNvPr id="102" name="TextBox 101"/>
          <p:cNvSpPr txBox="1"/>
          <p:nvPr/>
        </p:nvSpPr>
        <p:spPr>
          <a:xfrm>
            <a:off x="7223760" y="2212848"/>
            <a:ext cx="4507992" cy="822960"/>
          </a:xfrm>
          <a:prstGeom prst="rect">
            <a:avLst/>
          </a:prstGeom>
          <a:solidFill>
            <a:srgbClr val="F2F5FA"/>
          </a:solidFill>
        </p:spPr>
        <p:txBody>
          <a:bodyPr wrap="square" anchor="t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3378C8"/>
                </a:solidFill>
                <a:latin typeface="맑은 고딕"/>
              </a:rPr>
              <a:t>① 처음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262626"/>
                </a:solidFill>
                <a:latin typeface="맑은 고딕"/>
              </a:rPr>
              <a:t>KPI 를 "한 번 성공하면 된다"로 읽었다. 회차 기준 · 시간 기준을 늦게 챙겼다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223760" y="3099815"/>
            <a:ext cx="4507992" cy="822960"/>
          </a:xfrm>
          <a:prstGeom prst="rect">
            <a:avLst/>
          </a:prstGeom>
          <a:solidFill>
            <a:srgbClr val="F2F5FA"/>
          </a:solidFill>
        </p:spPr>
        <p:txBody>
          <a:bodyPr wrap="square" anchor="t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3378C8"/>
                </a:solidFill>
                <a:latin typeface="맑은 고딕"/>
              </a:rPr>
              <a:t>② 판단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262626"/>
                </a:solidFill>
                <a:latin typeface="맑은 고딕"/>
              </a:rPr>
              <a:t>9/21~22 힘 제어 연속 밀기가 실기에서 실패(방향별 누름 1.5~8.6 N 편차 · 방향 전환 뒤 뜸 · 가짜 EDGE, #152~#155) → 멈춰서 힘을 읽는 스텝 모드(#160)로 정확도 우선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223760" y="3986783"/>
            <a:ext cx="4507992" cy="822960"/>
          </a:xfrm>
          <a:prstGeom prst="rect">
            <a:avLst/>
          </a:prstGeom>
          <a:solidFill>
            <a:srgbClr val="F2F5FA"/>
          </a:solidFill>
        </p:spPr>
        <p:txBody>
          <a:bodyPr wrap="square" anchor="t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3378C8"/>
                </a:solidFill>
                <a:latin typeface="맑은 고딕"/>
              </a:rPr>
              <a:t>③ 결과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262626"/>
                </a:solidFill>
                <a:latin typeface="맑은 고딕"/>
              </a:rPr>
              <a:t>치수 +1.50 / −0.36 / +0.26 mm 로 ±3 mm 달성. 대신 탐색 438 s(KPI 의 3.6 배) — 76 % 가 스텝 긁기. 120 s 는 연속 밀기를 전제로 잡은 숫자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223760" y="4873751"/>
            <a:ext cx="4507992" cy="822960"/>
          </a:xfrm>
          <a:prstGeom prst="rect">
            <a:avLst/>
          </a:prstGeom>
          <a:solidFill>
            <a:srgbClr val="F2F5FA"/>
          </a:solidFill>
        </p:spPr>
        <p:txBody>
          <a:bodyPr wrap="square" anchor="t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3378C8"/>
                </a:solidFill>
                <a:latin typeface="맑은 고딕"/>
              </a:rPr>
              <a:t>④ 정직하게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262626"/>
                </a:solidFill>
                <a:latin typeface="맑은 고딕"/>
              </a:rPr>
              <a:t>검출 하중 평균 4.49 N 은 통과처럼 보이지만 회차 2/10 초과 → 미달로 적었다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5760719"/>
            <a:ext cx="4507992" cy="822960"/>
          </a:xfrm>
          <a:prstGeom prst="rect">
            <a:avLst/>
          </a:prstGeom>
          <a:solidFill>
            <a:srgbClr val="F2F5FA"/>
          </a:solidFill>
        </p:spPr>
        <p:txBody>
          <a:bodyPr wrap="square" anchor="t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3378C8"/>
                </a:solidFill>
                <a:latin typeface="맑은 고딕"/>
              </a:rPr>
              <a:t>⑤ 개선안 · KPI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262626"/>
                </a:solidFill>
                <a:latin typeface="맑은 고딕"/>
              </a:rPr>
              <a:t>재접근 2 단(−60 s) · 거친 스텝 0.5 → 1.0 mm(−150 s, 분해능은 다듬기 0.1 mm 가 정함) → 약 230 s, 계산값 · 미실시. 그 아래는 스텝당 비용의 한계 → 120 s 는 스텝 모드 기준으로 KPI 재설정(팀 결정 9/25)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99" name="그래픽 98">
            <a:extLst>
              <a:ext uri="{FF2B5EF4-FFF2-40B4-BE49-F238E27FC236}">
                <a16:creationId xmlns:a16="http://schemas.microsoft.com/office/drawing/2014/main" id="{F903AA09-02EA-76CC-8175-834ABC7B3E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=""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5EADE06A-9DBC-11A8-5DF5-38CF63ECD050}"/>
              </a:ext>
            </a:extLst>
          </p:cNvPr>
          <p:cNvSpPr/>
          <p:nvPr/>
        </p:nvSpPr>
        <p:spPr>
          <a:xfrm flipH="1" flipV="1">
            <a:off x="174170" y="70719"/>
            <a:ext cx="12017829" cy="1221051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6FDEB448-9EE3-E350-4F7B-B8FDAF319438}"/>
              </a:ext>
            </a:extLst>
          </p:cNvPr>
          <p:cNvGrpSpPr/>
          <p:nvPr/>
        </p:nvGrpSpPr>
        <p:grpSpPr>
          <a:xfrm>
            <a:off x="376102" y="333243"/>
            <a:ext cx="5948498" cy="830997"/>
            <a:chOff x="376102" y="333243"/>
            <a:chExt cx="5948498" cy="830997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1461721" y="366114"/>
              <a:ext cx="2252213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8DE4B1-0C6D-133C-80D8-F6968CBF60AC}"/>
                </a:ext>
              </a:extLst>
            </p:cNvPr>
            <p:cNvSpPr txBox="1"/>
            <p:nvPr/>
          </p:nvSpPr>
          <p:spPr>
            <a:xfrm>
              <a:off x="1461721" y="585057"/>
              <a:ext cx="4862879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수행 경과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E94AA3-A994-6AB2-870F-88DA16811E4D}"/>
                </a:ext>
              </a:extLst>
            </p:cNvPr>
            <p:cNvSpPr txBox="1"/>
            <p:nvPr/>
          </p:nvSpPr>
          <p:spPr>
            <a:xfrm>
              <a:off x="376102" y="333243"/>
              <a:ext cx="1266679" cy="83099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04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AF4B2E62-632E-762D-16F9-2015B268C1F4}"/>
              </a:ext>
            </a:extLst>
          </p:cNvPr>
          <p:cNvGrpSpPr/>
          <p:nvPr/>
        </p:nvGrpSpPr>
        <p:grpSpPr>
          <a:xfrm>
            <a:off x="541891" y="1430219"/>
            <a:ext cx="10526159" cy="646331"/>
            <a:chOff x="541891" y="1430219"/>
            <a:chExt cx="10526159" cy="646331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7F04AE5-D365-4B0E-9031-83310E282831}"/>
                </a:ext>
              </a:extLst>
            </p:cNvPr>
            <p:cNvSpPr txBox="1"/>
            <p:nvPr/>
          </p:nvSpPr>
          <p:spPr>
            <a:xfrm>
              <a:off x="743615" y="1430219"/>
              <a:ext cx="10324435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b="1" spc="-100" dirty="0">
                  <a:solidFill>
                    <a:schemeClr val="bg2">
                      <a:lumMod val="25000"/>
                    </a:schemeClr>
                  </a:solidFill>
                  <a:latin typeface="+mn-ea"/>
                </a:rPr>
                <a:t>⑧ 기동 직후의 거짓 래치를 "기동 유예 3 s"로 없앴다 — 과대 외력은 유예하지 않는다</a:t>
              </a:r>
            </a:p>
          </p:txBody>
        </p:sp>
        <p:sp>
          <p:nvSpPr>
            <p:cNvPr id="45" name="그래픽 43">
              <a:extLst>
                <a:ext uri="{FF2B5EF4-FFF2-40B4-BE49-F238E27FC236}">
                  <a16:creationId xmlns:a16="http://schemas.microsoft.com/office/drawing/2014/main" id="{512AEB8B-AA28-FDBA-00E7-D5D95C2F683D}"/>
                </a:ext>
              </a:extLst>
            </p:cNvPr>
            <p:cNvSpPr/>
            <p:nvPr/>
          </p:nvSpPr>
          <p:spPr>
            <a:xfrm>
              <a:off x="541891" y="1539006"/>
              <a:ext cx="101147" cy="113869"/>
            </a:xfrm>
            <a:custGeom>
              <a:avLst/>
              <a:gdLst>
                <a:gd name="connsiteX0" fmla="*/ 428021 w 450214"/>
                <a:gd name="connsiteY0" fmla="*/ 214932 h 506845"/>
                <a:gd name="connsiteX1" fmla="*/ 66705 w 450214"/>
                <a:gd name="connsiteY1" fmla="*/ 6045 h 506845"/>
                <a:gd name="connsiteX2" fmla="*/ 0 w 450214"/>
                <a:gd name="connsiteY2" fmla="*/ 44511 h 506845"/>
                <a:gd name="connsiteX3" fmla="*/ 0 w 450214"/>
                <a:gd name="connsiteY3" fmla="*/ 462326 h 506845"/>
                <a:gd name="connsiteX4" fmla="*/ 66705 w 450214"/>
                <a:gd name="connsiteY4" fmla="*/ 500812 h 506845"/>
                <a:gd name="connsiteX5" fmla="*/ 428021 w 450214"/>
                <a:gd name="connsiteY5" fmla="*/ 291905 h 506845"/>
                <a:gd name="connsiteX6" fmla="*/ 428021 w 450214"/>
                <a:gd name="connsiteY6" fmla="*/ 214932 h 506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0214" h="506845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2035" cap="flat">
              <a:noFill/>
              <a:prstDash val="solid"/>
              <a:miter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rtlCol="0" anchor="ctr"/>
            <a:lstStyle/>
            <a:p>
              <a:endParaRPr lang="ko-KR" altLang="en-US"/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8BD100E5-682D-13CE-B307-81D8B8E71B57}"/>
              </a:ext>
            </a:extLst>
          </p:cNvPr>
          <p:cNvSpPr txBox="1"/>
          <p:nvPr/>
        </p:nvSpPr>
        <p:spPr>
          <a:xfrm>
            <a:off x="8312385" y="854343"/>
            <a:ext cx="350351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accent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* 04-⑧ 문제와 해결 (현지)</a:t>
            </a:r>
            <a:endParaRPr lang="ko-KR" altLang="en-US" sz="1400" b="1" spc="-100" dirty="0">
              <a:solidFill>
                <a:schemeClr val="accent1"/>
              </a:solidFill>
              <a:latin typeface="+mn-ea"/>
            </a:endParaRPr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753AFFF3-DFFD-86BD-A0E4-365D0D959218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916849"/>
            <a:ext cx="12192000" cy="233580"/>
          </a:xfrm>
          <a:prstGeom prst="rect">
            <a:avLst/>
          </a:prstGeom>
        </p:spPr>
      </p:pic>
      <p:sp>
        <p:nvSpPr>
          <p:cNvPr id="100" name="TextBox 99"/>
          <p:cNvSpPr txBox="1"/>
          <p:nvPr/>
        </p:nvSpPr>
        <p:spPr>
          <a:xfrm>
            <a:off x="457200" y="2212848"/>
            <a:ext cx="2750058" cy="1783080"/>
          </a:xfrm>
          <a:prstGeom prst="rect">
            <a:avLst/>
          </a:prstGeom>
          <a:solidFill>
            <a:srgbClr val="F2F5FA"/>
          </a:solidFill>
        </p:spPr>
        <p:txBody>
          <a:bodyPr wrap="square" anchor="t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C0392B"/>
                </a:solidFill>
                <a:latin typeface="맑은 고딕"/>
              </a:rPr>
              <a:t>1. 증상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262626"/>
                </a:solidFill>
                <a:latin typeface="맑은 고딕"/>
              </a:rPr>
              <a:t>· 9/21 아침 sim 종단: /scan/run 이 SAFETY_LATCHED(103) 로 거절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262626"/>
                </a:solidFill>
                <a:latin typeface="맑은 고딕"/>
              </a:rPr>
              <a:t>· 로그 "SAMPLE_STALE: 508 ms 동안 수신 없음"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262626"/>
                </a:solidFill>
                <a:latin typeface="맑은 고딕"/>
              </a:rPr>
              <a:t>· 로봇은 서 있었다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298698" y="2212848"/>
            <a:ext cx="2750058" cy="1783080"/>
          </a:xfrm>
          <a:prstGeom prst="rect">
            <a:avLst/>
          </a:prstGeom>
          <a:solidFill>
            <a:srgbClr val="F2F5FA"/>
          </a:solidFill>
        </p:spPr>
        <p:txBody>
          <a:bodyPr wrap="square" anchor="t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3378C8"/>
                </a:solidFill>
                <a:latin typeface="맑은 고딕"/>
              </a:rPr>
              <a:t>2. 원인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262626"/>
                </a:solidFill>
                <a:latin typeface="맑은 고딕"/>
              </a:rPr>
              <a:t>· 노드 5 개가 동시에 뜨며 샘플이 508 ms 끊김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262626"/>
                </a:solidFill>
                <a:latin typeface="맑은 고딕"/>
              </a:rPr>
              <a:t>· robot_manager 는 "위치를 모르면 이동 중"(PR #72)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262626"/>
                </a:solidFill>
                <a:latin typeface="맑은 고딕"/>
              </a:rPr>
              <a:t>· → "움직이는 중 끊김 = 정지" 규칙과 겹침. 각자 옳은 기본값 두 개의 충돌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140196" y="2212848"/>
            <a:ext cx="2750058" cy="1783080"/>
          </a:xfrm>
          <a:prstGeom prst="rect">
            <a:avLst/>
          </a:prstGeom>
          <a:solidFill>
            <a:srgbClr val="F2F5FA"/>
          </a:solidFill>
        </p:spPr>
        <p:txBody>
          <a:bodyPr wrap="square" anchor="t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3378C8"/>
                </a:solidFill>
                <a:latin typeface="맑은 고딕"/>
              </a:rPr>
              <a:t>3. 조치 (PR #99)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262626"/>
                </a:solidFill>
                <a:latin typeface="맑은 고딕"/>
              </a:rPr>
              <a:t>· startup_grace_s 3.0 s 동안 최신성으로는 정지 · 래치하지 않는다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262626"/>
                </a:solidFill>
                <a:latin typeface="맑은 고딕"/>
              </a:rPr>
              <a:t>· 과대 외력 · 하강 제한은 유예 없이 즉시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262626"/>
                </a:solidFill>
                <a:latin typeface="맑은 고딕"/>
              </a:rPr>
              <a:t>· 시험으로 고정(유예 시험 2 개 추가)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981694" y="2212848"/>
            <a:ext cx="2750058" cy="1783080"/>
          </a:xfrm>
          <a:prstGeom prst="rect">
            <a:avLst/>
          </a:prstGeom>
          <a:solidFill>
            <a:srgbClr val="F2F5FA"/>
          </a:solidFill>
        </p:spPr>
        <p:txBody>
          <a:bodyPr wrap="square" anchor="t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3378C8"/>
                </a:solidFill>
                <a:latin typeface="맑은 고딕"/>
              </a:rPr>
              <a:t>4. 결과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262626"/>
                </a:solidFill>
                <a:latin typeface="맑은 고딕"/>
              </a:rPr>
              <a:t>· 고치기 전: level 2 · latched · 403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262626"/>
                </a:solidFill>
                <a:latin typeface="맑은 고딕"/>
              </a:rPr>
              <a:t>· 고친 뒤: level 0 · latched false (Virtual + sim 재현)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262626"/>
                </a:solidFill>
                <a:latin typeface="맑은 고딕"/>
              </a:rPr>
              <a:t>· safety_monitor 시험 52 개 통과</a:t>
            </a:r>
          </a:p>
        </p:txBody>
      </p:sp>
      <p:pic>
        <p:nvPicPr>
          <p:cNvPr id="104" name="Picture 103" descr="problem-startup-latch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97280" y="4114800"/>
            <a:ext cx="5860473" cy="2148840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457200" y="6309360"/>
            <a:ext cx="11274552" cy="347472"/>
          </a:xfrm>
          <a:prstGeom prst="rect">
            <a:avLst/>
          </a:prstGeom>
          <a:noFill/>
        </p:spPr>
        <p:txBody>
          <a:bodyPr wrap="square" anchor="t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3378C8"/>
                </a:solidFill>
                <a:latin typeface="맑은 고딕"/>
              </a:rPr>
              <a:t>교훈: 노드마다 옳은 보수적 기본값도 겹치면 오탐이 된다 — 노드 사이의 기본값은 같이 본다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133</TotalTime>
  <Words>706</Words>
  <Application>Microsoft Office PowerPoint</Application>
  <PresentationFormat>와이드스크린</PresentationFormat>
  <Paragraphs>168</Paragraphs>
  <Slides>12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22" baseType="lpstr">
      <vt:lpstr>Pretendard SemiBold</vt:lpstr>
      <vt:lpstr>굴림체</vt:lpstr>
      <vt:lpstr>맑은 고딕</vt:lpstr>
      <vt:lpstr>맑은 고딕 Semilight</vt:lpstr>
      <vt:lpstr>세방고딕 Bold</vt:lpstr>
      <vt:lpstr>세방고딕 Regular</vt:lpstr>
      <vt:lpstr>휴먼둥근헤드라인</vt:lpstr>
      <vt:lpstr>Arial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김준영</dc:creator>
  <cp:lastModifiedBy>User</cp:lastModifiedBy>
  <cp:revision>24</cp:revision>
  <dcterms:created xsi:type="dcterms:W3CDTF">2023-12-20T03:00:25Z</dcterms:created>
  <dcterms:modified xsi:type="dcterms:W3CDTF">2025-05-13T06:58:10Z</dcterms:modified>
</cp:coreProperties>
</file>